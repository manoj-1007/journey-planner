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Poppins" panose="00000500000000000000" pitchFamily="34" charset="0"/>
      <p:regular r:id="rId27"/>
      <p:bold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 am Manoj C, and today I will present my project, the Bus Booking System. It is a full-stack web application that lets travellers search for buses, choose seats, pay online and download their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 Booking System simplifies ticket booking. A user registers, logs in, searches for buses on their route, picks seats, pays online by their preferred method, and finally downloads the ticket. These five steps are exactly what I will walk you through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six objectives: make booking fast and easy, show live seat availability, keep registration and login secure, support UPI, cards and net banking, generate a downloadable ticket after payment, and avoid duplicate seat bookings by removing manual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uses HTML, CSS, JavaScript and React for the screens. The backend is Node.js with Express.js for the business logic, login and bookings. MongoDB stores users, buses, seats, bookings and tickets, and a payment gateway such as Razorpay handles the money. Note for Manoj: keep only the technologies you actually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from top to bottom. The traveler uses the React frontend, which calls the Node and Express REST API. The API handles authentication, bookings, seat locking and payment verification, and stores everything in MongoDB. On the right, the external payment gateway processes UPI, card and net banking payments and reports success or failure back to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top row left to right: start, register or log in, dashboard, search, select a bus, select a seat. Then the second row runs right to left: passenger details, proceed to payment, choose a method, and the decision point. If the payment is successful we confirm the booking and generate the ticket. If it fails we show a message and let the user retry. A failed or pending payment never produces a confirmed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logging in, the user lands on the dashboard. From here they enter the source, destination and journey date and press Search Buses. They can also see popular routes, open My Bookings to download tickets, check their profile and log out. This screen is an illustration; replace it with a real screenshot of your project if you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users register with their name, email, mobile number and a password. The system validates the form, hashes the password so it is never stored as plain text, saves the user in the database and then sends the user to the login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Registered users log in with their email and password. The system validates the input, shows a clear error message if the details are wrong, offers a forgot password option and uses a secure session or token. After a successful login the user is redirected to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enters the from city, to city and journey date. The results list only the buses that match that route and date, with the bus name and type, departure and arrival times, duration, price and number of seats left. The bus names and prices on this slide are sample data for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user compares the buses. Each option shows the operator and bus type, departure and arrival places and times, travel time, price and seats left. When the user clicks Select Bus, the seat selection page opens for that exact bus and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seat selection page. White seats are available, blue seats are the ones I have selected, and grey seats are already booked. The total updates as seats are picked. Once a seat is selected it is temporarily locked during checkout, so two users can never book the same seat.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payment, the user enters the passenger name, age, gender, contact number and email. On the right is the booking summary: bus, route, date, selected seats, number of passengers and total amount. The user checks everything and clicks Proceed to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offers three online payment methods. UPI works through a supported UPI app or a QR code. Cards are processed through the gateway's secure checkout. Net banking sends the user to their bank for authorization. After choosing a method, the user clicks Pay Now to start the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rule in the system. If the payment is successful, the backend first verifies it with the gateway, then confirms the booking, marks the seats as booked and generates the ticket. If the payment fails, the booking stays unconfirmed, the user can retry, and expired seat locks are released. If the payment is still pending, the system waits for confirmation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payment is verified, the system generates the e-ticket. It carries a unique PNR, the passenger name, bus details, route, date and departure time, seat number, payment status and optionally a QR code. The user can download it as a PDF, view it, print it, or find it again under My Bookings. The ticket exists only after the booking is confirmed. The passenger name and PNR shown are sample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has seven collections: users, buses, schedules, seats, bookings, payments and tickets. On the right you can see how they connect. One user can make many bookings. Each booking holds its seats and has a payment record, and a confirmed booking can have a generated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advantages: booking is convenient and fast, there are several payment options, seat availability is clearly visible, manual errors and duplicate bookings are reduced, tickets are easy to download and find again, and everything works in a web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plenty of room to grow. Live GPS tracking is shown on the map. Other ideas are email and SMS notifications, cancellation and refunds, ratings and reviews, an admin dashboard to manage routes and schedules, offers and coupons, and better accessibility and mobile responsiveness.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Bus Booking System brings login, bus search, seat selection, online payment, booking confirmation and e-ticket generation together in one web application. It shows practical web development, database, backend API and payment workflow skills. Thank you, and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896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0B2447"/>
                </a:solidFill>
                <a:latin typeface="Poppins" pitchFamily="34" charset="0"/>
                <a:ea typeface="Poppins" pitchFamily="34" charset="-122"/>
                <a:cs typeface="Poppi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1450"/>
            <a:ext cx="10566400" cy="4203750"/>
          </a:xfrm>
          <a:prstGeom prst="rect">
            <a:avLst/>
          </a:prstGeom>
          <a:noFill/>
          <a:ln/>
        </p:spPr>
        <p:txBody>
          <a:bodyPr wrap="square" lIns="0" tIns="0" rIns="0" bIns="0" rtlCol="0" anchor="t"/>
          <a:lstStyle>
            <a:lvl1pPr algn="l" indent="0" marL="0">
              <a:lnSpc>
                <a:spcPct val="140000"/>
              </a:lnSpc>
              <a:buNone/>
              <a:defRPr lang="en-US" sz="1600" dirty="0">
                <a:solidFill>
                  <a:srgbClr val="0B2447"/>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896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0B2447"/>
                </a:solidFill>
                <a:latin typeface="Poppins" pitchFamily="34" charset="0"/>
                <a:ea typeface="Poppins" pitchFamily="34" charset="-122"/>
                <a:cs typeface="Poppi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1450"/>
            <a:ext cx="10566400" cy="4203750"/>
          </a:xfrm>
          <a:prstGeom prst="rect">
            <a:avLst/>
          </a:prstGeom>
          <a:noFill/>
          <a:ln/>
        </p:spPr>
        <p:txBody>
          <a:bodyPr wrap="square" lIns="0" tIns="0" rIns="0" bIns="0" rtlCol="0" anchor="t"/>
          <a:lstStyle>
            <a:lvl1pPr algn="l" indent="0" marL="0">
              <a:lnSpc>
                <a:spcPct val="140000"/>
              </a:lnSpc>
              <a:buNone/>
              <a:defRPr lang="en-US" sz="1600" dirty="0">
                <a:solidFill>
                  <a:srgbClr val="0B2447"/>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slideLayout" Target="../slideLayouts/slideLayout2.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2.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447"/>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B2447"/>
              </a:gs>
              <a:gs pos="60000">
                <a:srgbClr val="123A7A"/>
              </a:gs>
              <a:gs pos="100000">
                <a:srgbClr val="1D4ED8"/>
              </a:gs>
            </a:gsLst>
            <a:lin ang="2700000" scaled="0"/>
          </a:gradFill>
          <a:ln/>
        </p:spPr>
      </p:sp>
      <p:sp>
        <p:nvSpPr>
          <p:cNvPr id="3" name="Text 1"/>
          <p:cNvSpPr/>
          <p:nvPr/>
        </p:nvSpPr>
        <p:spPr>
          <a:xfrm>
            <a:off x="812800" y="1656110"/>
            <a:ext cx="6540500"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93C5FD"/>
                </a:solidFill>
                <a:latin typeface="Arial" pitchFamily="34" charset="0"/>
                <a:ea typeface="Arial" pitchFamily="34" charset="-122"/>
                <a:cs typeface="Arial" pitchFamily="34" charset="-120"/>
              </a:rPr>
              <a:t>WEB DEVELOPMENT · FULL-STACK WEB APPLICATION</a:t>
            </a:r>
            <a:endParaRPr lang="en-US" sz="1300" dirty="0"/>
          </a:p>
        </p:txBody>
      </p:sp>
      <p:sp>
        <p:nvSpPr>
          <p:cNvPr id="4" name="Text 2"/>
          <p:cNvSpPr/>
          <p:nvPr>
            <p:ph type="title"/>
          </p:nvPr>
        </p:nvSpPr>
        <p:spPr>
          <a:xfrm>
            <a:off x="812800" y="2065040"/>
            <a:ext cx="654050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FFFFF"/>
                </a:solidFill>
                <a:latin typeface="Poppins" pitchFamily="34" charset="0"/>
                <a:ea typeface="Poppins" pitchFamily="34" charset="-122"/>
                <a:cs typeface="Poppins" pitchFamily="34" charset="-120"/>
              </a:rPr>
              <a:t>Bus Booking System</a:t>
            </a:r>
            <a:endParaRPr lang="en-US" sz="6000" dirty="0"/>
          </a:p>
        </p:txBody>
      </p:sp>
      <p:sp>
        <p:nvSpPr>
          <p:cNvPr id="5" name="Text 3"/>
          <p:cNvSpPr/>
          <p:nvPr/>
        </p:nvSpPr>
        <p:spPr>
          <a:xfrm>
            <a:off x="812800" y="3843040"/>
            <a:ext cx="6553200"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E2E8F0"/>
                </a:solidFill>
                <a:latin typeface="Arial" pitchFamily="34" charset="0"/>
                <a:ea typeface="Arial" pitchFamily="34" charset="-122"/>
                <a:cs typeface="Arial" pitchFamily="34" charset="-120"/>
              </a:rPr>
              <a:t>A web-based application for online bus ticket reservation</a:t>
            </a:r>
            <a:endParaRPr lang="en-US" sz="2000" dirty="0"/>
          </a:p>
        </p:txBody>
      </p:sp>
      <p:sp>
        <p:nvSpPr>
          <p:cNvPr id="6" name="Text 4"/>
          <p:cNvSpPr/>
          <p:nvPr/>
        </p:nvSpPr>
        <p:spPr>
          <a:xfrm>
            <a:off x="812800" y="4363740"/>
            <a:ext cx="1378545" cy="358130"/>
          </a:xfrm>
          <a:prstGeom prst="roundRect">
            <a:avLst>
              <a:gd name="adj" fmla="val 50000"/>
            </a:avLst>
          </a:prstGeom>
          <a:solidFill>
            <a:srgbClr val="FFFFFF">
              <a:alpha val="16000"/>
            </a:srgbClr>
          </a:solidFill>
          <a:ln/>
        </p:spPr>
        <p:txBody>
          <a:bodyPr wrap="none" lIns="0" tIns="0" rIns="0" bIns="0" rtlCol="0" anchor="ctr">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Search buses</a:t>
            </a:r>
            <a:endParaRPr lang="en-US" sz="1300" dirty="0"/>
          </a:p>
        </p:txBody>
      </p:sp>
      <p:sp>
        <p:nvSpPr>
          <p:cNvPr id="7" name="Text 5"/>
          <p:cNvSpPr/>
          <p:nvPr/>
        </p:nvSpPr>
        <p:spPr>
          <a:xfrm>
            <a:off x="2280245" y="4363740"/>
            <a:ext cx="1259384" cy="358130"/>
          </a:xfrm>
          <a:prstGeom prst="roundRect">
            <a:avLst>
              <a:gd name="adj" fmla="val 50000"/>
            </a:avLst>
          </a:prstGeom>
          <a:solidFill>
            <a:srgbClr val="FFFFFF">
              <a:alpha val="16000"/>
            </a:srgbClr>
          </a:solidFill>
          <a:ln/>
        </p:spPr>
        <p:txBody>
          <a:bodyPr wrap="none" lIns="0" tIns="0" rIns="0" bIns="0" rtlCol="0" anchor="ctr">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Select seats</a:t>
            </a:r>
            <a:endParaRPr lang="en-US" sz="1300" dirty="0"/>
          </a:p>
        </p:txBody>
      </p:sp>
      <p:sp>
        <p:nvSpPr>
          <p:cNvPr id="8" name="Text 6"/>
          <p:cNvSpPr/>
          <p:nvPr/>
        </p:nvSpPr>
        <p:spPr>
          <a:xfrm>
            <a:off x="3628529" y="4363740"/>
            <a:ext cx="1130548" cy="358130"/>
          </a:xfrm>
          <a:prstGeom prst="roundRect">
            <a:avLst>
              <a:gd name="adj" fmla="val 50000"/>
            </a:avLst>
          </a:prstGeom>
          <a:solidFill>
            <a:srgbClr val="FFFFFF">
              <a:alpha val="16000"/>
            </a:srgbClr>
          </a:solidFill>
          <a:ln/>
        </p:spPr>
        <p:txBody>
          <a:bodyPr wrap="none" lIns="0" tIns="0" rIns="0" bIns="0" rtlCol="0" anchor="ctr">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Pay online</a:t>
            </a:r>
            <a:endParaRPr lang="en-US" sz="1300" dirty="0"/>
          </a:p>
        </p:txBody>
      </p:sp>
      <p:sp>
        <p:nvSpPr>
          <p:cNvPr id="9" name="Text 7"/>
          <p:cNvSpPr/>
          <p:nvPr/>
        </p:nvSpPr>
        <p:spPr>
          <a:xfrm>
            <a:off x="4847977" y="4363740"/>
            <a:ext cx="1570732" cy="358130"/>
          </a:xfrm>
          <a:prstGeom prst="roundRect">
            <a:avLst>
              <a:gd name="adj" fmla="val 50000"/>
            </a:avLst>
          </a:prstGeom>
          <a:solidFill>
            <a:srgbClr val="FFFFFF">
              <a:alpha val="16000"/>
            </a:srgbClr>
          </a:solidFill>
          <a:ln/>
        </p:spPr>
        <p:txBody>
          <a:bodyPr wrap="none" lIns="0" tIns="0" rIns="0" bIns="0" rtlCol="0" anchor="ctr">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Download ticket</a:t>
            </a:r>
            <a:endParaRPr lang="en-US" sz="1300" dirty="0"/>
          </a:p>
        </p:txBody>
      </p:sp>
      <p:sp>
        <p:nvSpPr>
          <p:cNvPr id="10" name="Text 8"/>
          <p:cNvSpPr/>
          <p:nvPr/>
        </p:nvSpPr>
        <p:spPr>
          <a:xfrm>
            <a:off x="812800" y="4899670"/>
            <a:ext cx="65405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Presented by Manoj C</a:t>
            </a:r>
            <a:endParaRPr lang="en-US" sz="1700" dirty="0"/>
          </a:p>
        </p:txBody>
      </p:sp>
      <p:pic>
        <p:nvPicPr>
          <p:cNvPr id="11" name="Image 0" descr="Illustration of a blue passenger bus on the road">    </p:cNvPr>
          <p:cNvPicPr>
            <a:picLocks noChangeAspect="1"/>
          </p:cNvPicPr>
          <p:nvPr/>
        </p:nvPicPr>
        <p:blipFill>
          <a:blip r:embed="rId1"/>
          <a:srcRect l="0" r="0" t="0" b="0"/>
          <a:stretch/>
        </p:blipFill>
        <p:spPr>
          <a:xfrm>
            <a:off x="7366000" y="2159000"/>
            <a:ext cx="4013200" cy="2349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INTRODUCTION</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Simple online bus booking</a:t>
            </a:r>
            <a:endParaRPr lang="en-US" sz="3200" dirty="0"/>
          </a:p>
        </p:txBody>
      </p:sp>
      <p:sp>
        <p:nvSpPr>
          <p:cNvPr id="4" name="Text 2"/>
          <p:cNvSpPr/>
          <p:nvPr/>
        </p:nvSpPr>
        <p:spPr>
          <a:xfrm>
            <a:off x="812800" y="2686348"/>
            <a:ext cx="5624830" cy="964505"/>
          </a:xfrm>
          <a:prstGeom prst="rect">
            <a:avLst/>
          </a:prstGeom>
          <a:noFill/>
          <a:ln/>
        </p:spPr>
        <p:txBody>
          <a:bodyPr wrap="square" lIns="0" tIns="0" rIns="0" bIns="0" rtlCol="0" anchor="t">
            <a:normAutofit/>
          </a:bodyPr>
          <a:lstStyle/>
          <a:p>
            <a:pPr algn="l" indent="0" marL="0">
              <a:lnSpc>
                <a:spcPts val="2465"/>
              </a:lnSpc>
              <a:buNone/>
            </a:pPr>
            <a:r>
              <a:rPr lang="en-US" sz="1700" b="1" dirty="0">
                <a:solidFill>
                  <a:srgbClr val="0B2447"/>
                </a:solidFill>
                <a:latin typeface="Arial" pitchFamily="34" charset="0"/>
                <a:ea typeface="Arial" pitchFamily="34" charset="-122"/>
                <a:cs typeface="Arial" pitchFamily="34" charset="-120"/>
              </a:rPr>
              <a:t>The Bus Booking System is a web-based application designed to simplify the process of booking bus tickets.</a:t>
            </a:r>
            <a:endParaRPr lang="en-US" sz="1700" dirty="0"/>
          </a:p>
        </p:txBody>
      </p:sp>
      <p:sp>
        <p:nvSpPr>
          <p:cNvPr id="5" name="Text 3"/>
          <p:cNvSpPr/>
          <p:nvPr/>
        </p:nvSpPr>
        <p:spPr>
          <a:xfrm>
            <a:off x="812800" y="3803253"/>
            <a:ext cx="5624830"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34155"/>
                </a:solidFill>
                <a:latin typeface="Arial" pitchFamily="34" charset="0"/>
                <a:ea typeface="Arial" pitchFamily="34" charset="-122"/>
                <a:cs typeface="Arial" pitchFamily="34" charset="-120"/>
              </a:rPr>
              <a:t>Users can register, log in, search for buses by source and destination, select available seats, and pay online using different payment methods. After successful payment confirmation, the system generates a ticket that users can download.</a:t>
            </a:r>
            <a:endParaRPr lang="en-US" sz="1500" dirty="0"/>
          </a:p>
        </p:txBody>
      </p:sp>
      <p:sp>
        <p:nvSpPr>
          <p:cNvPr id="6" name="Shape 4"/>
          <p:cNvSpPr/>
          <p:nvPr/>
        </p:nvSpPr>
        <p:spPr>
          <a:xfrm>
            <a:off x="6734175" y="2193875"/>
            <a:ext cx="4641850" cy="565150"/>
          </a:xfrm>
          <a:prstGeom prst="roundRect">
            <a:avLst>
              <a:gd name="adj" fmla="val 17416"/>
            </a:avLst>
          </a:prstGeom>
          <a:solidFill>
            <a:srgbClr val="FFFFFF"/>
          </a:solidFill>
          <a:ln w="6350">
            <a:solidFill>
              <a:srgbClr val="CBD5E1"/>
            </a:solidFill>
            <a:prstDash val="solid"/>
          </a:ln>
        </p:spPr>
      </p:sp>
      <p:sp>
        <p:nvSpPr>
          <p:cNvPr id="7" name="Text 5"/>
          <p:cNvSpPr/>
          <p:nvPr/>
        </p:nvSpPr>
        <p:spPr>
          <a:xfrm>
            <a:off x="6915150" y="2298650"/>
            <a:ext cx="355600" cy="3556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7423150" y="2334220"/>
            <a:ext cx="219479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Register and log in</a:t>
            </a:r>
            <a:endParaRPr lang="en-US" sz="1600" dirty="0"/>
          </a:p>
        </p:txBody>
      </p:sp>
      <p:sp>
        <p:nvSpPr>
          <p:cNvPr id="9" name="Shape 7"/>
          <p:cNvSpPr/>
          <p:nvPr/>
        </p:nvSpPr>
        <p:spPr>
          <a:xfrm>
            <a:off x="6734175" y="2866975"/>
            <a:ext cx="4641850" cy="565150"/>
          </a:xfrm>
          <a:prstGeom prst="roundRect">
            <a:avLst>
              <a:gd name="adj" fmla="val 17416"/>
            </a:avLst>
          </a:prstGeom>
          <a:solidFill>
            <a:srgbClr val="FFFFFF"/>
          </a:solidFill>
          <a:ln w="6350">
            <a:solidFill>
              <a:srgbClr val="CBD5E1"/>
            </a:solidFill>
            <a:prstDash val="solid"/>
          </a:ln>
        </p:spPr>
      </p:sp>
      <p:sp>
        <p:nvSpPr>
          <p:cNvPr id="10" name="Text 8"/>
          <p:cNvSpPr/>
          <p:nvPr/>
        </p:nvSpPr>
        <p:spPr>
          <a:xfrm>
            <a:off x="6915150" y="2971750"/>
            <a:ext cx="355600" cy="3556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7423150" y="3007320"/>
            <a:ext cx="261544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Search buses by route</a:t>
            </a:r>
            <a:endParaRPr lang="en-US" sz="1600" dirty="0"/>
          </a:p>
        </p:txBody>
      </p:sp>
      <p:sp>
        <p:nvSpPr>
          <p:cNvPr id="12" name="Shape 10"/>
          <p:cNvSpPr/>
          <p:nvPr/>
        </p:nvSpPr>
        <p:spPr>
          <a:xfrm>
            <a:off x="6734175" y="3540075"/>
            <a:ext cx="4641850" cy="565150"/>
          </a:xfrm>
          <a:prstGeom prst="roundRect">
            <a:avLst>
              <a:gd name="adj" fmla="val 17416"/>
            </a:avLst>
          </a:prstGeom>
          <a:solidFill>
            <a:srgbClr val="FFFFFF"/>
          </a:solidFill>
          <a:ln w="6350">
            <a:solidFill>
              <a:srgbClr val="CBD5E1"/>
            </a:solidFill>
            <a:prstDash val="solid"/>
          </a:ln>
        </p:spPr>
      </p:sp>
      <p:sp>
        <p:nvSpPr>
          <p:cNvPr id="13" name="Text 11"/>
          <p:cNvSpPr/>
          <p:nvPr/>
        </p:nvSpPr>
        <p:spPr>
          <a:xfrm>
            <a:off x="6915150" y="3644850"/>
            <a:ext cx="355600" cy="3556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7423150" y="3680420"/>
            <a:ext cx="250781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Select available seats</a:t>
            </a:r>
            <a:endParaRPr lang="en-US" sz="1600" dirty="0"/>
          </a:p>
        </p:txBody>
      </p:sp>
      <p:sp>
        <p:nvSpPr>
          <p:cNvPr id="15" name="Shape 13"/>
          <p:cNvSpPr/>
          <p:nvPr/>
        </p:nvSpPr>
        <p:spPr>
          <a:xfrm>
            <a:off x="6734175" y="4213175"/>
            <a:ext cx="4641850" cy="565150"/>
          </a:xfrm>
          <a:prstGeom prst="roundRect">
            <a:avLst>
              <a:gd name="adj" fmla="val 17416"/>
            </a:avLst>
          </a:prstGeom>
          <a:solidFill>
            <a:srgbClr val="FFFFFF"/>
          </a:solidFill>
          <a:ln w="6350">
            <a:solidFill>
              <a:srgbClr val="CBD5E1"/>
            </a:solidFill>
            <a:prstDash val="solid"/>
          </a:ln>
        </p:spPr>
      </p:sp>
      <p:sp>
        <p:nvSpPr>
          <p:cNvPr id="16" name="Text 14"/>
          <p:cNvSpPr/>
          <p:nvPr/>
        </p:nvSpPr>
        <p:spPr>
          <a:xfrm>
            <a:off x="6915150" y="4317950"/>
            <a:ext cx="355600" cy="3556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7" name="Text 15"/>
          <p:cNvSpPr/>
          <p:nvPr/>
        </p:nvSpPr>
        <p:spPr>
          <a:xfrm>
            <a:off x="7423150" y="4353520"/>
            <a:ext cx="121955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Pay online</a:t>
            </a:r>
            <a:endParaRPr lang="en-US" sz="1600" dirty="0"/>
          </a:p>
        </p:txBody>
      </p:sp>
      <p:sp>
        <p:nvSpPr>
          <p:cNvPr id="18" name="Shape 16"/>
          <p:cNvSpPr/>
          <p:nvPr/>
        </p:nvSpPr>
        <p:spPr>
          <a:xfrm>
            <a:off x="6731000" y="4883100"/>
            <a:ext cx="4648200" cy="558800"/>
          </a:xfrm>
          <a:prstGeom prst="roundRect">
            <a:avLst>
              <a:gd name="adj" fmla="val 18182"/>
            </a:avLst>
          </a:prstGeom>
          <a:solidFill>
            <a:srgbClr val="0B2447"/>
          </a:solidFill>
          <a:ln/>
        </p:spPr>
      </p:sp>
      <p:sp>
        <p:nvSpPr>
          <p:cNvPr id="19" name="Text 17"/>
          <p:cNvSpPr/>
          <p:nvPr/>
        </p:nvSpPr>
        <p:spPr>
          <a:xfrm>
            <a:off x="6908800" y="4984700"/>
            <a:ext cx="355600" cy="355600"/>
          </a:xfrm>
          <a:prstGeom prst="roundRect">
            <a:avLst>
              <a:gd name="adj" fmla="val 50000"/>
            </a:avLst>
          </a:prstGeom>
          <a:solidFill>
            <a:srgbClr val="FFFFFF"/>
          </a:solidFill>
          <a:ln/>
        </p:spPr>
        <p:txBody>
          <a:bodyPr wrap="square" lIns="0" tIns="0" rIns="0" bIns="0" rtlCol="0" anchor="ctr">
            <a:normAutofit/>
          </a:bodyPr>
          <a:lstStyle/>
          <a:p>
            <a:pPr algn="ctr" indent="0" marL="0">
              <a:lnSpc>
                <a:spcPts val="1960"/>
              </a:lnSpc>
              <a:buNone/>
            </a:pPr>
            <a:r>
              <a:rPr lang="en-US" sz="1400" b="1" dirty="0">
                <a:solidFill>
                  <a:srgbClr val="0B2447"/>
                </a:solidFill>
                <a:latin typeface="Arial" pitchFamily="34" charset="0"/>
                <a:ea typeface="Arial" pitchFamily="34" charset="-122"/>
                <a:cs typeface="Arial" pitchFamily="34" charset="-120"/>
              </a:rPr>
              <a:t>5</a:t>
            </a:r>
            <a:endParaRPr lang="en-US" sz="1400" dirty="0"/>
          </a:p>
        </p:txBody>
      </p:sp>
      <p:sp>
        <p:nvSpPr>
          <p:cNvPr id="20" name="Text 18"/>
          <p:cNvSpPr/>
          <p:nvPr/>
        </p:nvSpPr>
        <p:spPr>
          <a:xfrm>
            <a:off x="7416800" y="5020270"/>
            <a:ext cx="230314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Arial" pitchFamily="34" charset="0"/>
                <a:ea typeface="Arial" pitchFamily="34" charset="-122"/>
                <a:cs typeface="Arial" pitchFamily="34" charset="-120"/>
              </a:rPr>
              <a:t>Download the ticket</a:t>
            </a:r>
            <a:endParaRPr lang="en-US" sz="16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2 / 20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OBJECTIVES</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What the project aims to achieve</a:t>
            </a:r>
            <a:endParaRPr lang="en-US" sz="3200" dirty="0"/>
          </a:p>
        </p:txBody>
      </p:sp>
      <p:sp>
        <p:nvSpPr>
          <p:cNvPr id="4" name="Shape 2"/>
          <p:cNvSpPr/>
          <p:nvPr/>
        </p:nvSpPr>
        <p:spPr>
          <a:xfrm>
            <a:off x="815975" y="1793825"/>
            <a:ext cx="3380284" cy="1461691"/>
          </a:xfrm>
          <a:prstGeom prst="roundRect">
            <a:avLst>
              <a:gd name="adj" fmla="val 8471"/>
            </a:avLst>
          </a:prstGeom>
          <a:solidFill>
            <a:srgbClr val="F4F7FB"/>
          </a:solidFill>
          <a:ln w="6350">
            <a:solidFill>
              <a:srgbClr val="CBD5E1"/>
            </a:solidFill>
            <a:prstDash val="solid"/>
          </a:ln>
        </p:spPr>
      </p:sp>
      <p:pic>
        <p:nvPicPr>
          <p:cNvPr id="5" name="Image 0" descr="Lightning">    </p:cNvPr>
          <p:cNvPicPr>
            <a:picLocks noChangeAspect="1"/>
          </p:cNvPicPr>
          <p:nvPr/>
        </p:nvPicPr>
        <p:blipFill>
          <a:blip r:embed="rId1"/>
          <a:srcRect l="0" r="0" t="0" b="0"/>
          <a:stretch/>
        </p:blipFill>
        <p:spPr>
          <a:xfrm>
            <a:off x="1047750" y="2025600"/>
            <a:ext cx="355600" cy="355600"/>
          </a:xfrm>
          <a:prstGeom prst="rect">
            <a:avLst/>
          </a:prstGeom>
        </p:spPr>
      </p:pic>
      <p:sp>
        <p:nvSpPr>
          <p:cNvPr id="6" name="Text 3"/>
          <p:cNvSpPr/>
          <p:nvPr/>
        </p:nvSpPr>
        <p:spPr>
          <a:xfrm>
            <a:off x="1047750" y="2495500"/>
            <a:ext cx="3004236"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0B2447"/>
                </a:solidFill>
                <a:latin typeface="Arial" pitchFamily="34" charset="0"/>
                <a:ea typeface="Arial" pitchFamily="34" charset="-122"/>
                <a:cs typeface="Arial" pitchFamily="34" charset="-120"/>
              </a:rPr>
              <a:t>Make bus ticket booking easy and fast.</a:t>
            </a:r>
            <a:endParaRPr lang="en-US" sz="1600" dirty="0"/>
          </a:p>
        </p:txBody>
      </p:sp>
      <p:sp>
        <p:nvSpPr>
          <p:cNvPr id="7" name="Shape 4"/>
          <p:cNvSpPr/>
          <p:nvPr/>
        </p:nvSpPr>
        <p:spPr>
          <a:xfrm>
            <a:off x="4405809" y="1793825"/>
            <a:ext cx="3380333" cy="1461691"/>
          </a:xfrm>
          <a:prstGeom prst="roundRect">
            <a:avLst>
              <a:gd name="adj" fmla="val 8471"/>
            </a:avLst>
          </a:prstGeom>
          <a:solidFill>
            <a:srgbClr val="F4F7FB"/>
          </a:solidFill>
          <a:ln w="6350">
            <a:solidFill>
              <a:srgbClr val="CBD5E1"/>
            </a:solidFill>
            <a:prstDash val="solid"/>
          </a:ln>
        </p:spPr>
      </p:sp>
      <p:pic>
        <p:nvPicPr>
          <p:cNvPr id="8" name="Image 1" descr="Clock">    </p:cNvPr>
          <p:cNvPicPr>
            <a:picLocks noChangeAspect="1"/>
          </p:cNvPicPr>
          <p:nvPr/>
        </p:nvPicPr>
        <p:blipFill>
          <a:blip r:embed="rId2"/>
          <a:srcRect l="0" r="0" t="0" b="0"/>
          <a:stretch/>
        </p:blipFill>
        <p:spPr>
          <a:xfrm>
            <a:off x="4637584" y="2025600"/>
            <a:ext cx="355600" cy="355600"/>
          </a:xfrm>
          <a:prstGeom prst="rect">
            <a:avLst/>
          </a:prstGeom>
        </p:spPr>
      </p:pic>
      <p:sp>
        <p:nvSpPr>
          <p:cNvPr id="9" name="Text 5"/>
          <p:cNvSpPr/>
          <p:nvPr/>
        </p:nvSpPr>
        <p:spPr>
          <a:xfrm>
            <a:off x="4637584" y="2495500"/>
            <a:ext cx="3004287"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0B2447"/>
                </a:solidFill>
                <a:latin typeface="Arial" pitchFamily="34" charset="0"/>
                <a:ea typeface="Arial" pitchFamily="34" charset="-122"/>
                <a:cs typeface="Arial" pitchFamily="34" charset="-120"/>
              </a:rPr>
              <a:t>Show real-time bus and seat availability.</a:t>
            </a:r>
            <a:endParaRPr lang="en-US" sz="1600" dirty="0"/>
          </a:p>
        </p:txBody>
      </p:sp>
      <p:sp>
        <p:nvSpPr>
          <p:cNvPr id="10" name="Shape 6"/>
          <p:cNvSpPr/>
          <p:nvPr/>
        </p:nvSpPr>
        <p:spPr>
          <a:xfrm>
            <a:off x="7995692" y="1793825"/>
            <a:ext cx="3380284" cy="1461691"/>
          </a:xfrm>
          <a:prstGeom prst="roundRect">
            <a:avLst>
              <a:gd name="adj" fmla="val 8471"/>
            </a:avLst>
          </a:prstGeom>
          <a:solidFill>
            <a:srgbClr val="F4F7FB"/>
          </a:solidFill>
          <a:ln w="6350">
            <a:solidFill>
              <a:srgbClr val="CBD5E1"/>
            </a:solidFill>
            <a:prstDash val="solid"/>
          </a:ln>
        </p:spPr>
      </p:sp>
      <p:pic>
        <p:nvPicPr>
          <p:cNvPr id="11" name="Image 2" descr="Lock">    </p:cNvPr>
          <p:cNvPicPr>
            <a:picLocks noChangeAspect="1"/>
          </p:cNvPicPr>
          <p:nvPr/>
        </p:nvPicPr>
        <p:blipFill>
          <a:blip r:embed="rId3"/>
          <a:srcRect l="0" r="0" t="0" b="0"/>
          <a:stretch/>
        </p:blipFill>
        <p:spPr>
          <a:xfrm>
            <a:off x="8227467" y="2025600"/>
            <a:ext cx="355600" cy="355600"/>
          </a:xfrm>
          <a:prstGeom prst="rect">
            <a:avLst/>
          </a:prstGeom>
        </p:spPr>
      </p:pic>
      <p:sp>
        <p:nvSpPr>
          <p:cNvPr id="12" name="Text 7"/>
          <p:cNvSpPr/>
          <p:nvPr/>
        </p:nvSpPr>
        <p:spPr>
          <a:xfrm>
            <a:off x="8227467" y="2495500"/>
            <a:ext cx="3004236"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0B2447"/>
                </a:solidFill>
                <a:latin typeface="Arial" pitchFamily="34" charset="0"/>
                <a:ea typeface="Arial" pitchFamily="34" charset="-122"/>
                <a:cs typeface="Arial" pitchFamily="34" charset="-120"/>
              </a:rPr>
              <a:t>Offer secure user registration and login.</a:t>
            </a:r>
            <a:endParaRPr lang="en-US" sz="1600" dirty="0"/>
          </a:p>
        </p:txBody>
      </p:sp>
      <p:sp>
        <p:nvSpPr>
          <p:cNvPr id="13" name="Shape 8"/>
          <p:cNvSpPr/>
          <p:nvPr/>
        </p:nvSpPr>
        <p:spPr>
          <a:xfrm>
            <a:off x="815975" y="3465066"/>
            <a:ext cx="3380284" cy="1725811"/>
          </a:xfrm>
          <a:prstGeom prst="roundRect">
            <a:avLst>
              <a:gd name="adj" fmla="val 7175"/>
            </a:avLst>
          </a:prstGeom>
          <a:solidFill>
            <a:srgbClr val="F4F7FB"/>
          </a:solidFill>
          <a:ln w="6350">
            <a:solidFill>
              <a:srgbClr val="CBD5E1"/>
            </a:solidFill>
            <a:prstDash val="solid"/>
          </a:ln>
        </p:spPr>
      </p:sp>
      <p:pic>
        <p:nvPicPr>
          <p:cNvPr id="14" name="Image 3" descr="Verified">    </p:cNvPr>
          <p:cNvPicPr>
            <a:picLocks noChangeAspect="1"/>
          </p:cNvPicPr>
          <p:nvPr/>
        </p:nvPicPr>
        <p:blipFill>
          <a:blip r:embed="rId4"/>
          <a:srcRect l="0" r="0" t="0" b="0"/>
          <a:stretch/>
        </p:blipFill>
        <p:spPr>
          <a:xfrm>
            <a:off x="1047750" y="3696841"/>
            <a:ext cx="355600" cy="355600"/>
          </a:xfrm>
          <a:prstGeom prst="rect">
            <a:avLst/>
          </a:prstGeom>
        </p:spPr>
      </p:pic>
      <p:sp>
        <p:nvSpPr>
          <p:cNvPr id="15" name="Text 9"/>
          <p:cNvSpPr/>
          <p:nvPr/>
        </p:nvSpPr>
        <p:spPr>
          <a:xfrm>
            <a:off x="1047750" y="4166741"/>
            <a:ext cx="3004236"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0B2447"/>
                </a:solidFill>
                <a:latin typeface="Arial" pitchFamily="34" charset="0"/>
                <a:ea typeface="Arial" pitchFamily="34" charset="-122"/>
                <a:cs typeface="Arial" pitchFamily="34" charset="-120"/>
              </a:rPr>
              <a:t>Support UPI, debit/credit cards, and net banking.</a:t>
            </a:r>
            <a:endParaRPr lang="en-US" sz="1600" dirty="0"/>
          </a:p>
        </p:txBody>
      </p:sp>
      <p:sp>
        <p:nvSpPr>
          <p:cNvPr id="16" name="Shape 10"/>
          <p:cNvSpPr/>
          <p:nvPr/>
        </p:nvSpPr>
        <p:spPr>
          <a:xfrm>
            <a:off x="4405809" y="3465066"/>
            <a:ext cx="3380333" cy="1725811"/>
          </a:xfrm>
          <a:prstGeom prst="roundRect">
            <a:avLst>
              <a:gd name="adj" fmla="val 7175"/>
            </a:avLst>
          </a:prstGeom>
          <a:solidFill>
            <a:srgbClr val="F4F7FB"/>
          </a:solidFill>
          <a:ln w="6350">
            <a:solidFill>
              <a:srgbClr val="CBD5E1"/>
            </a:solidFill>
            <a:prstDash val="solid"/>
          </a:ln>
        </p:spPr>
      </p:sp>
      <p:pic>
        <p:nvPicPr>
          <p:cNvPr id="17" name="Image 4" descr="Book">    </p:cNvPr>
          <p:cNvPicPr>
            <a:picLocks noChangeAspect="1"/>
          </p:cNvPicPr>
          <p:nvPr/>
        </p:nvPicPr>
        <p:blipFill>
          <a:blip r:embed="rId5"/>
          <a:srcRect l="0" r="0" t="0" b="0"/>
          <a:stretch/>
        </p:blipFill>
        <p:spPr>
          <a:xfrm>
            <a:off x="4637584" y="3696841"/>
            <a:ext cx="355600" cy="355600"/>
          </a:xfrm>
          <a:prstGeom prst="rect">
            <a:avLst/>
          </a:prstGeom>
        </p:spPr>
      </p:pic>
      <p:sp>
        <p:nvSpPr>
          <p:cNvPr id="18" name="Text 11"/>
          <p:cNvSpPr/>
          <p:nvPr/>
        </p:nvSpPr>
        <p:spPr>
          <a:xfrm>
            <a:off x="4637584" y="4166741"/>
            <a:ext cx="3004287" cy="81776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0B2447"/>
                </a:solidFill>
                <a:latin typeface="Arial" pitchFamily="34" charset="0"/>
                <a:ea typeface="Arial" pitchFamily="34" charset="-122"/>
                <a:cs typeface="Arial" pitchFamily="34" charset="-120"/>
              </a:rPr>
              <a:t>Generate downloadable tickets after successful payment.</a:t>
            </a:r>
            <a:endParaRPr lang="en-US" sz="1600" dirty="0"/>
          </a:p>
        </p:txBody>
      </p:sp>
      <p:sp>
        <p:nvSpPr>
          <p:cNvPr id="19" name="Shape 12"/>
          <p:cNvSpPr/>
          <p:nvPr/>
        </p:nvSpPr>
        <p:spPr>
          <a:xfrm>
            <a:off x="7995692" y="3465066"/>
            <a:ext cx="3380284" cy="1725811"/>
          </a:xfrm>
          <a:prstGeom prst="roundRect">
            <a:avLst>
              <a:gd name="adj" fmla="val 7175"/>
            </a:avLst>
          </a:prstGeom>
          <a:solidFill>
            <a:srgbClr val="F4F7FB"/>
          </a:solidFill>
          <a:ln w="6350">
            <a:solidFill>
              <a:srgbClr val="CBD5E1"/>
            </a:solidFill>
            <a:prstDash val="solid"/>
          </a:ln>
        </p:spPr>
      </p:sp>
      <p:pic>
        <p:nvPicPr>
          <p:cNvPr id="20" name="Image 5" descr="Check">    </p:cNvPr>
          <p:cNvPicPr>
            <a:picLocks noChangeAspect="1"/>
          </p:cNvPicPr>
          <p:nvPr/>
        </p:nvPicPr>
        <p:blipFill>
          <a:blip r:embed="rId6"/>
          <a:srcRect l="0" r="0" t="0" b="0"/>
          <a:stretch/>
        </p:blipFill>
        <p:spPr>
          <a:xfrm>
            <a:off x="8227467" y="3696841"/>
            <a:ext cx="355600" cy="355600"/>
          </a:xfrm>
          <a:prstGeom prst="rect">
            <a:avLst/>
          </a:prstGeom>
        </p:spPr>
      </p:pic>
      <p:sp>
        <p:nvSpPr>
          <p:cNvPr id="21" name="Text 13"/>
          <p:cNvSpPr/>
          <p:nvPr/>
        </p:nvSpPr>
        <p:spPr>
          <a:xfrm>
            <a:off x="8227467" y="4166741"/>
            <a:ext cx="3004236" cy="81776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0B2447"/>
                </a:solidFill>
                <a:latin typeface="Arial" pitchFamily="34" charset="0"/>
                <a:ea typeface="Arial" pitchFamily="34" charset="-122"/>
                <a:cs typeface="Arial" pitchFamily="34" charset="-120"/>
              </a:rPr>
              <a:t>Reduce manual work and prevent duplicate seat bookings.</a:t>
            </a:r>
            <a:endParaRPr lang="en-US" sz="1600" dirty="0"/>
          </a:p>
        </p:txBody>
      </p:sp>
      <p:sp>
        <p:nvSpPr>
          <p:cNvPr id="22"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a:t>
            </a:r>
            <a:endParaRPr lang="en-US" sz="1200" dirty="0"/>
          </a:p>
        </p:txBody>
      </p:sp>
      <p:sp>
        <p:nvSpPr>
          <p:cNvPr id="23"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3 / 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TECHNOLOGIES USED</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The full-stack toolkit</a:t>
            </a:r>
            <a:endParaRPr lang="en-US" sz="3200" dirty="0"/>
          </a:p>
        </p:txBody>
      </p:sp>
      <p:sp>
        <p:nvSpPr>
          <p:cNvPr id="4" name="Shape 2"/>
          <p:cNvSpPr/>
          <p:nvPr/>
        </p:nvSpPr>
        <p:spPr>
          <a:xfrm>
            <a:off x="815975" y="1793825"/>
            <a:ext cx="2482850" cy="2543076"/>
          </a:xfrm>
          <a:prstGeom prst="roundRect">
            <a:avLst>
              <a:gd name="adj" fmla="val 4987"/>
            </a:avLst>
          </a:prstGeom>
          <a:solidFill>
            <a:srgbClr val="FFFFFF"/>
          </a:solidFill>
          <a:ln w="6350">
            <a:solidFill>
              <a:srgbClr val="CBD5E1"/>
            </a:solidFill>
            <a:prstDash val="solid"/>
          </a:ln>
        </p:spPr>
      </p:sp>
      <p:pic>
        <p:nvPicPr>
          <p:cNvPr id="5" name="Image 0" descr="Code">    </p:cNvPr>
          <p:cNvPicPr>
            <a:picLocks noChangeAspect="1"/>
          </p:cNvPicPr>
          <p:nvPr/>
        </p:nvPicPr>
        <p:blipFill>
          <a:blip r:embed="rId1"/>
          <a:srcRect l="0" r="0" t="0" b="0"/>
          <a:stretch/>
        </p:blipFill>
        <p:spPr>
          <a:xfrm>
            <a:off x="1047750" y="2025600"/>
            <a:ext cx="355600" cy="355600"/>
          </a:xfrm>
          <a:prstGeom prst="rect">
            <a:avLst/>
          </a:prstGeom>
        </p:spPr>
      </p:pic>
      <p:sp>
        <p:nvSpPr>
          <p:cNvPr id="6" name="Text 3"/>
          <p:cNvSpPr/>
          <p:nvPr/>
        </p:nvSpPr>
        <p:spPr>
          <a:xfrm>
            <a:off x="1047750" y="2470100"/>
            <a:ext cx="207987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447"/>
                </a:solidFill>
                <a:latin typeface="Poppins" pitchFamily="34" charset="0"/>
                <a:ea typeface="Poppins" pitchFamily="34" charset="-122"/>
                <a:cs typeface="Poppins" pitchFamily="34" charset="-120"/>
              </a:rPr>
              <a:t>Frontend</a:t>
            </a:r>
            <a:endParaRPr lang="en-US" sz="1600" dirty="0"/>
          </a:p>
        </p:txBody>
      </p:sp>
      <p:sp>
        <p:nvSpPr>
          <p:cNvPr id="7" name="Text 4"/>
          <p:cNvSpPr/>
          <p:nvPr/>
        </p:nvSpPr>
        <p:spPr>
          <a:xfrm>
            <a:off x="1047750" y="2802830"/>
            <a:ext cx="2079879"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D4ED8"/>
                </a:solidFill>
                <a:latin typeface="Arial" pitchFamily="34" charset="0"/>
                <a:ea typeface="Arial" pitchFamily="34" charset="-122"/>
                <a:cs typeface="Arial" pitchFamily="34" charset="-120"/>
              </a:rPr>
              <a:t>HTML, CSS, JavaScript, React</a:t>
            </a:r>
            <a:endParaRPr lang="en-US" sz="1500" dirty="0"/>
          </a:p>
        </p:txBody>
      </p:sp>
      <p:sp>
        <p:nvSpPr>
          <p:cNvPr id="8" name="Text 5"/>
          <p:cNvSpPr/>
          <p:nvPr/>
        </p:nvSpPr>
        <p:spPr>
          <a:xfrm>
            <a:off x="1047750" y="3387030"/>
            <a:ext cx="2079879"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Arial" pitchFamily="34" charset="0"/>
                <a:ea typeface="Arial" pitchFamily="34" charset="-122"/>
                <a:cs typeface="Arial" pitchFamily="34" charset="-120"/>
              </a:rPr>
              <a:t>User interface, forms, bus search, and seat selection.</a:t>
            </a:r>
            <a:endParaRPr lang="en-US" sz="1300" dirty="0"/>
          </a:p>
        </p:txBody>
      </p:sp>
      <p:sp>
        <p:nvSpPr>
          <p:cNvPr id="9" name="Shape 6"/>
          <p:cNvSpPr/>
          <p:nvPr/>
        </p:nvSpPr>
        <p:spPr>
          <a:xfrm>
            <a:off x="3508375" y="1793825"/>
            <a:ext cx="2482850" cy="2543076"/>
          </a:xfrm>
          <a:prstGeom prst="roundRect">
            <a:avLst>
              <a:gd name="adj" fmla="val 4987"/>
            </a:avLst>
          </a:prstGeom>
          <a:solidFill>
            <a:srgbClr val="FFFFFF"/>
          </a:solidFill>
          <a:ln w="6350">
            <a:solidFill>
              <a:srgbClr val="CBD5E1"/>
            </a:solidFill>
            <a:prstDash val="solid"/>
          </a:ln>
        </p:spPr>
      </p:sp>
      <p:pic>
        <p:nvPicPr>
          <p:cNvPr id="10" name="Image 1" descr="Settings">    </p:cNvPr>
          <p:cNvPicPr>
            <a:picLocks noChangeAspect="1"/>
          </p:cNvPicPr>
          <p:nvPr/>
        </p:nvPicPr>
        <p:blipFill>
          <a:blip r:embed="rId2"/>
          <a:srcRect l="0" r="0" t="0" b="0"/>
          <a:stretch/>
        </p:blipFill>
        <p:spPr>
          <a:xfrm>
            <a:off x="3740150" y="2025600"/>
            <a:ext cx="355600" cy="355600"/>
          </a:xfrm>
          <a:prstGeom prst="rect">
            <a:avLst/>
          </a:prstGeom>
        </p:spPr>
      </p:pic>
      <p:sp>
        <p:nvSpPr>
          <p:cNvPr id="11" name="Text 7"/>
          <p:cNvSpPr/>
          <p:nvPr/>
        </p:nvSpPr>
        <p:spPr>
          <a:xfrm>
            <a:off x="3740150" y="2470100"/>
            <a:ext cx="207987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447"/>
                </a:solidFill>
                <a:latin typeface="Poppins" pitchFamily="34" charset="0"/>
                <a:ea typeface="Poppins" pitchFamily="34" charset="-122"/>
                <a:cs typeface="Poppins" pitchFamily="34" charset="-120"/>
              </a:rPr>
              <a:t>Backend</a:t>
            </a:r>
            <a:endParaRPr lang="en-US" sz="1600" dirty="0"/>
          </a:p>
        </p:txBody>
      </p:sp>
      <p:sp>
        <p:nvSpPr>
          <p:cNvPr id="12" name="Text 8"/>
          <p:cNvSpPr/>
          <p:nvPr/>
        </p:nvSpPr>
        <p:spPr>
          <a:xfrm>
            <a:off x="3740150" y="2802830"/>
            <a:ext cx="207987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D4ED8"/>
                </a:solidFill>
                <a:latin typeface="Arial" pitchFamily="34" charset="0"/>
                <a:ea typeface="Arial" pitchFamily="34" charset="-122"/>
                <a:cs typeface="Arial" pitchFamily="34" charset="-120"/>
              </a:rPr>
              <a:t>Node.js, Express.js</a:t>
            </a:r>
            <a:endParaRPr lang="en-US" sz="1500" dirty="0"/>
          </a:p>
        </p:txBody>
      </p:sp>
      <p:sp>
        <p:nvSpPr>
          <p:cNvPr id="13" name="Text 9"/>
          <p:cNvSpPr/>
          <p:nvPr/>
        </p:nvSpPr>
        <p:spPr>
          <a:xfrm>
            <a:off x="3740150" y="3139380"/>
            <a:ext cx="2079879"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Arial" pitchFamily="34" charset="0"/>
                <a:ea typeface="Arial" pitchFamily="34" charset="-122"/>
                <a:cs typeface="Arial" pitchFamily="34" charset="-120"/>
              </a:rPr>
              <a:t>Business logic, authentication, bookings, and payment status.</a:t>
            </a:r>
            <a:endParaRPr lang="en-US" sz="1300" dirty="0"/>
          </a:p>
        </p:txBody>
      </p:sp>
      <p:sp>
        <p:nvSpPr>
          <p:cNvPr id="14" name="Shape 10"/>
          <p:cNvSpPr/>
          <p:nvPr/>
        </p:nvSpPr>
        <p:spPr>
          <a:xfrm>
            <a:off x="6200775" y="1793825"/>
            <a:ext cx="2482850" cy="2543076"/>
          </a:xfrm>
          <a:prstGeom prst="roundRect">
            <a:avLst>
              <a:gd name="adj" fmla="val 4987"/>
            </a:avLst>
          </a:prstGeom>
          <a:solidFill>
            <a:srgbClr val="FFFFFF"/>
          </a:solidFill>
          <a:ln w="6350">
            <a:solidFill>
              <a:srgbClr val="CBD5E1"/>
            </a:solidFill>
            <a:prstDash val="solid"/>
          </a:ln>
        </p:spPr>
      </p:sp>
      <p:pic>
        <p:nvPicPr>
          <p:cNvPr id="15" name="Image 2" descr="Database">    </p:cNvPr>
          <p:cNvPicPr>
            <a:picLocks noChangeAspect="1"/>
          </p:cNvPicPr>
          <p:nvPr/>
        </p:nvPicPr>
        <p:blipFill>
          <a:blip r:embed="rId3"/>
          <a:srcRect l="0" r="0" t="0" b="0"/>
          <a:stretch/>
        </p:blipFill>
        <p:spPr>
          <a:xfrm>
            <a:off x="6432550" y="2025600"/>
            <a:ext cx="355600" cy="355600"/>
          </a:xfrm>
          <a:prstGeom prst="rect">
            <a:avLst/>
          </a:prstGeom>
        </p:spPr>
      </p:pic>
      <p:sp>
        <p:nvSpPr>
          <p:cNvPr id="16" name="Text 11"/>
          <p:cNvSpPr/>
          <p:nvPr/>
        </p:nvSpPr>
        <p:spPr>
          <a:xfrm>
            <a:off x="6432550" y="2470100"/>
            <a:ext cx="207987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447"/>
                </a:solidFill>
                <a:latin typeface="Poppins" pitchFamily="34" charset="0"/>
                <a:ea typeface="Poppins" pitchFamily="34" charset="-122"/>
                <a:cs typeface="Poppins" pitchFamily="34" charset="-120"/>
              </a:rPr>
              <a:t>Database</a:t>
            </a:r>
            <a:endParaRPr lang="en-US" sz="1600" dirty="0"/>
          </a:p>
        </p:txBody>
      </p:sp>
      <p:sp>
        <p:nvSpPr>
          <p:cNvPr id="17" name="Text 12"/>
          <p:cNvSpPr/>
          <p:nvPr/>
        </p:nvSpPr>
        <p:spPr>
          <a:xfrm>
            <a:off x="6432550" y="2802830"/>
            <a:ext cx="207987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D4ED8"/>
                </a:solidFill>
                <a:latin typeface="Arial" pitchFamily="34" charset="0"/>
                <a:ea typeface="Arial" pitchFamily="34" charset="-122"/>
                <a:cs typeface="Arial" pitchFamily="34" charset="-120"/>
              </a:rPr>
              <a:t>MongoDB</a:t>
            </a:r>
            <a:endParaRPr lang="en-US" sz="1500" dirty="0"/>
          </a:p>
        </p:txBody>
      </p:sp>
      <p:sp>
        <p:nvSpPr>
          <p:cNvPr id="18" name="Text 13"/>
          <p:cNvSpPr/>
          <p:nvPr/>
        </p:nvSpPr>
        <p:spPr>
          <a:xfrm>
            <a:off x="6432550" y="3139380"/>
            <a:ext cx="2079879"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Arial" pitchFamily="34" charset="0"/>
                <a:ea typeface="Arial" pitchFamily="34" charset="-122"/>
                <a:cs typeface="Arial" pitchFamily="34" charset="-120"/>
              </a:rPr>
              <a:t>Stores user details, buses, seats, bookings, and tickets.</a:t>
            </a:r>
            <a:endParaRPr lang="en-US" sz="1300" dirty="0"/>
          </a:p>
        </p:txBody>
      </p:sp>
      <p:sp>
        <p:nvSpPr>
          <p:cNvPr id="19" name="Shape 14"/>
          <p:cNvSpPr/>
          <p:nvPr/>
        </p:nvSpPr>
        <p:spPr>
          <a:xfrm>
            <a:off x="8893175" y="1793825"/>
            <a:ext cx="2482850" cy="2543076"/>
          </a:xfrm>
          <a:prstGeom prst="roundRect">
            <a:avLst>
              <a:gd name="adj" fmla="val 4987"/>
            </a:avLst>
          </a:prstGeom>
          <a:solidFill>
            <a:srgbClr val="FFFFFF"/>
          </a:solidFill>
          <a:ln w="6350">
            <a:solidFill>
              <a:srgbClr val="CBD5E1"/>
            </a:solidFill>
            <a:prstDash val="solid"/>
          </a:ln>
        </p:spPr>
      </p:sp>
      <p:pic>
        <p:nvPicPr>
          <p:cNvPr id="20" name="Image 3" descr="Lock">    </p:cNvPr>
          <p:cNvPicPr>
            <a:picLocks noChangeAspect="1"/>
          </p:cNvPicPr>
          <p:nvPr/>
        </p:nvPicPr>
        <p:blipFill>
          <a:blip r:embed="rId4"/>
          <a:srcRect l="0" r="0" t="0" b="0"/>
          <a:stretch/>
        </p:blipFill>
        <p:spPr>
          <a:xfrm>
            <a:off x="9124950" y="2025600"/>
            <a:ext cx="355600" cy="355600"/>
          </a:xfrm>
          <a:prstGeom prst="rect">
            <a:avLst/>
          </a:prstGeom>
        </p:spPr>
      </p:pic>
      <p:sp>
        <p:nvSpPr>
          <p:cNvPr id="21" name="Text 15"/>
          <p:cNvSpPr/>
          <p:nvPr/>
        </p:nvSpPr>
        <p:spPr>
          <a:xfrm>
            <a:off x="9124950" y="2470100"/>
            <a:ext cx="207987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447"/>
                </a:solidFill>
                <a:latin typeface="Poppins" pitchFamily="34" charset="0"/>
                <a:ea typeface="Poppins" pitchFamily="34" charset="-122"/>
                <a:cs typeface="Poppins" pitchFamily="34" charset="-120"/>
              </a:rPr>
              <a:t>Payment</a:t>
            </a:r>
            <a:endParaRPr lang="en-US" sz="1600" dirty="0"/>
          </a:p>
        </p:txBody>
      </p:sp>
      <p:sp>
        <p:nvSpPr>
          <p:cNvPr id="22" name="Text 16"/>
          <p:cNvSpPr/>
          <p:nvPr/>
        </p:nvSpPr>
        <p:spPr>
          <a:xfrm>
            <a:off x="9124950" y="2802830"/>
            <a:ext cx="2079879"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D4ED8"/>
                </a:solidFill>
                <a:latin typeface="Arial" pitchFamily="34" charset="0"/>
                <a:ea typeface="Arial" pitchFamily="34" charset="-122"/>
                <a:cs typeface="Arial" pitchFamily="34" charset="-120"/>
              </a:rPr>
              <a:t>Razorpay or similar gateway</a:t>
            </a:r>
            <a:endParaRPr lang="en-US" sz="1500" dirty="0"/>
          </a:p>
        </p:txBody>
      </p:sp>
      <p:sp>
        <p:nvSpPr>
          <p:cNvPr id="23" name="Text 17"/>
          <p:cNvSpPr/>
          <p:nvPr/>
        </p:nvSpPr>
        <p:spPr>
          <a:xfrm>
            <a:off x="9124950" y="3387030"/>
            <a:ext cx="2079879"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155"/>
                </a:solidFill>
                <a:latin typeface="Arial" pitchFamily="34" charset="0"/>
                <a:ea typeface="Arial" pitchFamily="34" charset="-122"/>
                <a:cs typeface="Arial" pitchFamily="34" charset="-120"/>
              </a:rPr>
              <a:t>Processes online payments and verifies the payment result.</a:t>
            </a:r>
            <a:endParaRPr lang="en-US" sz="1300" dirty="0"/>
          </a:p>
        </p:txBody>
      </p:sp>
      <p:sp>
        <p:nvSpPr>
          <p:cNvPr id="24"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a:t>
            </a:r>
            <a:endParaRPr lang="en-US" sz="1200" dirty="0"/>
          </a:p>
        </p:txBody>
      </p:sp>
      <p:sp>
        <p:nvSpPr>
          <p:cNvPr id="25"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4 / 20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SYSTEM ARCHITECTURE</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How the layers work together</a:t>
            </a:r>
            <a:endParaRPr lang="en-US" sz="3200" dirty="0"/>
          </a:p>
        </p:txBody>
      </p:sp>
      <p:sp>
        <p:nvSpPr>
          <p:cNvPr id="4" name="Shape 2"/>
          <p:cNvSpPr/>
          <p:nvPr/>
        </p:nvSpPr>
        <p:spPr>
          <a:xfrm>
            <a:off x="819150" y="1809750"/>
            <a:ext cx="5575300" cy="774700"/>
          </a:xfrm>
          <a:prstGeom prst="roundRect">
            <a:avLst>
              <a:gd name="adj" fmla="val 15574"/>
            </a:avLst>
          </a:prstGeom>
          <a:solidFill>
            <a:srgbClr val="FFFFFF"/>
          </a:solidFill>
          <a:ln w="12700">
            <a:solidFill>
              <a:srgbClr val="1D4ED8"/>
            </a:solidFill>
            <a:prstDash val="solid"/>
          </a:ln>
        </p:spPr>
      </p:sp>
      <p:sp>
        <p:nvSpPr>
          <p:cNvPr id="5" name="Text 3"/>
          <p:cNvSpPr/>
          <p:nvPr/>
        </p:nvSpPr>
        <p:spPr>
          <a:xfrm>
            <a:off x="1003300" y="1935510"/>
            <a:ext cx="53632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User</a:t>
            </a:r>
            <a:endParaRPr lang="en-US" sz="1600" dirty="0"/>
          </a:p>
        </p:txBody>
      </p:sp>
      <p:sp>
        <p:nvSpPr>
          <p:cNvPr id="6" name="Text 4"/>
          <p:cNvSpPr/>
          <p:nvPr/>
        </p:nvSpPr>
        <p:spPr>
          <a:xfrm>
            <a:off x="1003300" y="2245370"/>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155"/>
                </a:solidFill>
                <a:latin typeface="Arial" pitchFamily="34" charset="0"/>
                <a:ea typeface="Arial" pitchFamily="34" charset="-122"/>
                <a:cs typeface="Arial" pitchFamily="34" charset="-120"/>
              </a:rPr>
              <a:t>Traveler using a web browser</a:t>
            </a:r>
            <a:endParaRPr lang="en-US" sz="1200" dirty="0"/>
          </a:p>
        </p:txBody>
      </p:sp>
      <p:sp>
        <p:nvSpPr>
          <p:cNvPr id="7" name="Shape 5"/>
          <p:cNvSpPr/>
          <p:nvPr/>
        </p:nvSpPr>
        <p:spPr>
          <a:xfrm>
            <a:off x="819150" y="2825750"/>
            <a:ext cx="5575300" cy="774700"/>
          </a:xfrm>
          <a:prstGeom prst="roundRect">
            <a:avLst>
              <a:gd name="adj" fmla="val 15574"/>
            </a:avLst>
          </a:prstGeom>
          <a:solidFill>
            <a:srgbClr val="DBEAFE"/>
          </a:solidFill>
          <a:ln w="12700">
            <a:solidFill>
              <a:srgbClr val="1D4ED8"/>
            </a:solidFill>
            <a:prstDash val="solid"/>
          </a:ln>
        </p:spPr>
      </p:sp>
      <p:sp>
        <p:nvSpPr>
          <p:cNvPr id="8" name="Text 6"/>
          <p:cNvSpPr/>
          <p:nvPr/>
        </p:nvSpPr>
        <p:spPr>
          <a:xfrm>
            <a:off x="1003300" y="2951510"/>
            <a:ext cx="53632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Presentation layer</a:t>
            </a:r>
            <a:endParaRPr lang="en-US" sz="1600" dirty="0"/>
          </a:p>
        </p:txBody>
      </p:sp>
      <p:sp>
        <p:nvSpPr>
          <p:cNvPr id="9" name="Text 7"/>
          <p:cNvSpPr/>
          <p:nvPr/>
        </p:nvSpPr>
        <p:spPr>
          <a:xfrm>
            <a:off x="1003300" y="3261370"/>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93B"/>
                </a:solidFill>
                <a:latin typeface="Arial" pitchFamily="34" charset="0"/>
                <a:ea typeface="Arial" pitchFamily="34" charset="-122"/>
                <a:cs typeface="Arial" pitchFamily="34" charset="-120"/>
              </a:rPr>
              <a:t>React · HTML · CSS · JavaScript — Register, Login, Search, Seats</a:t>
            </a:r>
            <a:endParaRPr lang="en-US" sz="1200" dirty="0"/>
          </a:p>
        </p:txBody>
      </p:sp>
      <p:sp>
        <p:nvSpPr>
          <p:cNvPr id="10" name="Shape 8"/>
          <p:cNvSpPr/>
          <p:nvPr/>
        </p:nvSpPr>
        <p:spPr>
          <a:xfrm>
            <a:off x="819150" y="3841750"/>
            <a:ext cx="5575300" cy="774700"/>
          </a:xfrm>
          <a:prstGeom prst="roundRect">
            <a:avLst>
              <a:gd name="adj" fmla="val 15574"/>
            </a:avLst>
          </a:prstGeom>
          <a:solidFill>
            <a:srgbClr val="1D4ED8"/>
          </a:solidFill>
          <a:ln w="12700">
            <a:solidFill>
              <a:srgbClr val="1D4ED8"/>
            </a:solidFill>
            <a:prstDash val="solid"/>
          </a:ln>
        </p:spPr>
      </p:sp>
      <p:sp>
        <p:nvSpPr>
          <p:cNvPr id="11" name="Text 9"/>
          <p:cNvSpPr/>
          <p:nvPr/>
        </p:nvSpPr>
        <p:spPr>
          <a:xfrm>
            <a:off x="1003300" y="3967510"/>
            <a:ext cx="53632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Arial" pitchFamily="34" charset="0"/>
                <a:ea typeface="Arial" pitchFamily="34" charset="-122"/>
                <a:cs typeface="Arial" pitchFamily="34" charset="-120"/>
              </a:rPr>
              <a:t>Application layer</a:t>
            </a:r>
            <a:endParaRPr lang="en-US" sz="1600" dirty="0"/>
          </a:p>
        </p:txBody>
      </p:sp>
      <p:sp>
        <p:nvSpPr>
          <p:cNvPr id="12" name="Text 10"/>
          <p:cNvSpPr/>
          <p:nvPr/>
        </p:nvSpPr>
        <p:spPr>
          <a:xfrm>
            <a:off x="1003300" y="4277370"/>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ial" pitchFamily="34" charset="0"/>
                <a:ea typeface="Arial" pitchFamily="34" charset="-122"/>
                <a:cs typeface="Arial" pitchFamily="34" charset="-120"/>
              </a:rPr>
              <a:t>Node.js · Express.js REST API — Auth, Booking, Seat Locking</a:t>
            </a:r>
            <a:endParaRPr lang="en-US" sz="1200" dirty="0"/>
          </a:p>
        </p:txBody>
      </p:sp>
      <p:sp>
        <p:nvSpPr>
          <p:cNvPr id="13" name="Shape 11"/>
          <p:cNvSpPr/>
          <p:nvPr/>
        </p:nvSpPr>
        <p:spPr>
          <a:xfrm>
            <a:off x="819150" y="4857750"/>
            <a:ext cx="5575300" cy="774700"/>
          </a:xfrm>
          <a:prstGeom prst="roundRect">
            <a:avLst>
              <a:gd name="adj" fmla="val 15574"/>
            </a:avLst>
          </a:prstGeom>
          <a:solidFill>
            <a:srgbClr val="0B2447"/>
          </a:solidFill>
          <a:ln w="12700">
            <a:solidFill>
              <a:srgbClr val="0B2447"/>
            </a:solidFill>
            <a:prstDash val="solid"/>
          </a:ln>
        </p:spPr>
      </p:sp>
      <p:sp>
        <p:nvSpPr>
          <p:cNvPr id="14" name="Text 12"/>
          <p:cNvSpPr/>
          <p:nvPr/>
        </p:nvSpPr>
        <p:spPr>
          <a:xfrm>
            <a:off x="1003300" y="4983510"/>
            <a:ext cx="53632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Arial" pitchFamily="34" charset="0"/>
                <a:ea typeface="Arial" pitchFamily="34" charset="-122"/>
                <a:cs typeface="Arial" pitchFamily="34" charset="-120"/>
              </a:rPr>
              <a:t>Database layer</a:t>
            </a:r>
            <a:endParaRPr lang="en-US" sz="1600" dirty="0"/>
          </a:p>
        </p:txBody>
      </p:sp>
      <p:sp>
        <p:nvSpPr>
          <p:cNvPr id="15" name="Text 13"/>
          <p:cNvSpPr/>
          <p:nvPr/>
        </p:nvSpPr>
        <p:spPr>
          <a:xfrm>
            <a:off x="1003300" y="5293370"/>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2E8F0"/>
                </a:solidFill>
                <a:latin typeface="Arial" pitchFamily="34" charset="0"/>
                <a:ea typeface="Arial" pitchFamily="34" charset="-122"/>
                <a:cs typeface="Arial" pitchFamily="34" charset="-120"/>
              </a:rPr>
              <a:t>MongoDB — Users, Buses, Schedules, Seats, Bookings, Tickets</a:t>
            </a:r>
            <a:endParaRPr lang="en-US" sz="1200" dirty="0"/>
          </a:p>
        </p:txBody>
      </p:sp>
      <p:pic>
        <p:nvPicPr>
          <p:cNvPr id="16" name="Image 0" descr="connector">    </p:cNvPr>
          <p:cNvPicPr>
            <a:picLocks noChangeAspect="1"/>
          </p:cNvPicPr>
          <p:nvPr/>
        </p:nvPicPr>
        <p:blipFill>
          <a:blip r:embed="rId1"/>
          <a:srcRect l="0" r="0" t="0" b="0"/>
          <a:stretch/>
        </p:blipFill>
        <p:spPr>
          <a:xfrm>
            <a:off x="3556000" y="2552700"/>
            <a:ext cx="101600" cy="304800"/>
          </a:xfrm>
          <a:prstGeom prst="rect">
            <a:avLst/>
          </a:prstGeom>
        </p:spPr>
      </p:pic>
      <p:pic>
        <p:nvPicPr>
          <p:cNvPr id="17" name="Image 1" descr="connector">    </p:cNvPr>
          <p:cNvPicPr>
            <a:picLocks noChangeAspect="1"/>
          </p:cNvPicPr>
          <p:nvPr/>
        </p:nvPicPr>
        <p:blipFill>
          <a:blip r:embed="rId2"/>
          <a:srcRect l="0" r="0" t="0" b="0"/>
          <a:stretch/>
        </p:blipFill>
        <p:spPr>
          <a:xfrm>
            <a:off x="3556000" y="3568700"/>
            <a:ext cx="101600" cy="304800"/>
          </a:xfrm>
          <a:prstGeom prst="rect">
            <a:avLst/>
          </a:prstGeom>
        </p:spPr>
      </p:pic>
      <p:pic>
        <p:nvPicPr>
          <p:cNvPr id="18" name="Image 2" descr="connector">    </p:cNvPr>
          <p:cNvPicPr>
            <a:picLocks noChangeAspect="1"/>
          </p:cNvPicPr>
          <p:nvPr/>
        </p:nvPicPr>
        <p:blipFill>
          <a:blip r:embed="rId3"/>
          <a:srcRect l="0" r="0" t="0" b="0"/>
          <a:stretch/>
        </p:blipFill>
        <p:spPr>
          <a:xfrm>
            <a:off x="3556000" y="4584700"/>
            <a:ext cx="101600" cy="304800"/>
          </a:xfrm>
          <a:prstGeom prst="rect">
            <a:avLst/>
          </a:prstGeom>
        </p:spPr>
      </p:pic>
      <p:pic>
        <p:nvPicPr>
          <p:cNvPr id="19" name="Image 3" descr="connector">    </p:cNvPr>
          <p:cNvPicPr>
            <a:picLocks noChangeAspect="1"/>
          </p:cNvPicPr>
          <p:nvPr/>
        </p:nvPicPr>
        <p:blipFill>
          <a:blip r:embed="rId4"/>
          <a:srcRect l="0" r="0" t="0" b="0"/>
          <a:stretch/>
        </p:blipFill>
        <p:spPr>
          <a:xfrm>
            <a:off x="6350000" y="4178300"/>
            <a:ext cx="508000" cy="101600"/>
          </a:xfrm>
          <a:prstGeom prst="rect">
            <a:avLst/>
          </a:prstGeom>
        </p:spPr>
      </p:pic>
      <p:sp>
        <p:nvSpPr>
          <p:cNvPr id="20" name="Text 14"/>
          <p:cNvSpPr/>
          <p:nvPr/>
        </p:nvSpPr>
        <p:spPr>
          <a:xfrm>
            <a:off x="6810375" y="1806575"/>
            <a:ext cx="4565650" cy="1286470"/>
          </a:xfrm>
          <a:prstGeom prst="roundRect">
            <a:avLst>
              <a:gd name="adj" fmla="val 9625"/>
            </a:avLst>
          </a:prstGeom>
          <a:solidFill>
            <a:srgbClr val="F4F7FB"/>
          </a:solidFill>
          <a:ln w="6350">
            <a:solidFill>
              <a:srgbClr val="CBD5E1"/>
            </a:solidFill>
            <a:prstDash val="solid"/>
          </a:ln>
        </p:spPr>
        <p:txBody>
          <a:bodyPr wrap="square" lIns="144708" tIns="144708" rIns="18597" bIns="119308" rtlCol="0" anchor="t">
            <a:normAutofit/>
          </a:bodyPr>
          <a:lstStyle/>
          <a:p>
            <a:pPr algn="l" indent="0" marL="0">
              <a:lnSpc>
                <a:spcPts val="1820"/>
              </a:lnSpc>
              <a:buNone/>
            </a:pPr>
            <a:r>
              <a:rPr lang="en-US" sz="1300" dirty="0">
                <a:solidFill>
                  <a:srgbClr val="334155"/>
                </a:solidFill>
                <a:latin typeface="Arial" pitchFamily="34" charset="0"/>
                <a:ea typeface="Arial" pitchFamily="34" charset="-122"/>
                <a:cs typeface="Arial" pitchFamily="34" charset="-120"/>
              </a:rPr>
              <a:t>The user works in the browser frontend. The Express API processes each request and reads or writes MongoDB. At checkout, the payment gateway handles the payment, and only a verified success confirms the booking.</a:t>
            </a:r>
            <a:endParaRPr lang="en-US" sz="1300" dirty="0"/>
          </a:p>
        </p:txBody>
      </p:sp>
      <p:sp>
        <p:nvSpPr>
          <p:cNvPr id="21" name="Shape 15"/>
          <p:cNvSpPr/>
          <p:nvPr/>
        </p:nvSpPr>
        <p:spPr>
          <a:xfrm>
            <a:off x="6813550" y="3536950"/>
            <a:ext cx="4559300" cy="1384300"/>
          </a:xfrm>
          <a:prstGeom prst="roundRect">
            <a:avLst>
              <a:gd name="adj" fmla="val 8716"/>
            </a:avLst>
          </a:prstGeom>
          <a:solidFill>
            <a:srgbClr val="FFF7ED"/>
          </a:solidFill>
          <a:ln w="12700">
            <a:solidFill>
              <a:srgbClr val="C2410C"/>
            </a:solidFill>
            <a:prstDash val="solid"/>
          </a:ln>
        </p:spPr>
      </p:sp>
      <p:sp>
        <p:nvSpPr>
          <p:cNvPr id="22" name="Text 16"/>
          <p:cNvSpPr/>
          <p:nvPr/>
        </p:nvSpPr>
        <p:spPr>
          <a:xfrm>
            <a:off x="6997700" y="3804940"/>
            <a:ext cx="4316730" cy="25653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7C2D12"/>
                </a:solidFill>
                <a:latin typeface="Arial" pitchFamily="34" charset="0"/>
                <a:ea typeface="Arial" pitchFamily="34" charset="-122"/>
                <a:cs typeface="Arial" pitchFamily="34" charset="-120"/>
              </a:rPr>
              <a:t>EXTERNAL PAYMENT SERVICE</a:t>
            </a:r>
            <a:endParaRPr lang="en-US" sz="1300" dirty="0"/>
          </a:p>
        </p:txBody>
      </p:sp>
      <p:sp>
        <p:nvSpPr>
          <p:cNvPr id="23" name="Text 17"/>
          <p:cNvSpPr/>
          <p:nvPr/>
        </p:nvSpPr>
        <p:spPr>
          <a:xfrm>
            <a:off x="6997700" y="4086870"/>
            <a:ext cx="431673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UPI · Cards · Net Banking</a:t>
            </a:r>
            <a:endParaRPr lang="en-US" sz="1600" dirty="0"/>
          </a:p>
        </p:txBody>
      </p:sp>
      <p:sp>
        <p:nvSpPr>
          <p:cNvPr id="24" name="Text 18"/>
          <p:cNvSpPr/>
          <p:nvPr/>
        </p:nvSpPr>
        <p:spPr>
          <a:xfrm>
            <a:off x="6997700" y="4422130"/>
            <a:ext cx="43688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155"/>
                </a:solidFill>
                <a:latin typeface="Arial" pitchFamily="34" charset="0"/>
                <a:ea typeface="Arial" pitchFamily="34" charset="-122"/>
                <a:cs typeface="Arial" pitchFamily="34" charset="-120"/>
              </a:rPr>
              <a:t>The gateway returns a verified success or failure status.</a:t>
            </a:r>
            <a:endParaRPr lang="en-US" sz="1300" dirty="0"/>
          </a:p>
        </p:txBody>
      </p:sp>
      <p:sp>
        <p:nvSpPr>
          <p:cNvPr id="25"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a:t>
            </a:r>
            <a:endParaRPr lang="en-US" sz="1200" dirty="0"/>
          </a:p>
        </p:txBody>
      </p:sp>
      <p:sp>
        <p:nvSpPr>
          <p:cNvPr id="26"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5 / 20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SYSTEM FLOW</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From login to confirmed ticket</a:t>
            </a:r>
            <a:endParaRPr lang="en-US" sz="3200" dirty="0"/>
          </a:p>
        </p:txBody>
      </p:sp>
      <p:sp>
        <p:nvSpPr>
          <p:cNvPr id="4" name="Text 2"/>
          <p:cNvSpPr/>
          <p:nvPr/>
        </p:nvSpPr>
        <p:spPr>
          <a:xfrm>
            <a:off x="819150" y="1809750"/>
            <a:ext cx="1485900" cy="558800"/>
          </a:xfrm>
          <a:prstGeom prst="roundRect">
            <a:avLst>
              <a:gd name="adj" fmla="val 50000"/>
            </a:avLst>
          </a:prstGeom>
          <a:solidFill>
            <a:srgbClr val="0B2447"/>
          </a:solidFill>
          <a:ln w="12700">
            <a:solidFill>
              <a:srgbClr val="0B2447"/>
            </a:solidFill>
            <a:prstDash val="solid"/>
          </a:ln>
        </p:spPr>
        <p:txBody>
          <a:bodyPr wrap="square" lIns="0" tIns="0" rIns="0" bIns="0" rtlCol="0" anchor="ctr">
            <a:normAutofit/>
          </a:bodyPr>
          <a:lstStyle/>
          <a:p>
            <a:pPr algn="ctr" indent="0" marL="0">
              <a:lnSpc>
                <a:spcPts val="1560"/>
              </a:lnSpc>
              <a:buNone/>
            </a:pPr>
            <a:r>
              <a:rPr lang="en-US" sz="1300" b="1" dirty="0">
                <a:solidFill>
                  <a:srgbClr val="FFFFFF"/>
                </a:solidFill>
                <a:latin typeface="Arial" pitchFamily="34" charset="0"/>
                <a:ea typeface="Arial" pitchFamily="34" charset="-122"/>
                <a:cs typeface="Arial" pitchFamily="34" charset="-120"/>
              </a:rPr>
              <a:t>Start</a:t>
            </a:r>
            <a:endParaRPr lang="en-US" sz="1300" dirty="0"/>
          </a:p>
        </p:txBody>
      </p:sp>
      <p:sp>
        <p:nvSpPr>
          <p:cNvPr id="5" name="Text 3"/>
          <p:cNvSpPr/>
          <p:nvPr/>
        </p:nvSpPr>
        <p:spPr>
          <a:xfrm>
            <a:off x="2635250" y="1809750"/>
            <a:ext cx="1485900" cy="558800"/>
          </a:xfrm>
          <a:prstGeom prst="roundRect">
            <a:avLst>
              <a:gd name="adj" fmla="val 19318"/>
            </a:avLst>
          </a:prstGeom>
          <a:solidFill>
            <a:srgbClr val="DBEAFE"/>
          </a:solidFill>
          <a:ln w="12700">
            <a:solidFill>
              <a:srgbClr val="1D4ED8"/>
            </a:solidFill>
            <a:prstDash val="solid"/>
          </a:ln>
        </p:spPr>
        <p:txBody>
          <a:bodyPr wrap="square" lIns="38233" tIns="0" rIns="38233" bIns="0" rtlCol="0" anchor="ctr">
            <a:normAutofit/>
          </a:bodyPr>
          <a:lstStyle/>
          <a:p>
            <a:pPr algn="ctr" indent="0" marL="0">
              <a:lnSpc>
                <a:spcPts val="1560"/>
              </a:lnSpc>
              <a:buNone/>
            </a:pPr>
            <a:r>
              <a:rPr lang="en-US" sz="1300" b="1" dirty="0">
                <a:solidFill>
                  <a:srgbClr val="0B2447"/>
                </a:solidFill>
                <a:latin typeface="Arial" pitchFamily="34" charset="0"/>
                <a:ea typeface="Arial" pitchFamily="34" charset="-122"/>
                <a:cs typeface="Arial" pitchFamily="34" charset="-120"/>
              </a:rPr>
              <a:t>Register / Login</a:t>
            </a:r>
            <a:endParaRPr lang="en-US" sz="1300" dirty="0"/>
          </a:p>
        </p:txBody>
      </p:sp>
      <p:sp>
        <p:nvSpPr>
          <p:cNvPr id="6" name="Text 4"/>
          <p:cNvSpPr/>
          <p:nvPr/>
        </p:nvSpPr>
        <p:spPr>
          <a:xfrm>
            <a:off x="4445000" y="1809750"/>
            <a:ext cx="1485900" cy="558800"/>
          </a:xfrm>
          <a:prstGeom prst="roundRect">
            <a:avLst>
              <a:gd name="adj" fmla="val 19318"/>
            </a:avLst>
          </a:prstGeom>
          <a:solidFill>
            <a:srgbClr val="DBEAFE"/>
          </a:solidFill>
          <a:ln w="12700">
            <a:solidFill>
              <a:srgbClr val="1D4ED8"/>
            </a:solidFill>
            <a:prstDash val="solid"/>
          </a:ln>
        </p:spPr>
        <p:txBody>
          <a:bodyPr wrap="square" lIns="38233" tIns="0" rIns="38233" bIns="0" rtlCol="0" anchor="ctr">
            <a:normAutofit/>
          </a:bodyPr>
          <a:lstStyle/>
          <a:p>
            <a:pPr algn="ctr" indent="0" marL="0">
              <a:lnSpc>
                <a:spcPts val="1560"/>
              </a:lnSpc>
              <a:buNone/>
            </a:pPr>
            <a:r>
              <a:rPr lang="en-US" sz="1300" b="1" dirty="0">
                <a:solidFill>
                  <a:srgbClr val="0B2447"/>
                </a:solidFill>
                <a:latin typeface="Arial" pitchFamily="34" charset="0"/>
                <a:ea typeface="Arial" pitchFamily="34" charset="-122"/>
                <a:cs typeface="Arial" pitchFamily="34" charset="-120"/>
              </a:rPr>
              <a:t>Dashboard</a:t>
            </a:r>
            <a:endParaRPr lang="en-US" sz="1300" dirty="0"/>
          </a:p>
        </p:txBody>
      </p:sp>
      <p:sp>
        <p:nvSpPr>
          <p:cNvPr id="7" name="Text 5"/>
          <p:cNvSpPr/>
          <p:nvPr/>
        </p:nvSpPr>
        <p:spPr>
          <a:xfrm>
            <a:off x="6261100" y="1809750"/>
            <a:ext cx="1485900" cy="558800"/>
          </a:xfrm>
          <a:prstGeom prst="roundRect">
            <a:avLst>
              <a:gd name="adj" fmla="val 19318"/>
            </a:avLst>
          </a:prstGeom>
          <a:solidFill>
            <a:srgbClr val="DBEAFE"/>
          </a:solidFill>
          <a:ln w="12700">
            <a:solidFill>
              <a:srgbClr val="1D4ED8"/>
            </a:solidFill>
            <a:prstDash val="solid"/>
          </a:ln>
        </p:spPr>
        <p:txBody>
          <a:bodyPr wrap="square" lIns="38233" tIns="0" rIns="38233" bIns="0" rtlCol="0" anchor="ctr">
            <a:normAutofit/>
          </a:bodyPr>
          <a:lstStyle/>
          <a:p>
            <a:pPr algn="ctr" indent="0" marL="0">
              <a:lnSpc>
                <a:spcPts val="1560"/>
              </a:lnSpc>
              <a:buNone/>
            </a:pPr>
            <a:r>
              <a:rPr lang="en-US" sz="1300" b="1" dirty="0">
                <a:solidFill>
                  <a:srgbClr val="0B2447"/>
                </a:solidFill>
                <a:latin typeface="Arial" pitchFamily="34" charset="0"/>
                <a:ea typeface="Arial" pitchFamily="34" charset="-122"/>
                <a:cs typeface="Arial" pitchFamily="34" charset="-120"/>
              </a:rPr>
              <a:t>Search Bus</a:t>
            </a:r>
            <a:endParaRPr lang="en-US" sz="1300" dirty="0"/>
          </a:p>
        </p:txBody>
      </p:sp>
      <p:sp>
        <p:nvSpPr>
          <p:cNvPr id="8" name="Text 6"/>
          <p:cNvSpPr/>
          <p:nvPr/>
        </p:nvSpPr>
        <p:spPr>
          <a:xfrm>
            <a:off x="8070850" y="1809750"/>
            <a:ext cx="1485900" cy="558800"/>
          </a:xfrm>
          <a:prstGeom prst="roundRect">
            <a:avLst>
              <a:gd name="adj" fmla="val 19318"/>
            </a:avLst>
          </a:prstGeom>
          <a:solidFill>
            <a:srgbClr val="DBEAFE"/>
          </a:solidFill>
          <a:ln w="12700">
            <a:solidFill>
              <a:srgbClr val="1D4ED8"/>
            </a:solidFill>
            <a:prstDash val="solid"/>
          </a:ln>
        </p:spPr>
        <p:txBody>
          <a:bodyPr wrap="square" lIns="38233" tIns="0" rIns="38233" bIns="0" rtlCol="0" anchor="ctr">
            <a:normAutofit/>
          </a:bodyPr>
          <a:lstStyle/>
          <a:p>
            <a:pPr algn="ctr" indent="0" marL="0">
              <a:lnSpc>
                <a:spcPts val="1560"/>
              </a:lnSpc>
              <a:buNone/>
            </a:pPr>
            <a:r>
              <a:rPr lang="en-US" sz="1300" b="1" dirty="0">
                <a:solidFill>
                  <a:srgbClr val="0B2447"/>
                </a:solidFill>
                <a:latin typeface="Arial" pitchFamily="34" charset="0"/>
                <a:ea typeface="Arial" pitchFamily="34" charset="-122"/>
                <a:cs typeface="Arial" pitchFamily="34" charset="-120"/>
              </a:rPr>
              <a:t>Select Bus</a:t>
            </a:r>
            <a:endParaRPr lang="en-US" sz="1300" dirty="0"/>
          </a:p>
        </p:txBody>
      </p:sp>
      <p:sp>
        <p:nvSpPr>
          <p:cNvPr id="9" name="Text 7"/>
          <p:cNvSpPr/>
          <p:nvPr/>
        </p:nvSpPr>
        <p:spPr>
          <a:xfrm>
            <a:off x="9886950" y="1809750"/>
            <a:ext cx="1485900" cy="558800"/>
          </a:xfrm>
          <a:prstGeom prst="roundRect">
            <a:avLst>
              <a:gd name="adj" fmla="val 19318"/>
            </a:avLst>
          </a:prstGeom>
          <a:solidFill>
            <a:srgbClr val="DBEAFE"/>
          </a:solidFill>
          <a:ln w="12700">
            <a:solidFill>
              <a:srgbClr val="1D4ED8"/>
            </a:solidFill>
            <a:prstDash val="solid"/>
          </a:ln>
        </p:spPr>
        <p:txBody>
          <a:bodyPr wrap="square" lIns="38233" tIns="0" rIns="38233" bIns="0" rtlCol="0" anchor="ctr">
            <a:normAutofit/>
          </a:bodyPr>
          <a:lstStyle/>
          <a:p>
            <a:pPr algn="ctr" indent="0" marL="0">
              <a:lnSpc>
                <a:spcPts val="1560"/>
              </a:lnSpc>
              <a:buNone/>
            </a:pPr>
            <a:r>
              <a:rPr lang="en-US" sz="1300" b="1" dirty="0">
                <a:solidFill>
                  <a:srgbClr val="0B2447"/>
                </a:solidFill>
                <a:latin typeface="Arial" pitchFamily="34" charset="0"/>
                <a:ea typeface="Arial" pitchFamily="34" charset="-122"/>
                <a:cs typeface="Arial" pitchFamily="34" charset="-120"/>
              </a:rPr>
              <a:t>Select Seat</a:t>
            </a:r>
            <a:endParaRPr lang="en-US" sz="1300" dirty="0"/>
          </a:p>
        </p:txBody>
      </p:sp>
      <p:sp>
        <p:nvSpPr>
          <p:cNvPr id="10" name="Text 8"/>
          <p:cNvSpPr/>
          <p:nvPr/>
        </p:nvSpPr>
        <p:spPr>
          <a:xfrm>
            <a:off x="9886950" y="2927350"/>
            <a:ext cx="1485900" cy="558800"/>
          </a:xfrm>
          <a:custGeom>
            <a:avLst/>
            <a:gdLst/>
            <a:ahLst/>
            <a:cxnLst/>
            <a:rect l="l" t="t" r="r" b="b"/>
            <a:pathLst>
              <a:path w="1485900" h="558800">
                <a:moveTo>
                  <a:pt x="107950" y="0"/>
                </a:moveTo>
                <a:lnTo>
                  <a:pt x="1377950" y="0"/>
                </a:lnTo>
                <a:arcTo hR="107950" wR="107950" stAng="16200000" swAng="5400000"/>
                <a:lnTo>
                  <a:pt x="1485900" y="450850"/>
                </a:lnTo>
                <a:arcTo hR="107950" wR="107950" stAng="0" swAng="5400000"/>
                <a:lnTo>
                  <a:pt x="107950" y="558800"/>
                </a:lnTo>
                <a:arcTo hR="107950" wR="107950" stAng="5400000" swAng="5400000"/>
                <a:lnTo>
                  <a:pt x="0" y="107950"/>
                </a:lnTo>
                <a:arcTo hR="107950" wR="107950" stAng="10800000" swAng="5400000"/>
                <a:close/>
              </a:path>
            </a:pathLst>
          </a:custGeom>
          <a:solidFill>
            <a:srgbClr val="DBEAFE"/>
          </a:solidFill>
          <a:ln w="12700">
            <a:solidFill>
              <a:srgbClr val="1D4ED8"/>
            </a:solidFill>
            <a:prstDash val="solid"/>
          </a:ln>
        </p:spPr>
        <p:txBody>
          <a:bodyPr wrap="square" lIns="44450" tIns="6350" rIns="44450" bIns="6350" rtlCol="0" anchor="ctr">
            <a:normAutofit/>
          </a:bodyPr>
          <a:lstStyle/>
          <a:p>
            <a:pPr algn="ctr" indent="0" marL="0">
              <a:lnSpc>
                <a:spcPts val="1560"/>
              </a:lnSpc>
              <a:buNone/>
            </a:pPr>
            <a:r>
              <a:rPr lang="en-US" sz="1300" b="1" dirty="0">
                <a:solidFill>
                  <a:srgbClr val="0B2447"/>
                </a:solidFill>
                <a:latin typeface="Arial" pitchFamily="34" charset="0"/>
                <a:ea typeface="Arial" pitchFamily="34" charset="-122"/>
                <a:cs typeface="Arial" pitchFamily="34" charset="-120"/>
              </a:rPr>
              <a:t>Enter Passenger Details</a:t>
            </a:r>
            <a:endParaRPr lang="en-US" sz="1300" dirty="0"/>
          </a:p>
        </p:txBody>
      </p:sp>
      <p:sp>
        <p:nvSpPr>
          <p:cNvPr id="11" name="Text 9"/>
          <p:cNvSpPr/>
          <p:nvPr/>
        </p:nvSpPr>
        <p:spPr>
          <a:xfrm>
            <a:off x="8070850" y="2927350"/>
            <a:ext cx="1485900" cy="558800"/>
          </a:xfrm>
          <a:custGeom>
            <a:avLst/>
            <a:gdLst/>
            <a:ahLst/>
            <a:cxnLst/>
            <a:rect l="l" t="t" r="r" b="b"/>
            <a:pathLst>
              <a:path w="1485900" h="558800">
                <a:moveTo>
                  <a:pt x="107950" y="0"/>
                </a:moveTo>
                <a:lnTo>
                  <a:pt x="1377950" y="0"/>
                </a:lnTo>
                <a:arcTo hR="107950" wR="107950" stAng="16200000" swAng="5400000"/>
                <a:lnTo>
                  <a:pt x="1485900" y="450850"/>
                </a:lnTo>
                <a:arcTo hR="107950" wR="107950" stAng="0" swAng="5400000"/>
                <a:lnTo>
                  <a:pt x="107950" y="558800"/>
                </a:lnTo>
                <a:arcTo hR="107950" wR="107950" stAng="5400000" swAng="5400000"/>
                <a:lnTo>
                  <a:pt x="0" y="107950"/>
                </a:lnTo>
                <a:arcTo hR="107950" wR="107950" stAng="10800000" swAng="5400000"/>
                <a:close/>
              </a:path>
            </a:pathLst>
          </a:custGeom>
          <a:solidFill>
            <a:srgbClr val="DBEAFE"/>
          </a:solidFill>
          <a:ln w="12700">
            <a:solidFill>
              <a:srgbClr val="1D4ED8"/>
            </a:solidFill>
            <a:prstDash val="solid"/>
          </a:ln>
        </p:spPr>
        <p:txBody>
          <a:bodyPr wrap="square" lIns="44450" tIns="6350" rIns="44450" bIns="6350" rtlCol="0" anchor="ctr">
            <a:normAutofit/>
          </a:bodyPr>
          <a:lstStyle/>
          <a:p>
            <a:pPr algn="ctr" indent="0" marL="0">
              <a:lnSpc>
                <a:spcPts val="1560"/>
              </a:lnSpc>
              <a:buNone/>
            </a:pPr>
            <a:r>
              <a:rPr lang="en-US" sz="1300" b="1" dirty="0">
                <a:solidFill>
                  <a:srgbClr val="0B2447"/>
                </a:solidFill>
                <a:latin typeface="Arial" pitchFamily="34" charset="0"/>
                <a:ea typeface="Arial" pitchFamily="34" charset="-122"/>
                <a:cs typeface="Arial" pitchFamily="34" charset="-120"/>
              </a:rPr>
              <a:t>Proceed to Payment</a:t>
            </a:r>
            <a:endParaRPr lang="en-US" sz="1300" dirty="0"/>
          </a:p>
        </p:txBody>
      </p:sp>
      <p:sp>
        <p:nvSpPr>
          <p:cNvPr id="12" name="Text 10"/>
          <p:cNvSpPr/>
          <p:nvPr/>
        </p:nvSpPr>
        <p:spPr>
          <a:xfrm>
            <a:off x="6261100" y="2927350"/>
            <a:ext cx="1485900" cy="558800"/>
          </a:xfrm>
          <a:custGeom>
            <a:avLst/>
            <a:gdLst/>
            <a:ahLst/>
            <a:cxnLst/>
            <a:rect l="l" t="t" r="r" b="b"/>
            <a:pathLst>
              <a:path w="1485900" h="558800">
                <a:moveTo>
                  <a:pt x="107950" y="0"/>
                </a:moveTo>
                <a:lnTo>
                  <a:pt x="1377950" y="0"/>
                </a:lnTo>
                <a:arcTo hR="107950" wR="107950" stAng="16200000" swAng="5400000"/>
                <a:lnTo>
                  <a:pt x="1485900" y="450850"/>
                </a:lnTo>
                <a:arcTo hR="107950" wR="107950" stAng="0" swAng="5400000"/>
                <a:lnTo>
                  <a:pt x="107950" y="558800"/>
                </a:lnTo>
                <a:arcTo hR="107950" wR="107950" stAng="5400000" swAng="5400000"/>
                <a:lnTo>
                  <a:pt x="0" y="107950"/>
                </a:lnTo>
                <a:arcTo hR="107950" wR="107950" stAng="10800000" swAng="5400000"/>
                <a:close/>
              </a:path>
            </a:pathLst>
          </a:custGeom>
          <a:solidFill>
            <a:srgbClr val="DBEAFE"/>
          </a:solidFill>
          <a:ln w="12700">
            <a:solidFill>
              <a:srgbClr val="1D4ED8"/>
            </a:solidFill>
            <a:prstDash val="solid"/>
          </a:ln>
        </p:spPr>
        <p:txBody>
          <a:bodyPr wrap="square" lIns="44450" tIns="6350" rIns="44450" bIns="6350" rtlCol="0" anchor="ctr">
            <a:normAutofit/>
          </a:bodyPr>
          <a:lstStyle/>
          <a:p>
            <a:pPr algn="ctr" indent="0" marL="0">
              <a:lnSpc>
                <a:spcPts val="1560"/>
              </a:lnSpc>
              <a:buNone/>
            </a:pPr>
            <a:r>
              <a:rPr lang="en-US" sz="1300" b="1" dirty="0">
                <a:solidFill>
                  <a:srgbClr val="0B2447"/>
                </a:solidFill>
                <a:latin typeface="Arial" pitchFamily="34" charset="0"/>
                <a:ea typeface="Arial" pitchFamily="34" charset="-122"/>
                <a:cs typeface="Arial" pitchFamily="34" charset="-120"/>
              </a:rPr>
              <a:t>Select Payment Method</a:t>
            </a:r>
            <a:endParaRPr lang="en-US" sz="1300" dirty="0"/>
          </a:p>
        </p:txBody>
      </p:sp>
      <p:pic>
        <p:nvPicPr>
          <p:cNvPr id="13" name="Image 0" descr="diamond">    </p:cNvPr>
          <p:cNvPicPr>
            <a:picLocks noChangeAspect="1"/>
          </p:cNvPicPr>
          <p:nvPr/>
        </p:nvPicPr>
        <p:blipFill>
          <a:blip r:embed="rId1"/>
          <a:srcRect l="0" r="0" t="0" b="0"/>
          <a:stretch/>
        </p:blipFill>
        <p:spPr>
          <a:xfrm>
            <a:off x="4330700" y="2730500"/>
            <a:ext cx="1714500" cy="952500"/>
          </a:xfrm>
          <a:prstGeom prst="rect">
            <a:avLst/>
          </a:prstGeom>
        </p:spPr>
      </p:pic>
      <p:sp>
        <p:nvSpPr>
          <p:cNvPr id="14" name="Text 11"/>
          <p:cNvSpPr/>
          <p:nvPr/>
        </p:nvSpPr>
        <p:spPr>
          <a:xfrm>
            <a:off x="4654550" y="3016250"/>
            <a:ext cx="1066800" cy="405110"/>
          </a:xfrm>
          <a:prstGeom prst="rect">
            <a:avLst/>
          </a:prstGeom>
          <a:noFill/>
          <a:ln/>
        </p:spPr>
        <p:txBody>
          <a:bodyPr wrap="square" lIns="0" tIns="0" rIns="0" bIns="0" rtlCol="0" anchor="t">
            <a:normAutofit/>
          </a:bodyPr>
          <a:lstStyle/>
          <a:p>
            <a:pPr algn="ctr" indent="0" marL="0">
              <a:lnSpc>
                <a:spcPts val="1495"/>
              </a:lnSpc>
              <a:buNone/>
            </a:pPr>
            <a:r>
              <a:rPr lang="en-US" sz="1300" b="1" dirty="0">
                <a:solidFill>
                  <a:srgbClr val="0B2447"/>
                </a:solidFill>
                <a:latin typeface="Arial" pitchFamily="34" charset="0"/>
                <a:ea typeface="Arial" pitchFamily="34" charset="-122"/>
                <a:cs typeface="Arial" pitchFamily="34" charset="-120"/>
              </a:rPr>
              <a:t>Payment Status?</a:t>
            </a:r>
            <a:endParaRPr lang="en-US" sz="1300" dirty="0"/>
          </a:p>
        </p:txBody>
      </p:sp>
      <p:sp>
        <p:nvSpPr>
          <p:cNvPr id="15" name="Text 12"/>
          <p:cNvSpPr/>
          <p:nvPr/>
        </p:nvSpPr>
        <p:spPr>
          <a:xfrm>
            <a:off x="2635250" y="4451350"/>
            <a:ext cx="1485900" cy="558800"/>
          </a:xfrm>
          <a:prstGeom prst="roundRect">
            <a:avLst>
              <a:gd name="adj" fmla="val 19318"/>
            </a:avLst>
          </a:prstGeom>
          <a:solidFill>
            <a:srgbClr val="CCFBF1"/>
          </a:solidFill>
          <a:ln w="12700">
            <a:solidFill>
              <a:srgbClr val="0F766E"/>
            </a:solidFill>
            <a:prstDash val="solid"/>
          </a:ln>
        </p:spPr>
        <p:txBody>
          <a:bodyPr wrap="none" lIns="0" tIns="0" rIns="0" bIns="0" rtlCol="0" anchor="ctr">
            <a:normAutofit/>
          </a:bodyPr>
          <a:lstStyle/>
          <a:p>
            <a:pPr algn="ctr" indent="0" marL="0">
              <a:lnSpc>
                <a:spcPts val="1560"/>
              </a:lnSpc>
              <a:buNone/>
            </a:pPr>
            <a:r>
              <a:rPr lang="en-US" sz="1300" b="1" dirty="0">
                <a:solidFill>
                  <a:srgbClr val="134E4A"/>
                </a:solidFill>
                <a:latin typeface="Arial" pitchFamily="34" charset="0"/>
                <a:ea typeface="Arial" pitchFamily="34" charset="-122"/>
                <a:cs typeface="Arial" pitchFamily="34" charset="-120"/>
              </a:rPr>
              <a:t>Confirm Booking</a:t>
            </a:r>
            <a:endParaRPr lang="en-US" sz="1300" dirty="0"/>
          </a:p>
        </p:txBody>
      </p:sp>
      <p:sp>
        <p:nvSpPr>
          <p:cNvPr id="16" name="Text 13"/>
          <p:cNvSpPr/>
          <p:nvPr/>
        </p:nvSpPr>
        <p:spPr>
          <a:xfrm>
            <a:off x="819150" y="4451350"/>
            <a:ext cx="1485900" cy="558800"/>
          </a:xfrm>
          <a:custGeom>
            <a:avLst/>
            <a:gdLst/>
            <a:ahLst/>
            <a:cxnLst/>
            <a:rect l="l" t="t" r="r" b="b"/>
            <a:pathLst>
              <a:path w="1485900" h="558800">
                <a:moveTo>
                  <a:pt x="107950" y="0"/>
                </a:moveTo>
                <a:lnTo>
                  <a:pt x="1377950" y="0"/>
                </a:lnTo>
                <a:arcTo hR="107950" wR="107950" stAng="16200000" swAng="5400000"/>
                <a:lnTo>
                  <a:pt x="1485900" y="450850"/>
                </a:lnTo>
                <a:arcTo hR="107950" wR="107950" stAng="0" swAng="5400000"/>
                <a:lnTo>
                  <a:pt x="107950" y="558800"/>
                </a:lnTo>
                <a:arcTo hR="107950" wR="107950" stAng="5400000" swAng="5400000"/>
                <a:lnTo>
                  <a:pt x="0" y="107950"/>
                </a:lnTo>
                <a:arcTo hR="107950" wR="107950" stAng="10800000" swAng="5400000"/>
                <a:close/>
              </a:path>
            </a:pathLst>
          </a:custGeom>
          <a:solidFill>
            <a:srgbClr val="CCFBF1"/>
          </a:solidFill>
          <a:ln w="12700">
            <a:solidFill>
              <a:srgbClr val="0F766E"/>
            </a:solidFill>
            <a:prstDash val="solid"/>
          </a:ln>
        </p:spPr>
        <p:txBody>
          <a:bodyPr wrap="square" lIns="44450" tIns="6350" rIns="44450" bIns="6350" rtlCol="0" anchor="ctr">
            <a:normAutofit/>
          </a:bodyPr>
          <a:lstStyle/>
          <a:p>
            <a:pPr algn="ctr" indent="0" marL="0">
              <a:lnSpc>
                <a:spcPts val="1560"/>
              </a:lnSpc>
              <a:buNone/>
            </a:pPr>
            <a:r>
              <a:rPr lang="en-US" sz="1300" b="1" dirty="0">
                <a:solidFill>
                  <a:srgbClr val="134E4A"/>
                </a:solidFill>
                <a:latin typeface="Arial" pitchFamily="34" charset="0"/>
                <a:ea typeface="Arial" pitchFamily="34" charset="-122"/>
                <a:cs typeface="Arial" pitchFamily="34" charset="-120"/>
              </a:rPr>
              <a:t>Generate &amp; Download Ticket</a:t>
            </a:r>
            <a:endParaRPr lang="en-US" sz="1300" dirty="0"/>
          </a:p>
        </p:txBody>
      </p:sp>
      <p:sp>
        <p:nvSpPr>
          <p:cNvPr id="17" name="Text 14"/>
          <p:cNvSpPr/>
          <p:nvPr/>
        </p:nvSpPr>
        <p:spPr>
          <a:xfrm>
            <a:off x="4445000" y="4451350"/>
            <a:ext cx="1485900" cy="558800"/>
          </a:xfrm>
          <a:custGeom>
            <a:avLst/>
            <a:gdLst/>
            <a:ahLst/>
            <a:cxnLst/>
            <a:rect l="l" t="t" r="r" b="b"/>
            <a:pathLst>
              <a:path w="1485900" h="558800">
                <a:moveTo>
                  <a:pt x="107950" y="0"/>
                </a:moveTo>
                <a:lnTo>
                  <a:pt x="1377950" y="0"/>
                </a:lnTo>
                <a:arcTo hR="107950" wR="107950" stAng="16200000" swAng="5400000"/>
                <a:lnTo>
                  <a:pt x="1485900" y="450850"/>
                </a:lnTo>
                <a:arcTo hR="107950" wR="107950" stAng="0" swAng="5400000"/>
                <a:lnTo>
                  <a:pt x="107950" y="558800"/>
                </a:lnTo>
                <a:arcTo hR="107950" wR="107950" stAng="5400000" swAng="5400000"/>
                <a:lnTo>
                  <a:pt x="0" y="107950"/>
                </a:lnTo>
                <a:arcTo hR="107950" wR="107950" stAng="10800000" swAng="5400000"/>
                <a:close/>
              </a:path>
            </a:pathLst>
          </a:custGeom>
          <a:solidFill>
            <a:srgbClr val="FFEDD5"/>
          </a:solidFill>
          <a:ln w="12700">
            <a:solidFill>
              <a:srgbClr val="C2410C"/>
            </a:solidFill>
            <a:prstDash val="solid"/>
          </a:ln>
        </p:spPr>
        <p:txBody>
          <a:bodyPr wrap="square" lIns="44450" tIns="6350" rIns="44450" bIns="6350" rtlCol="0" anchor="ctr">
            <a:normAutofit/>
          </a:bodyPr>
          <a:lstStyle/>
          <a:p>
            <a:pPr algn="ctr" indent="0" marL="0">
              <a:lnSpc>
                <a:spcPts val="1560"/>
              </a:lnSpc>
              <a:buNone/>
            </a:pPr>
            <a:r>
              <a:rPr lang="en-US" sz="1300" b="1" dirty="0">
                <a:solidFill>
                  <a:srgbClr val="7C2D12"/>
                </a:solidFill>
                <a:latin typeface="Arial" pitchFamily="34" charset="0"/>
                <a:ea typeface="Arial" pitchFamily="34" charset="-122"/>
                <a:cs typeface="Arial" pitchFamily="34" charset="-120"/>
              </a:rPr>
              <a:t>Show Failure Message</a:t>
            </a:r>
            <a:endParaRPr lang="en-US" sz="1300" dirty="0"/>
          </a:p>
        </p:txBody>
      </p:sp>
      <p:sp>
        <p:nvSpPr>
          <p:cNvPr id="18" name="Text 15"/>
          <p:cNvSpPr/>
          <p:nvPr/>
        </p:nvSpPr>
        <p:spPr>
          <a:xfrm>
            <a:off x="6261100" y="4451350"/>
            <a:ext cx="1485900" cy="558800"/>
          </a:xfrm>
          <a:prstGeom prst="roundRect">
            <a:avLst>
              <a:gd name="adj" fmla="val 19318"/>
            </a:avLst>
          </a:prstGeom>
          <a:solidFill>
            <a:srgbClr val="FFEDD5"/>
          </a:solidFill>
          <a:ln w="12700">
            <a:solidFill>
              <a:srgbClr val="C2410C"/>
            </a:solidFill>
            <a:prstDash val="solid"/>
          </a:ln>
        </p:spPr>
        <p:txBody>
          <a:bodyPr wrap="square" lIns="38233" tIns="0" rIns="38233" bIns="0" rtlCol="0" anchor="ctr">
            <a:normAutofit/>
          </a:bodyPr>
          <a:lstStyle/>
          <a:p>
            <a:pPr algn="ctr" indent="0" marL="0">
              <a:lnSpc>
                <a:spcPts val="1560"/>
              </a:lnSpc>
              <a:buNone/>
            </a:pPr>
            <a:r>
              <a:rPr lang="en-US" sz="1300" b="1" dirty="0">
                <a:solidFill>
                  <a:srgbClr val="7C2D12"/>
                </a:solidFill>
                <a:latin typeface="Arial" pitchFamily="34" charset="0"/>
                <a:ea typeface="Arial" pitchFamily="34" charset="-122"/>
                <a:cs typeface="Arial" pitchFamily="34" charset="-120"/>
              </a:rPr>
              <a:t>Retry Payment</a:t>
            </a:r>
            <a:endParaRPr lang="en-US" sz="1300" dirty="0"/>
          </a:p>
        </p:txBody>
      </p:sp>
      <p:pic>
        <p:nvPicPr>
          <p:cNvPr id="19" name="Image 1" descr="connector">    </p:cNvPr>
          <p:cNvPicPr>
            <a:picLocks noChangeAspect="1"/>
          </p:cNvPicPr>
          <p:nvPr/>
        </p:nvPicPr>
        <p:blipFill>
          <a:blip r:embed="rId2"/>
          <a:srcRect l="0" r="0" t="0" b="0"/>
          <a:stretch/>
        </p:blipFill>
        <p:spPr>
          <a:xfrm>
            <a:off x="2286000" y="2038350"/>
            <a:ext cx="368300" cy="101600"/>
          </a:xfrm>
          <a:prstGeom prst="rect">
            <a:avLst/>
          </a:prstGeom>
        </p:spPr>
      </p:pic>
      <p:pic>
        <p:nvPicPr>
          <p:cNvPr id="20" name="Image 2" descr="connector">    </p:cNvPr>
          <p:cNvPicPr>
            <a:picLocks noChangeAspect="1"/>
          </p:cNvPicPr>
          <p:nvPr/>
        </p:nvPicPr>
        <p:blipFill>
          <a:blip r:embed="rId3"/>
          <a:srcRect l="0" r="0" t="0" b="0"/>
          <a:stretch/>
        </p:blipFill>
        <p:spPr>
          <a:xfrm>
            <a:off x="4102100" y="2038350"/>
            <a:ext cx="361950" cy="101600"/>
          </a:xfrm>
          <a:prstGeom prst="rect">
            <a:avLst/>
          </a:prstGeom>
        </p:spPr>
      </p:pic>
      <p:pic>
        <p:nvPicPr>
          <p:cNvPr id="21" name="Image 3" descr="connector">    </p:cNvPr>
          <p:cNvPicPr>
            <a:picLocks noChangeAspect="1"/>
          </p:cNvPicPr>
          <p:nvPr/>
        </p:nvPicPr>
        <p:blipFill>
          <a:blip r:embed="rId4"/>
          <a:srcRect l="0" r="0" t="0" b="0"/>
          <a:stretch/>
        </p:blipFill>
        <p:spPr>
          <a:xfrm>
            <a:off x="5911850" y="2038350"/>
            <a:ext cx="368300" cy="101600"/>
          </a:xfrm>
          <a:prstGeom prst="rect">
            <a:avLst/>
          </a:prstGeom>
        </p:spPr>
      </p:pic>
      <p:pic>
        <p:nvPicPr>
          <p:cNvPr id="22" name="Image 4" descr="connector">    </p:cNvPr>
          <p:cNvPicPr>
            <a:picLocks noChangeAspect="1"/>
          </p:cNvPicPr>
          <p:nvPr/>
        </p:nvPicPr>
        <p:blipFill>
          <a:blip r:embed="rId5"/>
          <a:srcRect l="0" r="0" t="0" b="0"/>
          <a:stretch/>
        </p:blipFill>
        <p:spPr>
          <a:xfrm>
            <a:off x="7727950" y="2038350"/>
            <a:ext cx="361950" cy="101600"/>
          </a:xfrm>
          <a:prstGeom prst="rect">
            <a:avLst/>
          </a:prstGeom>
        </p:spPr>
      </p:pic>
      <p:pic>
        <p:nvPicPr>
          <p:cNvPr id="23" name="Image 5" descr="connector">    </p:cNvPr>
          <p:cNvPicPr>
            <a:picLocks noChangeAspect="1"/>
          </p:cNvPicPr>
          <p:nvPr/>
        </p:nvPicPr>
        <p:blipFill>
          <a:blip r:embed="rId6"/>
          <a:srcRect l="0" r="0" t="0" b="0"/>
          <a:stretch/>
        </p:blipFill>
        <p:spPr>
          <a:xfrm>
            <a:off x="9537700" y="2038350"/>
            <a:ext cx="368300" cy="101600"/>
          </a:xfrm>
          <a:prstGeom prst="rect">
            <a:avLst/>
          </a:prstGeom>
        </p:spPr>
      </p:pic>
      <p:pic>
        <p:nvPicPr>
          <p:cNvPr id="24" name="Image 6" descr="connector">    </p:cNvPr>
          <p:cNvPicPr>
            <a:picLocks noChangeAspect="1"/>
          </p:cNvPicPr>
          <p:nvPr/>
        </p:nvPicPr>
        <p:blipFill>
          <a:blip r:embed="rId7"/>
          <a:srcRect l="0" r="0" t="0" b="0"/>
          <a:stretch/>
        </p:blipFill>
        <p:spPr>
          <a:xfrm>
            <a:off x="10579100" y="2349500"/>
            <a:ext cx="101600" cy="596900"/>
          </a:xfrm>
          <a:prstGeom prst="rect">
            <a:avLst/>
          </a:prstGeom>
        </p:spPr>
      </p:pic>
      <p:pic>
        <p:nvPicPr>
          <p:cNvPr id="25" name="Image 7" descr="connector">    </p:cNvPr>
          <p:cNvPicPr>
            <a:picLocks noChangeAspect="1"/>
          </p:cNvPicPr>
          <p:nvPr/>
        </p:nvPicPr>
        <p:blipFill>
          <a:blip r:embed="rId8"/>
          <a:srcRect l="0" r="0" t="0" b="0"/>
          <a:stretch/>
        </p:blipFill>
        <p:spPr>
          <a:xfrm>
            <a:off x="9537700" y="3155950"/>
            <a:ext cx="368300" cy="101600"/>
          </a:xfrm>
          <a:prstGeom prst="rect">
            <a:avLst/>
          </a:prstGeom>
        </p:spPr>
      </p:pic>
      <p:pic>
        <p:nvPicPr>
          <p:cNvPr id="26" name="Image 8" descr="connector">    </p:cNvPr>
          <p:cNvPicPr>
            <a:picLocks noChangeAspect="1"/>
          </p:cNvPicPr>
          <p:nvPr/>
        </p:nvPicPr>
        <p:blipFill>
          <a:blip r:embed="rId9"/>
          <a:srcRect l="0" r="0" t="0" b="0"/>
          <a:stretch/>
        </p:blipFill>
        <p:spPr>
          <a:xfrm>
            <a:off x="7727950" y="3155950"/>
            <a:ext cx="361950" cy="101600"/>
          </a:xfrm>
          <a:prstGeom prst="rect">
            <a:avLst/>
          </a:prstGeom>
        </p:spPr>
      </p:pic>
      <p:pic>
        <p:nvPicPr>
          <p:cNvPr id="27" name="Image 9" descr="connector">    </p:cNvPr>
          <p:cNvPicPr>
            <a:picLocks noChangeAspect="1"/>
          </p:cNvPicPr>
          <p:nvPr/>
        </p:nvPicPr>
        <p:blipFill>
          <a:blip r:embed="rId10"/>
          <a:srcRect l="0" r="0" t="0" b="0"/>
          <a:stretch/>
        </p:blipFill>
        <p:spPr>
          <a:xfrm>
            <a:off x="6019800" y="3155950"/>
            <a:ext cx="260350" cy="101600"/>
          </a:xfrm>
          <a:prstGeom prst="rect">
            <a:avLst/>
          </a:prstGeom>
        </p:spPr>
      </p:pic>
      <p:pic>
        <p:nvPicPr>
          <p:cNvPr id="28" name="Image 10" descr="connector">    </p:cNvPr>
          <p:cNvPicPr>
            <a:picLocks noChangeAspect="1"/>
          </p:cNvPicPr>
          <p:nvPr/>
        </p:nvPicPr>
        <p:blipFill>
          <a:blip r:embed="rId11"/>
          <a:srcRect l="0" r="0" t="0" b="0"/>
          <a:stretch/>
        </p:blipFill>
        <p:spPr>
          <a:xfrm>
            <a:off x="3327400" y="3155950"/>
            <a:ext cx="1054100" cy="1314450"/>
          </a:xfrm>
          <a:prstGeom prst="rect">
            <a:avLst/>
          </a:prstGeom>
        </p:spPr>
      </p:pic>
      <p:pic>
        <p:nvPicPr>
          <p:cNvPr id="29" name="Image 11" descr="connector">    </p:cNvPr>
          <p:cNvPicPr>
            <a:picLocks noChangeAspect="1"/>
          </p:cNvPicPr>
          <p:nvPr/>
        </p:nvPicPr>
        <p:blipFill>
          <a:blip r:embed="rId12"/>
          <a:srcRect l="0" r="0" t="0" b="0"/>
          <a:stretch/>
        </p:blipFill>
        <p:spPr>
          <a:xfrm>
            <a:off x="5137150" y="3644900"/>
            <a:ext cx="101600" cy="825500"/>
          </a:xfrm>
          <a:prstGeom prst="rect">
            <a:avLst/>
          </a:prstGeom>
        </p:spPr>
      </p:pic>
      <p:pic>
        <p:nvPicPr>
          <p:cNvPr id="30" name="Image 12" descr="connector">    </p:cNvPr>
          <p:cNvPicPr>
            <a:picLocks noChangeAspect="1"/>
          </p:cNvPicPr>
          <p:nvPr/>
        </p:nvPicPr>
        <p:blipFill>
          <a:blip r:embed="rId13"/>
          <a:srcRect l="0" r="0" t="0" b="0"/>
          <a:stretch/>
        </p:blipFill>
        <p:spPr>
          <a:xfrm>
            <a:off x="2286000" y="4679950"/>
            <a:ext cx="368300" cy="101600"/>
          </a:xfrm>
          <a:prstGeom prst="rect">
            <a:avLst/>
          </a:prstGeom>
        </p:spPr>
      </p:pic>
      <p:pic>
        <p:nvPicPr>
          <p:cNvPr id="31" name="Image 13" descr="connector">    </p:cNvPr>
          <p:cNvPicPr>
            <a:picLocks noChangeAspect="1"/>
          </p:cNvPicPr>
          <p:nvPr/>
        </p:nvPicPr>
        <p:blipFill>
          <a:blip r:embed="rId14"/>
          <a:srcRect l="0" r="0" t="0" b="0"/>
          <a:stretch/>
        </p:blipFill>
        <p:spPr>
          <a:xfrm>
            <a:off x="5911850" y="4679950"/>
            <a:ext cx="368300" cy="101600"/>
          </a:xfrm>
          <a:prstGeom prst="rect">
            <a:avLst/>
          </a:prstGeom>
        </p:spPr>
      </p:pic>
      <p:pic>
        <p:nvPicPr>
          <p:cNvPr id="32" name="Image 14" descr="connector">    </p:cNvPr>
          <p:cNvPicPr>
            <a:picLocks noChangeAspect="1"/>
          </p:cNvPicPr>
          <p:nvPr/>
        </p:nvPicPr>
        <p:blipFill>
          <a:blip r:embed="rId15"/>
          <a:srcRect l="0" r="0" t="0" b="0"/>
          <a:stretch/>
        </p:blipFill>
        <p:spPr>
          <a:xfrm>
            <a:off x="6953250" y="3467100"/>
            <a:ext cx="101600" cy="1003300"/>
          </a:xfrm>
          <a:prstGeom prst="rect">
            <a:avLst/>
          </a:prstGeom>
        </p:spPr>
      </p:pic>
      <p:sp>
        <p:nvSpPr>
          <p:cNvPr id="33" name="Text 16"/>
          <p:cNvSpPr/>
          <p:nvPr/>
        </p:nvSpPr>
        <p:spPr>
          <a:xfrm>
            <a:off x="3400425" y="2860675"/>
            <a:ext cx="1014264" cy="295870"/>
          </a:xfrm>
          <a:prstGeom prst="roundRect">
            <a:avLst>
              <a:gd name="adj" fmla="val 50000"/>
            </a:avLst>
          </a:prstGeom>
          <a:solidFill>
            <a:srgbClr val="CCFBF1"/>
          </a:solidFill>
          <a:ln w="6350">
            <a:solidFill>
              <a:srgbClr val="0F766E"/>
            </a:solidFill>
            <a:prstDash val="solid"/>
          </a:ln>
        </p:spPr>
        <p:txBody>
          <a:bodyPr wrap="none" lIns="0" tIns="0" rIns="0" bIns="0" rtlCol="0" anchor="ctr">
            <a:normAutofit/>
          </a:bodyPr>
          <a:lstStyle/>
          <a:p>
            <a:pPr algn="ctr" indent="0" marL="0">
              <a:lnSpc>
                <a:spcPts val="1680"/>
              </a:lnSpc>
              <a:buNone/>
            </a:pPr>
            <a:r>
              <a:rPr lang="en-US" sz="1200" b="1" dirty="0">
                <a:solidFill>
                  <a:srgbClr val="134E4A"/>
                </a:solidFill>
                <a:latin typeface="Arial" pitchFamily="34" charset="0"/>
                <a:ea typeface="Arial" pitchFamily="34" charset="-122"/>
                <a:cs typeface="Arial" pitchFamily="34" charset="-120"/>
              </a:rPr>
              <a:t>Successful</a:t>
            </a:r>
            <a:endParaRPr lang="en-US" sz="1200" dirty="0"/>
          </a:p>
        </p:txBody>
      </p:sp>
      <p:sp>
        <p:nvSpPr>
          <p:cNvPr id="34" name="Text 17"/>
          <p:cNvSpPr/>
          <p:nvPr/>
        </p:nvSpPr>
        <p:spPr>
          <a:xfrm>
            <a:off x="5337175" y="3965575"/>
            <a:ext cx="649932" cy="295870"/>
          </a:xfrm>
          <a:prstGeom prst="roundRect">
            <a:avLst>
              <a:gd name="adj" fmla="val 50000"/>
            </a:avLst>
          </a:prstGeom>
          <a:solidFill>
            <a:srgbClr val="FFEDD5"/>
          </a:solidFill>
          <a:ln w="6350">
            <a:solidFill>
              <a:srgbClr val="C2410C"/>
            </a:solidFill>
            <a:prstDash val="solid"/>
          </a:ln>
        </p:spPr>
        <p:txBody>
          <a:bodyPr wrap="none" lIns="0" tIns="0" rIns="0" bIns="0" rtlCol="0" anchor="ctr">
            <a:normAutofit/>
          </a:bodyPr>
          <a:lstStyle/>
          <a:p>
            <a:pPr algn="ctr" indent="0" marL="0">
              <a:lnSpc>
                <a:spcPts val="1680"/>
              </a:lnSpc>
              <a:buNone/>
            </a:pPr>
            <a:r>
              <a:rPr lang="en-US" sz="1200" b="1" dirty="0">
                <a:solidFill>
                  <a:srgbClr val="7C2D12"/>
                </a:solidFill>
                <a:latin typeface="Arial" pitchFamily="34" charset="0"/>
                <a:ea typeface="Arial" pitchFamily="34" charset="-122"/>
                <a:cs typeface="Arial" pitchFamily="34" charset="-120"/>
              </a:rPr>
              <a:t>Failed</a:t>
            </a:r>
            <a:endParaRPr lang="en-US" sz="1200" dirty="0"/>
          </a:p>
        </p:txBody>
      </p:sp>
      <p:sp>
        <p:nvSpPr>
          <p:cNvPr id="35" name="Text 18"/>
          <p:cNvSpPr/>
          <p:nvPr/>
        </p:nvSpPr>
        <p:spPr>
          <a:xfrm>
            <a:off x="819150" y="5162550"/>
            <a:ext cx="10553700" cy="678160"/>
          </a:xfrm>
          <a:prstGeom prst="roundRect">
            <a:avLst>
              <a:gd name="adj" fmla="val 14045"/>
            </a:avLst>
          </a:prstGeom>
          <a:solidFill>
            <a:srgbClr val="EFF6FF"/>
          </a:solidFill>
          <a:ln w="12700">
            <a:solidFill>
              <a:srgbClr val="93C5FD"/>
            </a:solidFill>
            <a:prstDash val="solid"/>
          </a:ln>
        </p:spPr>
        <p:txBody>
          <a:bodyPr wrap="square" lIns="156252" tIns="80052" rIns="0" bIns="54652" rtlCol="0" anchor="t">
            <a:normAutofit/>
          </a:bodyPr>
          <a:lstStyle/>
          <a:p>
            <a:pPr algn="l" indent="0" marL="0">
              <a:lnSpc>
                <a:spcPts val="1820"/>
              </a:lnSpc>
              <a:buNone/>
            </a:pPr>
            <a:r>
              <a:rPr lang="en-US" sz="1300" b="1" dirty="0">
                <a:solidFill>
                  <a:srgbClr val="1E293B"/>
                </a:solidFill>
                <a:latin typeface="Arial" pitchFamily="34" charset="0"/>
                <a:ea typeface="Arial" pitchFamily="34" charset="-122"/>
                <a:cs typeface="Arial" pitchFamily="34" charset="-120"/>
              </a:rPr>
              <a:t>Important:</a:t>
            </a:r>
            <a:r>
              <a:rPr lang="en-US" sz="1300" dirty="0">
                <a:solidFill>
                  <a:srgbClr val="1E293B"/>
                </a:solidFill>
                <a:latin typeface="Arial" pitchFamily="34" charset="0"/>
                <a:ea typeface="Arial" pitchFamily="34" charset="-122"/>
                <a:cs typeface="Arial" pitchFamily="34" charset="-120"/>
              </a:rPr>
              <a:t> A failed or pending payment must not produce a confirmed ticket. The system verifies the payment result with the gateway before confirming the booking.</a:t>
            </a:r>
            <a:endParaRPr lang="en-US" sz="1300" dirty="0"/>
          </a:p>
        </p:txBody>
      </p:sp>
      <p:sp>
        <p:nvSpPr>
          <p:cNvPr id="36"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a:t>
            </a:r>
            <a:endParaRPr lang="en-US" sz="1200" dirty="0"/>
          </a:p>
        </p:txBody>
      </p:sp>
      <p:sp>
        <p:nvSpPr>
          <p:cNvPr id="37"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6 / 20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SCREEN 1 · DASHBOARD</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The main page after login</a:t>
            </a:r>
            <a:endParaRPr lang="en-US" sz="3200" dirty="0"/>
          </a:p>
        </p:txBody>
      </p:sp>
      <p:sp>
        <p:nvSpPr>
          <p:cNvPr id="4" name="Text 2"/>
          <p:cNvSpPr/>
          <p:nvPr/>
        </p:nvSpPr>
        <p:spPr>
          <a:xfrm>
            <a:off x="812800" y="1790650"/>
            <a:ext cx="510159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2447"/>
                </a:solidFill>
                <a:latin typeface="Arial" pitchFamily="34" charset="0"/>
                <a:ea typeface="Arial" pitchFamily="34" charset="-122"/>
                <a:cs typeface="Arial" pitchFamily="34" charset="-120"/>
              </a:rPr>
              <a:t>Everything a traveler needs, in one place.</a:t>
            </a:r>
            <a:endParaRPr lang="en-US" sz="1500" dirty="0"/>
          </a:p>
        </p:txBody>
      </p:sp>
      <p:sp>
        <p:nvSpPr>
          <p:cNvPr id="5" name="Text 3"/>
          <p:cNvSpPr/>
          <p:nvPr/>
        </p:nvSpPr>
        <p:spPr>
          <a:xfrm>
            <a:off x="896620" y="2209750"/>
            <a:ext cx="5010150" cy="1797050"/>
          </a:xfrm>
          <a:prstGeom prst="rect">
            <a:avLst/>
          </a:prstGeom>
          <a:noFill/>
          <a:ln/>
        </p:spPr>
        <p:txBody>
          <a:bodyPr wrap="square" lIns="0" tIns="0" rIns="0" bIns="0" rtlCol="0" anchor="t">
            <a:normAutofit/>
          </a:bodyPr>
          <a:lstStyle/>
          <a:p>
            <a:pPr algn="l" marL="170180" indent="-170180">
              <a:lnSpc>
                <a:spcPts val="2325"/>
              </a:lnSpc>
              <a:buSzPct val="100000"/>
              <a:buChar char="•"/>
            </a:pPr>
            <a:r>
              <a:rPr lang="en-US" sz="1500" dirty="0">
                <a:solidFill>
                  <a:srgbClr val="334155"/>
                </a:solidFill>
                <a:latin typeface="Arial" pitchFamily="34" charset="0"/>
                <a:ea typeface="Arial" pitchFamily="34" charset="-122"/>
                <a:cs typeface="Arial" pitchFamily="34" charset="-120"/>
              </a:rPr>
              <a:t>Search buses by source and destination</a:t>
            </a:r>
            <a:endParaRPr lang="en-US" sz="1500" dirty="0"/>
          </a:p>
          <a:p>
            <a:pPr algn="l" marL="170180" indent="-170180">
              <a:lnSpc>
                <a:spcPts val="2325"/>
              </a:lnSpc>
              <a:buSzPct val="100000"/>
              <a:buChar char="•"/>
            </a:pPr>
            <a:r>
              <a:rPr lang="en-US" sz="1500" dirty="0">
                <a:solidFill>
                  <a:srgbClr val="334155"/>
                </a:solidFill>
                <a:latin typeface="Arial" pitchFamily="34" charset="0"/>
                <a:ea typeface="Arial" pitchFamily="34" charset="-122"/>
                <a:cs typeface="Arial" pitchFamily="34" charset="-120"/>
              </a:rPr>
              <a:t>Select the journey date</a:t>
            </a:r>
            <a:endParaRPr lang="en-US" sz="1500" dirty="0"/>
          </a:p>
          <a:p>
            <a:pPr algn="l" marL="170180" indent="-170180">
              <a:lnSpc>
                <a:spcPts val="2325"/>
              </a:lnSpc>
              <a:buSzPct val="100000"/>
              <a:buChar char="•"/>
            </a:pPr>
            <a:r>
              <a:rPr lang="en-US" sz="1500" dirty="0">
                <a:solidFill>
                  <a:srgbClr val="334155"/>
                </a:solidFill>
                <a:latin typeface="Arial" pitchFamily="34" charset="0"/>
                <a:ea typeface="Arial" pitchFamily="34" charset="-122"/>
                <a:cs typeface="Arial" pitchFamily="34" charset="-120"/>
              </a:rPr>
              <a:t>View popular routes and available buses</a:t>
            </a:r>
            <a:endParaRPr lang="en-US" sz="1500" dirty="0"/>
          </a:p>
          <a:p>
            <a:pPr algn="l" marL="170180" indent="-170180">
              <a:lnSpc>
                <a:spcPts val="2325"/>
              </a:lnSpc>
              <a:buSzPct val="100000"/>
              <a:buChar char="•"/>
            </a:pPr>
            <a:r>
              <a:rPr lang="en-US" sz="1500" dirty="0">
                <a:solidFill>
                  <a:srgbClr val="334155"/>
                </a:solidFill>
                <a:latin typeface="Arial" pitchFamily="34" charset="0"/>
                <a:ea typeface="Arial" pitchFamily="34" charset="-122"/>
                <a:cs typeface="Arial" pitchFamily="34" charset="-120"/>
              </a:rPr>
              <a:t>Open My Bookings and download tickets</a:t>
            </a:r>
            <a:endParaRPr lang="en-US" sz="1500" dirty="0"/>
          </a:p>
          <a:p>
            <a:pPr algn="l" marL="170180" indent="-170180">
              <a:lnSpc>
                <a:spcPts val="2325"/>
              </a:lnSpc>
              <a:buSzPct val="100000"/>
              <a:buChar char="•"/>
            </a:pPr>
            <a:r>
              <a:rPr lang="en-US" sz="1500" dirty="0">
                <a:solidFill>
                  <a:srgbClr val="334155"/>
                </a:solidFill>
                <a:latin typeface="Arial" pitchFamily="34" charset="0"/>
                <a:ea typeface="Arial" pitchFamily="34" charset="-122"/>
                <a:cs typeface="Arial" pitchFamily="34" charset="-120"/>
              </a:rPr>
              <a:t>View booking status and user profile</a:t>
            </a:r>
            <a:endParaRPr lang="en-US" sz="1500" dirty="0"/>
          </a:p>
          <a:p>
            <a:pPr algn="l" marL="170180" indent="-170180">
              <a:lnSpc>
                <a:spcPts val="2325"/>
              </a:lnSpc>
              <a:buSzPct val="100000"/>
              <a:buChar char="•"/>
            </a:pPr>
            <a:r>
              <a:rPr lang="en-US" sz="1500" dirty="0">
                <a:solidFill>
                  <a:srgbClr val="334155"/>
                </a:solidFill>
                <a:latin typeface="Arial" pitchFamily="34" charset="0"/>
                <a:ea typeface="Arial" pitchFamily="34" charset="-122"/>
                <a:cs typeface="Arial" pitchFamily="34" charset="-120"/>
              </a:rPr>
              <a:t>Log out securely</a:t>
            </a:r>
            <a:endParaRPr lang="en-US" sz="1500" dirty="0"/>
          </a:p>
        </p:txBody>
      </p:sp>
      <p:sp>
        <p:nvSpPr>
          <p:cNvPr id="6" name="Text 4"/>
          <p:cNvSpPr/>
          <p:nvPr/>
        </p:nvSpPr>
        <p:spPr>
          <a:xfrm>
            <a:off x="812800" y="4133800"/>
            <a:ext cx="4953000" cy="459730"/>
          </a:xfrm>
          <a:prstGeom prst="roundRect">
            <a:avLst>
              <a:gd name="adj" fmla="val 22100"/>
            </a:avLst>
          </a:prstGeom>
          <a:solidFill>
            <a:srgbClr val="0B2447"/>
          </a:solidFill>
          <a:ln/>
        </p:spPr>
        <p:txBody>
          <a:bodyPr wrap="square" lIns="122642" tIns="84542" rIns="0" bIns="59142" rtlCol="0" anchor="t">
            <a:normAutofit/>
          </a:bodyPr>
          <a:lstStyle/>
          <a:p>
            <a:pPr algn="l" indent="0" marL="0">
              <a:lnSpc>
                <a:spcPts val="1820"/>
              </a:lnSpc>
              <a:buNone/>
            </a:pPr>
            <a:r>
              <a:rPr lang="en-US" sz="1300" b="1" dirty="0">
                <a:solidFill>
                  <a:srgbClr val="FFFFFF"/>
                </a:solidFill>
                <a:latin typeface="Arial" pitchFamily="34" charset="0"/>
                <a:ea typeface="Arial" pitchFamily="34" charset="-122"/>
                <a:cs typeface="Arial" pitchFamily="34" charset="-120"/>
              </a:rPr>
              <a:t>Example: Trichy → Chennai · 25/10/2026</a:t>
            </a:r>
            <a:endParaRPr lang="en-US" sz="1300" dirty="0"/>
          </a:p>
        </p:txBody>
      </p:sp>
      <p:sp>
        <p:nvSpPr>
          <p:cNvPr id="7" name="Shape 5"/>
          <p:cNvSpPr/>
          <p:nvPr/>
        </p:nvSpPr>
        <p:spPr>
          <a:xfrm>
            <a:off x="6178550" y="1797000"/>
            <a:ext cx="5194300" cy="3794472"/>
          </a:xfrm>
          <a:prstGeom prst="roundRect">
            <a:avLst>
              <a:gd name="adj" fmla="val 3849"/>
            </a:avLst>
          </a:prstGeom>
          <a:solidFill>
            <a:srgbClr val="FFFFFF"/>
          </a:solidFill>
          <a:ln w="12700">
            <a:solidFill>
              <a:srgbClr val="CBD5E1"/>
            </a:solidFill>
            <a:prstDash val="solid"/>
          </a:ln>
          <a:effectLst>
            <a:outerShdw sx="100000" sy="100000" kx="0" ky="0" algn="bl" rotWithShape="0" blurRad="254000" dist="76200" dir="5400000">
              <a:srgbClr val="0B2447">
                <a:alpha val="14000"/>
              </a:srgbClr>
            </a:outerShdw>
          </a:effectLst>
        </p:spPr>
      </p:sp>
      <p:sp>
        <p:nvSpPr>
          <p:cNvPr id="8" name="Shape 6"/>
          <p:cNvSpPr/>
          <p:nvPr/>
        </p:nvSpPr>
        <p:spPr>
          <a:xfrm>
            <a:off x="6184900" y="1803350"/>
            <a:ext cx="5181600" cy="467320"/>
          </a:xfrm>
          <a:custGeom>
            <a:avLst/>
            <a:gdLst/>
            <a:ahLst/>
            <a:cxnLst/>
            <a:rect l="l" t="t" r="r" b="b"/>
            <a:pathLst>
              <a:path w="5181600" h="467320">
                <a:moveTo>
                  <a:pt x="0" y="139700"/>
                </a:moveTo>
                <a:arcTo hR="139700" wR="139700" stAng="10800000" swAng="5400000"/>
                <a:lnTo>
                  <a:pt x="5041900" y="0"/>
                </a:lnTo>
                <a:arcTo hR="139700" wR="139700" stAng="16200000" swAng="5400000"/>
                <a:lnTo>
                  <a:pt x="5181600" y="467320"/>
                </a:lnTo>
                <a:lnTo>
                  <a:pt x="0" y="467320"/>
                </a:lnTo>
                <a:close/>
              </a:path>
            </a:pathLst>
          </a:custGeom>
          <a:solidFill>
            <a:srgbClr val="E2E8F0"/>
          </a:solidFill>
          <a:ln/>
        </p:spPr>
      </p:sp>
      <p:sp>
        <p:nvSpPr>
          <p:cNvPr id="9" name="Shape 7"/>
          <p:cNvSpPr/>
          <p:nvPr/>
        </p:nvSpPr>
        <p:spPr>
          <a:xfrm>
            <a:off x="6324600" y="1986211"/>
            <a:ext cx="101600" cy="101600"/>
          </a:xfrm>
          <a:prstGeom prst="roundRect">
            <a:avLst>
              <a:gd name="adj" fmla="val 50000"/>
            </a:avLst>
          </a:prstGeom>
          <a:solidFill>
            <a:srgbClr val="94A3B8"/>
          </a:solidFill>
          <a:ln/>
        </p:spPr>
      </p:sp>
      <p:sp>
        <p:nvSpPr>
          <p:cNvPr id="10" name="Shape 8"/>
          <p:cNvSpPr/>
          <p:nvPr/>
        </p:nvSpPr>
        <p:spPr>
          <a:xfrm>
            <a:off x="6489700" y="1986211"/>
            <a:ext cx="101600" cy="101600"/>
          </a:xfrm>
          <a:prstGeom prst="roundRect">
            <a:avLst>
              <a:gd name="adj" fmla="val 50000"/>
            </a:avLst>
          </a:prstGeom>
          <a:solidFill>
            <a:srgbClr val="94A3B8"/>
          </a:solidFill>
          <a:ln/>
        </p:spPr>
      </p:sp>
      <p:sp>
        <p:nvSpPr>
          <p:cNvPr id="11" name="Shape 9"/>
          <p:cNvSpPr/>
          <p:nvPr/>
        </p:nvSpPr>
        <p:spPr>
          <a:xfrm>
            <a:off x="6654800" y="1986211"/>
            <a:ext cx="101600" cy="101600"/>
          </a:xfrm>
          <a:prstGeom prst="roundRect">
            <a:avLst>
              <a:gd name="adj" fmla="val 50000"/>
            </a:avLst>
          </a:prstGeom>
          <a:solidFill>
            <a:srgbClr val="94A3B8"/>
          </a:solidFill>
          <a:ln/>
        </p:spPr>
      </p:sp>
      <p:sp>
        <p:nvSpPr>
          <p:cNvPr id="12" name="Text 10"/>
          <p:cNvSpPr/>
          <p:nvPr/>
        </p:nvSpPr>
        <p:spPr>
          <a:xfrm>
            <a:off x="6819900" y="1892250"/>
            <a:ext cx="4406900" cy="289520"/>
          </a:xfrm>
          <a:custGeom>
            <a:avLst/>
            <a:gdLst/>
            <a:ahLst/>
            <a:cxnLst/>
            <a:rect l="l" t="t" r="r" b="b"/>
            <a:pathLst>
              <a:path w="4406900" h="289520">
                <a:moveTo>
                  <a:pt x="144760" y="0"/>
                </a:moveTo>
                <a:lnTo>
                  <a:pt x="4262140" y="0"/>
                </a:lnTo>
                <a:arcTo hR="144760" wR="144760" stAng="16200000" swAng="5400000"/>
                <a:lnTo>
                  <a:pt x="44069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FFFFF"/>
          </a:solidFill>
          <a:ln/>
        </p:spPr>
        <p:txBody>
          <a:bodyPr wrap="square" lIns="127000" tIns="38100" rIns="2413" bIns="1270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busbooking.app/dashboard</a:t>
            </a:r>
            <a:endParaRPr lang="en-US" sz="1200" dirty="0"/>
          </a:p>
        </p:txBody>
      </p:sp>
      <p:sp>
        <p:nvSpPr>
          <p:cNvPr id="13" name="Text 11"/>
          <p:cNvSpPr/>
          <p:nvPr/>
        </p:nvSpPr>
        <p:spPr>
          <a:xfrm>
            <a:off x="6362700" y="2443361"/>
            <a:ext cx="13157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4ED8"/>
                </a:solidFill>
                <a:latin typeface="Arial" pitchFamily="34" charset="0"/>
                <a:ea typeface="Arial" pitchFamily="34" charset="-122"/>
                <a:cs typeface="Arial" pitchFamily="34" charset="-120"/>
              </a:rPr>
              <a:t>Bus Booking</a:t>
            </a:r>
            <a:endParaRPr lang="en-US" sz="1400" dirty="0"/>
          </a:p>
        </p:txBody>
      </p:sp>
      <p:sp>
        <p:nvSpPr>
          <p:cNvPr id="14" name="Text 12"/>
          <p:cNvSpPr/>
          <p:nvPr/>
        </p:nvSpPr>
        <p:spPr>
          <a:xfrm>
            <a:off x="8885436" y="2461171"/>
            <a:ext cx="9994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155"/>
                </a:solidFill>
                <a:latin typeface="Arial" pitchFamily="34" charset="0"/>
                <a:ea typeface="Arial" pitchFamily="34" charset="-122"/>
                <a:cs typeface="Arial" pitchFamily="34" charset="-120"/>
              </a:rPr>
              <a:t>My Bookings</a:t>
            </a:r>
            <a:endParaRPr lang="en-US" sz="1200" dirty="0"/>
          </a:p>
        </p:txBody>
      </p:sp>
      <p:sp>
        <p:nvSpPr>
          <p:cNvPr id="15" name="Text 13"/>
          <p:cNvSpPr/>
          <p:nvPr/>
        </p:nvSpPr>
        <p:spPr>
          <a:xfrm>
            <a:off x="9884866" y="2461171"/>
            <a:ext cx="5183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155"/>
                </a:solidFill>
                <a:latin typeface="Arial" pitchFamily="34" charset="0"/>
                <a:ea typeface="Arial" pitchFamily="34" charset="-122"/>
                <a:cs typeface="Arial" pitchFamily="34" charset="-120"/>
              </a:rPr>
              <a:t>Profile</a:t>
            </a:r>
            <a:endParaRPr lang="en-US" sz="1200" dirty="0"/>
          </a:p>
        </p:txBody>
      </p:sp>
      <p:sp>
        <p:nvSpPr>
          <p:cNvPr id="16" name="Text 14"/>
          <p:cNvSpPr/>
          <p:nvPr/>
        </p:nvSpPr>
        <p:spPr>
          <a:xfrm>
            <a:off x="10443865" y="2423071"/>
            <a:ext cx="744835" cy="289520"/>
          </a:xfrm>
          <a:custGeom>
            <a:avLst/>
            <a:gdLst/>
            <a:ahLst/>
            <a:cxnLst/>
            <a:rect l="l" t="t" r="r" b="b"/>
            <a:pathLst>
              <a:path w="744835" h="289520">
                <a:moveTo>
                  <a:pt x="144760" y="0"/>
                </a:moveTo>
                <a:lnTo>
                  <a:pt x="600075" y="0"/>
                </a:lnTo>
                <a:arcTo hR="144760" wR="144760" stAng="16200000" swAng="5400000"/>
                <a:lnTo>
                  <a:pt x="744835" y="144760"/>
                </a:lnTo>
                <a:arcTo hR="144760" wR="144760" stAng="0" swAng="5400000"/>
                <a:lnTo>
                  <a:pt x="144760" y="289520"/>
                </a:lnTo>
                <a:arcTo hR="144760" wR="144760" stAng="5400000" swAng="5400000"/>
                <a:lnTo>
                  <a:pt x="0" y="144760"/>
                </a:lnTo>
                <a:arcTo hR="144760" wR="144760" stAng="10800000" swAng="5400000"/>
                <a:close/>
              </a:path>
            </a:pathLst>
          </a:custGeom>
          <a:solidFill>
            <a:srgbClr val="0B2447"/>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Logout</a:t>
            </a:r>
            <a:endParaRPr lang="en-US" sz="1200" dirty="0"/>
          </a:p>
        </p:txBody>
      </p:sp>
      <p:sp>
        <p:nvSpPr>
          <p:cNvPr id="17" name="Shape 15"/>
          <p:cNvSpPr/>
          <p:nvPr/>
        </p:nvSpPr>
        <p:spPr>
          <a:xfrm>
            <a:off x="6365875" y="2830066"/>
            <a:ext cx="4819650" cy="1415951"/>
          </a:xfrm>
          <a:prstGeom prst="roundRect">
            <a:avLst>
              <a:gd name="adj" fmla="val 7848"/>
            </a:avLst>
          </a:prstGeom>
          <a:solidFill>
            <a:srgbClr val="EFF6FF"/>
          </a:solidFill>
          <a:ln w="6350">
            <a:solidFill>
              <a:srgbClr val="BFDBFE"/>
            </a:solidFill>
            <a:prstDash val="solid"/>
          </a:ln>
        </p:spPr>
      </p:sp>
      <p:sp>
        <p:nvSpPr>
          <p:cNvPr id="18" name="Shape 16"/>
          <p:cNvSpPr/>
          <p:nvPr/>
        </p:nvSpPr>
        <p:spPr>
          <a:xfrm>
            <a:off x="6511925" y="2976116"/>
            <a:ext cx="1445667" cy="595561"/>
          </a:xfrm>
          <a:prstGeom prst="roundRect">
            <a:avLst>
              <a:gd name="adj" fmla="val 12262"/>
            </a:avLst>
          </a:prstGeom>
          <a:solidFill>
            <a:srgbClr val="FFFFFF"/>
          </a:solidFill>
          <a:ln w="6350">
            <a:solidFill>
              <a:srgbClr val="CBD5E1"/>
            </a:solidFill>
            <a:prstDash val="solid"/>
          </a:ln>
        </p:spPr>
      </p:sp>
      <p:sp>
        <p:nvSpPr>
          <p:cNvPr id="19" name="Text 17"/>
          <p:cNvSpPr/>
          <p:nvPr/>
        </p:nvSpPr>
        <p:spPr>
          <a:xfrm>
            <a:off x="6616700" y="3042791"/>
            <a:ext cx="12869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From</a:t>
            </a:r>
            <a:endParaRPr lang="en-US" sz="1200" dirty="0"/>
          </a:p>
        </p:txBody>
      </p:sp>
      <p:sp>
        <p:nvSpPr>
          <p:cNvPr id="20" name="Text 18"/>
          <p:cNvSpPr/>
          <p:nvPr/>
        </p:nvSpPr>
        <p:spPr>
          <a:xfrm>
            <a:off x="6616700" y="3256111"/>
            <a:ext cx="128691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Trichy</a:t>
            </a:r>
            <a:endParaRPr lang="en-US" sz="1400" dirty="0"/>
          </a:p>
        </p:txBody>
      </p:sp>
      <p:sp>
        <p:nvSpPr>
          <p:cNvPr id="21" name="Shape 19"/>
          <p:cNvSpPr/>
          <p:nvPr/>
        </p:nvSpPr>
        <p:spPr>
          <a:xfrm>
            <a:off x="8052842" y="2976116"/>
            <a:ext cx="1445716" cy="595561"/>
          </a:xfrm>
          <a:prstGeom prst="roundRect">
            <a:avLst>
              <a:gd name="adj" fmla="val 12262"/>
            </a:avLst>
          </a:prstGeom>
          <a:solidFill>
            <a:srgbClr val="FFFFFF"/>
          </a:solidFill>
          <a:ln w="6350">
            <a:solidFill>
              <a:srgbClr val="CBD5E1"/>
            </a:solidFill>
            <a:prstDash val="solid"/>
          </a:ln>
        </p:spPr>
      </p:sp>
      <p:sp>
        <p:nvSpPr>
          <p:cNvPr id="22" name="Text 20"/>
          <p:cNvSpPr/>
          <p:nvPr/>
        </p:nvSpPr>
        <p:spPr>
          <a:xfrm>
            <a:off x="8157617" y="3042791"/>
            <a:ext cx="12869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To</a:t>
            </a:r>
            <a:endParaRPr lang="en-US" sz="1200" dirty="0"/>
          </a:p>
        </p:txBody>
      </p:sp>
      <p:sp>
        <p:nvSpPr>
          <p:cNvPr id="23" name="Text 21"/>
          <p:cNvSpPr/>
          <p:nvPr/>
        </p:nvSpPr>
        <p:spPr>
          <a:xfrm>
            <a:off x="8157617" y="3256111"/>
            <a:ext cx="128696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Chennai</a:t>
            </a:r>
            <a:endParaRPr lang="en-US" sz="1400" dirty="0"/>
          </a:p>
        </p:txBody>
      </p:sp>
      <p:sp>
        <p:nvSpPr>
          <p:cNvPr id="24" name="Shape 22"/>
          <p:cNvSpPr/>
          <p:nvPr/>
        </p:nvSpPr>
        <p:spPr>
          <a:xfrm>
            <a:off x="9593808" y="2976116"/>
            <a:ext cx="1445667" cy="595561"/>
          </a:xfrm>
          <a:prstGeom prst="roundRect">
            <a:avLst>
              <a:gd name="adj" fmla="val 12262"/>
            </a:avLst>
          </a:prstGeom>
          <a:solidFill>
            <a:srgbClr val="FFFFFF"/>
          </a:solidFill>
          <a:ln w="6350">
            <a:solidFill>
              <a:srgbClr val="CBD5E1"/>
            </a:solidFill>
            <a:prstDash val="solid"/>
          </a:ln>
        </p:spPr>
      </p:sp>
      <p:sp>
        <p:nvSpPr>
          <p:cNvPr id="25" name="Text 23"/>
          <p:cNvSpPr/>
          <p:nvPr/>
        </p:nvSpPr>
        <p:spPr>
          <a:xfrm>
            <a:off x="9698583" y="3042791"/>
            <a:ext cx="12869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Date</a:t>
            </a:r>
            <a:endParaRPr lang="en-US" sz="1200" dirty="0"/>
          </a:p>
        </p:txBody>
      </p:sp>
      <p:sp>
        <p:nvSpPr>
          <p:cNvPr id="26" name="Text 24"/>
          <p:cNvSpPr/>
          <p:nvPr/>
        </p:nvSpPr>
        <p:spPr>
          <a:xfrm>
            <a:off x="9698583" y="3256111"/>
            <a:ext cx="128691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25/10/2026</a:t>
            </a:r>
            <a:endParaRPr lang="en-US" sz="1400" dirty="0"/>
          </a:p>
        </p:txBody>
      </p:sp>
      <p:sp>
        <p:nvSpPr>
          <p:cNvPr id="27" name="Text 25"/>
          <p:cNvSpPr/>
          <p:nvPr/>
        </p:nvSpPr>
        <p:spPr>
          <a:xfrm>
            <a:off x="6508750" y="3676452"/>
            <a:ext cx="4533900" cy="426690"/>
          </a:xfrm>
          <a:prstGeom prst="roundRect">
            <a:avLst>
              <a:gd name="adj" fmla="val 17858"/>
            </a:avLst>
          </a:prstGeom>
          <a:solidFill>
            <a:srgbClr val="1D4ED8"/>
          </a:solidFill>
          <a:ln/>
        </p:spPr>
        <p:txBody>
          <a:bodyPr wrap="square" lIns="1240" tIns="66582" rIns="1240" bIns="41182" rtlCol="0" anchor="t">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Search Buses</a:t>
            </a:r>
            <a:endParaRPr lang="en-US" sz="1400" dirty="0"/>
          </a:p>
        </p:txBody>
      </p:sp>
      <p:sp>
        <p:nvSpPr>
          <p:cNvPr id="28" name="Text 26"/>
          <p:cNvSpPr/>
          <p:nvPr/>
        </p:nvSpPr>
        <p:spPr>
          <a:xfrm>
            <a:off x="6362700" y="4363492"/>
            <a:ext cx="49707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Popular routes</a:t>
            </a:r>
            <a:endParaRPr lang="en-US" sz="1400" dirty="0"/>
          </a:p>
        </p:txBody>
      </p:sp>
      <p:sp>
        <p:nvSpPr>
          <p:cNvPr id="29" name="Text 27"/>
          <p:cNvSpPr/>
          <p:nvPr/>
        </p:nvSpPr>
        <p:spPr>
          <a:xfrm>
            <a:off x="6362700" y="4726682"/>
            <a:ext cx="1753592" cy="314920"/>
          </a:xfrm>
          <a:prstGeom prst="roundRect">
            <a:avLst>
              <a:gd name="adj" fmla="val 50000"/>
            </a:avLst>
          </a:prstGeom>
          <a:solidFill>
            <a:srgbClr val="DBEAFE"/>
          </a:solidFill>
          <a:ln/>
        </p:spPr>
        <p:txBody>
          <a:bodyPr wrap="none" lIns="0" tIns="0" rIns="0" bIns="0" rtlCol="0" anchor="ctr">
            <a:normAutofit/>
          </a:bodyPr>
          <a:lstStyle/>
          <a:p>
            <a:pPr algn="ctr" indent="0" marL="0">
              <a:lnSpc>
                <a:spcPts val="1680"/>
              </a:lnSpc>
              <a:buNone/>
            </a:pPr>
            <a:r>
              <a:rPr lang="en-US" sz="1200" dirty="0">
                <a:solidFill>
                  <a:srgbClr val="1E3A8A"/>
                </a:solidFill>
                <a:latin typeface="Arial" pitchFamily="34" charset="0"/>
                <a:ea typeface="Arial" pitchFamily="34" charset="-122"/>
                <a:cs typeface="Arial" pitchFamily="34" charset="-120"/>
              </a:rPr>
              <a:t>Chennai → Bengaluru</a:t>
            </a:r>
            <a:endParaRPr lang="en-US" sz="1200" dirty="0"/>
          </a:p>
        </p:txBody>
      </p:sp>
      <p:sp>
        <p:nvSpPr>
          <p:cNvPr id="30" name="Text 28"/>
          <p:cNvSpPr/>
          <p:nvPr/>
        </p:nvSpPr>
        <p:spPr>
          <a:xfrm>
            <a:off x="8192492" y="4726682"/>
            <a:ext cx="1467991" cy="314920"/>
          </a:xfrm>
          <a:prstGeom prst="roundRect">
            <a:avLst>
              <a:gd name="adj" fmla="val 50000"/>
            </a:avLst>
          </a:prstGeom>
          <a:solidFill>
            <a:srgbClr val="DBEAFE"/>
          </a:solidFill>
          <a:ln/>
        </p:spPr>
        <p:txBody>
          <a:bodyPr wrap="none" lIns="0" tIns="0" rIns="0" bIns="0" rtlCol="0" anchor="ctr">
            <a:normAutofit/>
          </a:bodyPr>
          <a:lstStyle/>
          <a:p>
            <a:pPr algn="ctr" indent="0" marL="0">
              <a:lnSpc>
                <a:spcPts val="1680"/>
              </a:lnSpc>
              <a:buNone/>
            </a:pPr>
            <a:r>
              <a:rPr lang="en-US" sz="1200" dirty="0">
                <a:solidFill>
                  <a:srgbClr val="1E3A8A"/>
                </a:solidFill>
                <a:latin typeface="Arial" pitchFamily="34" charset="0"/>
                <a:ea typeface="Arial" pitchFamily="34" charset="-122"/>
                <a:cs typeface="Arial" pitchFamily="34" charset="-120"/>
              </a:rPr>
              <a:t>Trichy → Chennai</a:t>
            </a:r>
            <a:endParaRPr lang="en-US" sz="1200" dirty="0"/>
          </a:p>
        </p:txBody>
      </p:sp>
      <p:sp>
        <p:nvSpPr>
          <p:cNvPr id="31" name="Text 29"/>
          <p:cNvSpPr/>
          <p:nvPr/>
        </p:nvSpPr>
        <p:spPr>
          <a:xfrm>
            <a:off x="6362700" y="5117802"/>
            <a:ext cx="1829445" cy="314920"/>
          </a:xfrm>
          <a:prstGeom prst="roundRect">
            <a:avLst>
              <a:gd name="adj" fmla="val 50000"/>
            </a:avLst>
          </a:prstGeom>
          <a:solidFill>
            <a:srgbClr val="DBEAFE"/>
          </a:solidFill>
          <a:ln/>
        </p:spPr>
        <p:txBody>
          <a:bodyPr wrap="none" lIns="0" tIns="0" rIns="0" bIns="0" rtlCol="0" anchor="ctr">
            <a:normAutofit/>
          </a:bodyPr>
          <a:lstStyle/>
          <a:p>
            <a:pPr algn="ctr" indent="0" marL="0">
              <a:lnSpc>
                <a:spcPts val="1680"/>
              </a:lnSpc>
              <a:buNone/>
            </a:pPr>
            <a:r>
              <a:rPr lang="en-US" sz="1200" dirty="0">
                <a:solidFill>
                  <a:srgbClr val="1E3A8A"/>
                </a:solidFill>
                <a:latin typeface="Arial" pitchFamily="34" charset="0"/>
                <a:ea typeface="Arial" pitchFamily="34" charset="-122"/>
                <a:cs typeface="Arial" pitchFamily="34" charset="-120"/>
              </a:rPr>
              <a:t>Madurai → Coimbatore</a:t>
            </a:r>
            <a:endParaRPr lang="en-US" sz="1200" dirty="0"/>
          </a:p>
        </p:txBody>
      </p:sp>
      <p:sp>
        <p:nvSpPr>
          <p:cNvPr id="32" name="Text 3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 · Illustrative UI with sample data</a:t>
            </a:r>
            <a:endParaRPr lang="en-US" sz="1200" dirty="0"/>
          </a:p>
        </p:txBody>
      </p:sp>
      <p:sp>
        <p:nvSpPr>
          <p:cNvPr id="33" name="Text 3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7 / 20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SCREEN 2 · REGISTRATION</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New users create an account</a:t>
            </a:r>
            <a:endParaRPr lang="en-US" sz="3200" dirty="0"/>
          </a:p>
        </p:txBody>
      </p:sp>
      <p:sp>
        <p:nvSpPr>
          <p:cNvPr id="4" name="Text 2"/>
          <p:cNvSpPr/>
          <p:nvPr/>
        </p:nvSpPr>
        <p:spPr>
          <a:xfrm>
            <a:off x="812800" y="1790650"/>
            <a:ext cx="510159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Fields</a:t>
            </a:r>
            <a:endParaRPr lang="en-US" sz="1400" dirty="0"/>
          </a:p>
        </p:txBody>
      </p:sp>
      <p:sp>
        <p:nvSpPr>
          <p:cNvPr id="5" name="Text 3"/>
          <p:cNvSpPr/>
          <p:nvPr/>
        </p:nvSpPr>
        <p:spPr>
          <a:xfrm>
            <a:off x="812800" y="2179241"/>
            <a:ext cx="978892" cy="332730"/>
          </a:xfrm>
          <a:prstGeom prst="roundRect">
            <a:avLst>
              <a:gd name="adj" fmla="val 50000"/>
            </a:avLst>
          </a:prstGeom>
          <a:solidFill>
            <a:srgbClr val="DBEAFE"/>
          </a:solidFill>
          <a:ln/>
        </p:spPr>
        <p:txBody>
          <a:bodyPr wrap="none" lIns="0" tIns="0" rIns="0" bIns="0" rtlCol="0" anchor="ctr">
            <a:normAutofit/>
          </a:bodyPr>
          <a:lstStyle/>
          <a:p>
            <a:pPr algn="ctr" indent="0" marL="0">
              <a:lnSpc>
                <a:spcPts val="1820"/>
              </a:lnSpc>
              <a:buNone/>
            </a:pPr>
            <a:r>
              <a:rPr lang="en-US" sz="1300" dirty="0">
                <a:solidFill>
                  <a:srgbClr val="1E3A8A"/>
                </a:solidFill>
                <a:latin typeface="Arial" pitchFamily="34" charset="0"/>
                <a:ea typeface="Arial" pitchFamily="34" charset="-122"/>
                <a:cs typeface="Arial" pitchFamily="34" charset="-120"/>
              </a:rPr>
              <a:t>Full name</a:t>
            </a:r>
            <a:endParaRPr lang="en-US" sz="1300" dirty="0"/>
          </a:p>
        </p:txBody>
      </p:sp>
      <p:sp>
        <p:nvSpPr>
          <p:cNvPr id="6" name="Text 4"/>
          <p:cNvSpPr/>
          <p:nvPr/>
        </p:nvSpPr>
        <p:spPr>
          <a:xfrm>
            <a:off x="1867892" y="2179241"/>
            <a:ext cx="1300063" cy="332730"/>
          </a:xfrm>
          <a:prstGeom prst="roundRect">
            <a:avLst>
              <a:gd name="adj" fmla="val 50000"/>
            </a:avLst>
          </a:prstGeom>
          <a:solidFill>
            <a:srgbClr val="DBEAFE"/>
          </a:solidFill>
          <a:ln/>
        </p:spPr>
        <p:txBody>
          <a:bodyPr wrap="none" lIns="0" tIns="0" rIns="0" bIns="0" rtlCol="0" anchor="ctr">
            <a:normAutofit/>
          </a:bodyPr>
          <a:lstStyle/>
          <a:p>
            <a:pPr algn="ctr" indent="0" marL="0">
              <a:lnSpc>
                <a:spcPts val="1820"/>
              </a:lnSpc>
              <a:buNone/>
            </a:pPr>
            <a:r>
              <a:rPr lang="en-US" sz="1300" dirty="0">
                <a:solidFill>
                  <a:srgbClr val="1E3A8A"/>
                </a:solidFill>
                <a:latin typeface="Arial" pitchFamily="34" charset="0"/>
                <a:ea typeface="Arial" pitchFamily="34" charset="-122"/>
                <a:cs typeface="Arial" pitchFamily="34" charset="-120"/>
              </a:rPr>
              <a:t>Email address</a:t>
            </a:r>
            <a:endParaRPr lang="en-US" sz="1300" dirty="0"/>
          </a:p>
        </p:txBody>
      </p:sp>
      <p:sp>
        <p:nvSpPr>
          <p:cNvPr id="7" name="Text 5"/>
          <p:cNvSpPr/>
          <p:nvPr/>
        </p:nvSpPr>
        <p:spPr>
          <a:xfrm>
            <a:off x="3244155" y="2179241"/>
            <a:ext cx="1346051" cy="332730"/>
          </a:xfrm>
          <a:prstGeom prst="roundRect">
            <a:avLst>
              <a:gd name="adj" fmla="val 50000"/>
            </a:avLst>
          </a:prstGeom>
          <a:solidFill>
            <a:srgbClr val="DBEAFE"/>
          </a:solidFill>
          <a:ln/>
        </p:spPr>
        <p:txBody>
          <a:bodyPr wrap="none" lIns="0" tIns="0" rIns="0" bIns="0" rtlCol="0" anchor="ctr">
            <a:normAutofit/>
          </a:bodyPr>
          <a:lstStyle/>
          <a:p>
            <a:pPr algn="ctr" indent="0" marL="0">
              <a:lnSpc>
                <a:spcPts val="1820"/>
              </a:lnSpc>
              <a:buNone/>
            </a:pPr>
            <a:r>
              <a:rPr lang="en-US" sz="1300" dirty="0">
                <a:solidFill>
                  <a:srgbClr val="1E3A8A"/>
                </a:solidFill>
                <a:latin typeface="Arial" pitchFamily="34" charset="0"/>
                <a:ea typeface="Arial" pitchFamily="34" charset="-122"/>
                <a:cs typeface="Arial" pitchFamily="34" charset="-120"/>
              </a:rPr>
              <a:t>Mobile number</a:t>
            </a:r>
            <a:endParaRPr lang="en-US" sz="1300" dirty="0"/>
          </a:p>
        </p:txBody>
      </p:sp>
      <p:sp>
        <p:nvSpPr>
          <p:cNvPr id="8" name="Text 6"/>
          <p:cNvSpPr/>
          <p:nvPr/>
        </p:nvSpPr>
        <p:spPr>
          <a:xfrm>
            <a:off x="4666407" y="2179241"/>
            <a:ext cx="978892" cy="332730"/>
          </a:xfrm>
          <a:prstGeom prst="roundRect">
            <a:avLst>
              <a:gd name="adj" fmla="val 50000"/>
            </a:avLst>
          </a:prstGeom>
          <a:solidFill>
            <a:srgbClr val="DBEAFE"/>
          </a:solidFill>
          <a:ln/>
        </p:spPr>
        <p:txBody>
          <a:bodyPr wrap="none" lIns="0" tIns="0" rIns="0" bIns="0" rtlCol="0" anchor="ctr">
            <a:normAutofit/>
          </a:bodyPr>
          <a:lstStyle/>
          <a:p>
            <a:pPr algn="ctr" indent="0" marL="0">
              <a:lnSpc>
                <a:spcPts val="1820"/>
              </a:lnSpc>
              <a:buNone/>
            </a:pPr>
            <a:r>
              <a:rPr lang="en-US" sz="1300" dirty="0">
                <a:solidFill>
                  <a:srgbClr val="1E3A8A"/>
                </a:solidFill>
                <a:latin typeface="Arial" pitchFamily="34" charset="0"/>
                <a:ea typeface="Arial" pitchFamily="34" charset="-122"/>
                <a:cs typeface="Arial" pitchFamily="34" charset="-120"/>
              </a:rPr>
              <a:t>Password</a:t>
            </a:r>
            <a:endParaRPr lang="en-US" sz="1300" dirty="0"/>
          </a:p>
        </p:txBody>
      </p:sp>
      <p:sp>
        <p:nvSpPr>
          <p:cNvPr id="9" name="Text 7"/>
          <p:cNvSpPr/>
          <p:nvPr/>
        </p:nvSpPr>
        <p:spPr>
          <a:xfrm>
            <a:off x="812800" y="2588171"/>
            <a:ext cx="1584424" cy="332730"/>
          </a:xfrm>
          <a:prstGeom prst="roundRect">
            <a:avLst>
              <a:gd name="adj" fmla="val 50000"/>
            </a:avLst>
          </a:prstGeom>
          <a:solidFill>
            <a:srgbClr val="DBEAFE"/>
          </a:solidFill>
          <a:ln/>
        </p:spPr>
        <p:txBody>
          <a:bodyPr wrap="none" lIns="0" tIns="0" rIns="0" bIns="0" rtlCol="0" anchor="ctr">
            <a:normAutofit/>
          </a:bodyPr>
          <a:lstStyle/>
          <a:p>
            <a:pPr algn="ctr" indent="0" marL="0">
              <a:lnSpc>
                <a:spcPts val="1820"/>
              </a:lnSpc>
              <a:buNone/>
            </a:pPr>
            <a:r>
              <a:rPr lang="en-US" sz="1300" dirty="0">
                <a:solidFill>
                  <a:srgbClr val="1E3A8A"/>
                </a:solidFill>
                <a:latin typeface="Arial" pitchFamily="34" charset="0"/>
                <a:ea typeface="Arial" pitchFamily="34" charset="-122"/>
                <a:cs typeface="Arial" pitchFamily="34" charset="-120"/>
              </a:rPr>
              <a:t>Confirm password</a:t>
            </a:r>
            <a:endParaRPr lang="en-US" sz="1300" dirty="0"/>
          </a:p>
        </p:txBody>
      </p:sp>
      <p:sp>
        <p:nvSpPr>
          <p:cNvPr id="10" name="Text 8"/>
          <p:cNvSpPr/>
          <p:nvPr/>
        </p:nvSpPr>
        <p:spPr>
          <a:xfrm>
            <a:off x="812800" y="3060601"/>
            <a:ext cx="510159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Process</a:t>
            </a:r>
            <a:endParaRPr lang="en-US" sz="1400" dirty="0"/>
          </a:p>
        </p:txBody>
      </p:sp>
      <p:sp>
        <p:nvSpPr>
          <p:cNvPr id="11" name="Text 9"/>
          <p:cNvSpPr/>
          <p:nvPr/>
        </p:nvSpPr>
        <p:spPr>
          <a:xfrm>
            <a:off x="869057" y="3449191"/>
            <a:ext cx="5037713" cy="1447701"/>
          </a:xfrm>
          <a:prstGeom prst="rect">
            <a:avLst/>
          </a:prstGeom>
          <a:noFill/>
          <a:ln/>
        </p:spPr>
        <p:txBody>
          <a:bodyPr wrap="square" lIns="0" tIns="0" rIns="0" bIns="0" rtlCol="0" anchor="t">
            <a:normAutofit/>
          </a:bodyPr>
          <a:lstStyle/>
          <a:p>
            <a:pPr algn="l" marL="197743" indent="-197743">
              <a:lnSpc>
                <a:spcPts val="2240"/>
              </a:lnSpc>
              <a:buSzPct val="100000"/>
              <a:buFontTx/>
              <a:buAutoNum type="arabicPeriod" startAt="1"/>
            </a:pPr>
            <a:r>
              <a:rPr lang="en-US" sz="1400" dirty="0">
                <a:solidFill>
                  <a:srgbClr val="334155"/>
                </a:solidFill>
                <a:latin typeface="Arial" pitchFamily="34" charset="0"/>
                <a:ea typeface="Arial" pitchFamily="34" charset="-122"/>
                <a:cs typeface="Arial" pitchFamily="34" charset="-120"/>
              </a:rPr>
              <a:t>User enters the required information</a:t>
            </a:r>
            <a:endParaRPr lang="en-US" sz="1400" dirty="0"/>
          </a:p>
          <a:p>
            <a:pPr algn="l" marL="197743" indent="-197743">
              <a:lnSpc>
                <a:spcPts val="2240"/>
              </a:lnSpc>
              <a:buSzPct val="100000"/>
              <a:buFontTx/>
              <a:buAutoNum type="arabicPeriod" startAt="1"/>
            </a:pPr>
            <a:r>
              <a:rPr lang="en-US" sz="1400" dirty="0">
                <a:solidFill>
                  <a:srgbClr val="334155"/>
                </a:solidFill>
                <a:latin typeface="Arial" pitchFamily="34" charset="0"/>
                <a:ea typeface="Arial" pitchFamily="34" charset="-122"/>
                <a:cs typeface="Arial" pitchFamily="34" charset="-120"/>
              </a:rPr>
              <a:t>The system validates the form</a:t>
            </a:r>
            <a:endParaRPr lang="en-US" sz="1400" dirty="0"/>
          </a:p>
          <a:p>
            <a:pPr algn="l" marL="197743" indent="-197743">
              <a:lnSpc>
                <a:spcPts val="2240"/>
              </a:lnSpc>
              <a:buSzPct val="100000"/>
              <a:buFontTx/>
              <a:buAutoNum type="arabicPeriod" startAt="1"/>
            </a:pPr>
            <a:r>
              <a:rPr lang="en-US" sz="1400" dirty="0">
                <a:solidFill>
                  <a:srgbClr val="334155"/>
                </a:solidFill>
                <a:latin typeface="Arial" pitchFamily="34" charset="0"/>
                <a:ea typeface="Arial" pitchFamily="34" charset="-122"/>
                <a:cs typeface="Arial" pitchFamily="34" charset="-120"/>
              </a:rPr>
              <a:t>The password is securely hashed</a:t>
            </a:r>
            <a:endParaRPr lang="en-US" sz="1400" dirty="0"/>
          </a:p>
          <a:p>
            <a:pPr algn="l" marL="197743" indent="-197743">
              <a:lnSpc>
                <a:spcPts val="2240"/>
              </a:lnSpc>
              <a:buSzPct val="100000"/>
              <a:buFontTx/>
              <a:buAutoNum type="arabicPeriod" startAt="1"/>
            </a:pPr>
            <a:r>
              <a:rPr lang="en-US" sz="1400" dirty="0">
                <a:solidFill>
                  <a:srgbClr val="334155"/>
                </a:solidFill>
                <a:latin typeface="Arial" pitchFamily="34" charset="0"/>
                <a:ea typeface="Arial" pitchFamily="34" charset="-122"/>
                <a:cs typeface="Arial" pitchFamily="34" charset="-120"/>
              </a:rPr>
              <a:t>User details are saved in the database</a:t>
            </a:r>
            <a:endParaRPr lang="en-US" sz="1400" dirty="0"/>
          </a:p>
          <a:p>
            <a:pPr algn="l" marL="197743" indent="-197743">
              <a:lnSpc>
                <a:spcPts val="2240"/>
              </a:lnSpc>
              <a:buSzPct val="100000"/>
              <a:buFontTx/>
              <a:buAutoNum type="arabicPeriod" startAt="1"/>
            </a:pPr>
            <a:r>
              <a:rPr lang="en-US" sz="1400" dirty="0">
                <a:solidFill>
                  <a:srgbClr val="334155"/>
                </a:solidFill>
                <a:latin typeface="Arial" pitchFamily="34" charset="0"/>
                <a:ea typeface="Arial" pitchFamily="34" charset="-122"/>
                <a:cs typeface="Arial" pitchFamily="34" charset="-120"/>
              </a:rPr>
              <a:t>Successful registration redirects to login</a:t>
            </a:r>
            <a:endParaRPr lang="en-US" sz="1400" dirty="0"/>
          </a:p>
        </p:txBody>
      </p:sp>
      <p:sp>
        <p:nvSpPr>
          <p:cNvPr id="12" name="Shape 10"/>
          <p:cNvSpPr/>
          <p:nvPr/>
        </p:nvSpPr>
        <p:spPr>
          <a:xfrm>
            <a:off x="6178550" y="1797000"/>
            <a:ext cx="5194300" cy="3908772"/>
          </a:xfrm>
          <a:prstGeom prst="roundRect">
            <a:avLst>
              <a:gd name="adj" fmla="val 3736"/>
            </a:avLst>
          </a:prstGeom>
          <a:solidFill>
            <a:srgbClr val="FFFFFF"/>
          </a:solidFill>
          <a:ln w="12700">
            <a:solidFill>
              <a:srgbClr val="CBD5E1"/>
            </a:solidFill>
            <a:prstDash val="solid"/>
          </a:ln>
          <a:effectLst>
            <a:outerShdw sx="100000" sy="100000" kx="0" ky="0" algn="bl" rotWithShape="0" blurRad="254000" dist="76200" dir="5400000">
              <a:srgbClr val="0B2447">
                <a:alpha val="14000"/>
              </a:srgbClr>
            </a:outerShdw>
          </a:effectLst>
        </p:spPr>
      </p:sp>
      <p:sp>
        <p:nvSpPr>
          <p:cNvPr id="13" name="Shape 11"/>
          <p:cNvSpPr/>
          <p:nvPr/>
        </p:nvSpPr>
        <p:spPr>
          <a:xfrm>
            <a:off x="6184900" y="1803350"/>
            <a:ext cx="5181600" cy="467320"/>
          </a:xfrm>
          <a:custGeom>
            <a:avLst/>
            <a:gdLst/>
            <a:ahLst/>
            <a:cxnLst/>
            <a:rect l="l" t="t" r="r" b="b"/>
            <a:pathLst>
              <a:path w="5181600" h="467320">
                <a:moveTo>
                  <a:pt x="0" y="139700"/>
                </a:moveTo>
                <a:arcTo hR="139700" wR="139700" stAng="10800000" swAng="5400000"/>
                <a:lnTo>
                  <a:pt x="5041900" y="0"/>
                </a:lnTo>
                <a:arcTo hR="139700" wR="139700" stAng="16200000" swAng="5400000"/>
                <a:lnTo>
                  <a:pt x="5181600" y="467320"/>
                </a:lnTo>
                <a:lnTo>
                  <a:pt x="0" y="467320"/>
                </a:lnTo>
                <a:close/>
              </a:path>
            </a:pathLst>
          </a:custGeom>
          <a:solidFill>
            <a:srgbClr val="E2E8F0"/>
          </a:solidFill>
          <a:ln/>
        </p:spPr>
      </p:sp>
      <p:sp>
        <p:nvSpPr>
          <p:cNvPr id="14" name="Shape 12"/>
          <p:cNvSpPr/>
          <p:nvPr/>
        </p:nvSpPr>
        <p:spPr>
          <a:xfrm>
            <a:off x="6324600" y="1986211"/>
            <a:ext cx="101600" cy="101600"/>
          </a:xfrm>
          <a:prstGeom prst="roundRect">
            <a:avLst>
              <a:gd name="adj" fmla="val 50000"/>
            </a:avLst>
          </a:prstGeom>
          <a:solidFill>
            <a:srgbClr val="94A3B8"/>
          </a:solidFill>
          <a:ln/>
        </p:spPr>
      </p:sp>
      <p:sp>
        <p:nvSpPr>
          <p:cNvPr id="15" name="Shape 13"/>
          <p:cNvSpPr/>
          <p:nvPr/>
        </p:nvSpPr>
        <p:spPr>
          <a:xfrm>
            <a:off x="6489700" y="1986211"/>
            <a:ext cx="101600" cy="101600"/>
          </a:xfrm>
          <a:prstGeom prst="roundRect">
            <a:avLst>
              <a:gd name="adj" fmla="val 50000"/>
            </a:avLst>
          </a:prstGeom>
          <a:solidFill>
            <a:srgbClr val="94A3B8"/>
          </a:solidFill>
          <a:ln/>
        </p:spPr>
      </p:sp>
      <p:sp>
        <p:nvSpPr>
          <p:cNvPr id="16" name="Shape 14"/>
          <p:cNvSpPr/>
          <p:nvPr/>
        </p:nvSpPr>
        <p:spPr>
          <a:xfrm>
            <a:off x="6654800" y="1986211"/>
            <a:ext cx="101600" cy="101600"/>
          </a:xfrm>
          <a:prstGeom prst="roundRect">
            <a:avLst>
              <a:gd name="adj" fmla="val 50000"/>
            </a:avLst>
          </a:prstGeom>
          <a:solidFill>
            <a:srgbClr val="94A3B8"/>
          </a:solidFill>
          <a:ln/>
        </p:spPr>
      </p:sp>
      <p:sp>
        <p:nvSpPr>
          <p:cNvPr id="17" name="Text 15"/>
          <p:cNvSpPr/>
          <p:nvPr/>
        </p:nvSpPr>
        <p:spPr>
          <a:xfrm>
            <a:off x="6819900" y="1892250"/>
            <a:ext cx="4406900" cy="289520"/>
          </a:xfrm>
          <a:custGeom>
            <a:avLst/>
            <a:gdLst/>
            <a:ahLst/>
            <a:cxnLst/>
            <a:rect l="l" t="t" r="r" b="b"/>
            <a:pathLst>
              <a:path w="4406900" h="289520">
                <a:moveTo>
                  <a:pt x="144760" y="0"/>
                </a:moveTo>
                <a:lnTo>
                  <a:pt x="4262140" y="0"/>
                </a:lnTo>
                <a:arcTo hR="144760" wR="144760" stAng="16200000" swAng="5400000"/>
                <a:lnTo>
                  <a:pt x="44069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FFFFF"/>
          </a:solidFill>
          <a:ln/>
        </p:spPr>
        <p:txBody>
          <a:bodyPr wrap="square" lIns="127000" tIns="38100" rIns="2413" bIns="1270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busbooking.app/register</a:t>
            </a:r>
            <a:endParaRPr lang="en-US" sz="1200" dirty="0"/>
          </a:p>
        </p:txBody>
      </p:sp>
      <p:sp>
        <p:nvSpPr>
          <p:cNvPr id="18" name="Text 16"/>
          <p:cNvSpPr/>
          <p:nvPr/>
        </p:nvSpPr>
        <p:spPr>
          <a:xfrm>
            <a:off x="6413500" y="2448471"/>
            <a:ext cx="486613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Create your account</a:t>
            </a:r>
            <a:endParaRPr lang="en-US" sz="1600" dirty="0"/>
          </a:p>
        </p:txBody>
      </p:sp>
      <p:sp>
        <p:nvSpPr>
          <p:cNvPr id="19" name="Text 17"/>
          <p:cNvSpPr/>
          <p:nvPr/>
        </p:nvSpPr>
        <p:spPr>
          <a:xfrm>
            <a:off x="6419850" y="2828181"/>
            <a:ext cx="4711700" cy="353020"/>
          </a:xfrm>
          <a:prstGeom prst="roundRect">
            <a:avLst>
              <a:gd name="adj" fmla="val 19786"/>
            </a:avLst>
          </a:prstGeom>
          <a:solidFill>
            <a:srgbClr val="F8FAFC"/>
          </a:solidFill>
          <a:ln w="12700">
            <a:solidFill>
              <a:srgbClr val="CBD5E1"/>
            </a:solidFill>
            <a:prstDash val="solid"/>
          </a:ln>
        </p:spPr>
        <p:txBody>
          <a:bodyPr wrap="square" lIns="100192" tIns="49392" rIns="0" bIns="23992"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Full name</a:t>
            </a:r>
            <a:endParaRPr lang="en-US" sz="1200" dirty="0"/>
          </a:p>
        </p:txBody>
      </p:sp>
      <p:sp>
        <p:nvSpPr>
          <p:cNvPr id="20" name="Text 18"/>
          <p:cNvSpPr/>
          <p:nvPr/>
        </p:nvSpPr>
        <p:spPr>
          <a:xfrm>
            <a:off x="6419850" y="3282801"/>
            <a:ext cx="4711700" cy="353020"/>
          </a:xfrm>
          <a:prstGeom prst="roundRect">
            <a:avLst>
              <a:gd name="adj" fmla="val 19786"/>
            </a:avLst>
          </a:prstGeom>
          <a:solidFill>
            <a:srgbClr val="F8FAFC"/>
          </a:solidFill>
          <a:ln w="12700">
            <a:solidFill>
              <a:srgbClr val="CBD5E1"/>
            </a:solidFill>
            <a:prstDash val="solid"/>
          </a:ln>
        </p:spPr>
        <p:txBody>
          <a:bodyPr wrap="square" lIns="100192" tIns="49392" rIns="0" bIns="23992"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Email address</a:t>
            </a:r>
            <a:endParaRPr lang="en-US" sz="1200" dirty="0"/>
          </a:p>
        </p:txBody>
      </p:sp>
      <p:sp>
        <p:nvSpPr>
          <p:cNvPr id="21" name="Text 19"/>
          <p:cNvSpPr/>
          <p:nvPr/>
        </p:nvSpPr>
        <p:spPr>
          <a:xfrm>
            <a:off x="6419850" y="3737421"/>
            <a:ext cx="4711700" cy="353020"/>
          </a:xfrm>
          <a:prstGeom prst="roundRect">
            <a:avLst>
              <a:gd name="adj" fmla="val 19786"/>
            </a:avLst>
          </a:prstGeom>
          <a:solidFill>
            <a:srgbClr val="F8FAFC"/>
          </a:solidFill>
          <a:ln w="12700">
            <a:solidFill>
              <a:srgbClr val="CBD5E1"/>
            </a:solidFill>
            <a:prstDash val="solid"/>
          </a:ln>
        </p:spPr>
        <p:txBody>
          <a:bodyPr wrap="square" lIns="100192" tIns="49392" rIns="0" bIns="23992"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Mobile number</a:t>
            </a:r>
            <a:endParaRPr lang="en-US" sz="1200" dirty="0"/>
          </a:p>
        </p:txBody>
      </p:sp>
      <p:sp>
        <p:nvSpPr>
          <p:cNvPr id="22" name="Text 20"/>
          <p:cNvSpPr/>
          <p:nvPr/>
        </p:nvSpPr>
        <p:spPr>
          <a:xfrm>
            <a:off x="6419850" y="4192042"/>
            <a:ext cx="4711700" cy="353020"/>
          </a:xfrm>
          <a:prstGeom prst="roundRect">
            <a:avLst>
              <a:gd name="adj" fmla="val 19786"/>
            </a:avLst>
          </a:prstGeom>
          <a:solidFill>
            <a:srgbClr val="F8FAFC"/>
          </a:solidFill>
          <a:ln w="12700">
            <a:solidFill>
              <a:srgbClr val="CBD5E1"/>
            </a:solidFill>
            <a:prstDash val="solid"/>
          </a:ln>
        </p:spPr>
        <p:txBody>
          <a:bodyPr wrap="square" lIns="100192" tIns="49392" rIns="0" bIns="23992"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Password</a:t>
            </a:r>
            <a:endParaRPr lang="en-US" sz="1200" dirty="0"/>
          </a:p>
        </p:txBody>
      </p:sp>
      <p:sp>
        <p:nvSpPr>
          <p:cNvPr id="23" name="Text 21"/>
          <p:cNvSpPr/>
          <p:nvPr/>
        </p:nvSpPr>
        <p:spPr>
          <a:xfrm>
            <a:off x="6419850" y="4646662"/>
            <a:ext cx="4711700" cy="353020"/>
          </a:xfrm>
          <a:prstGeom prst="roundRect">
            <a:avLst>
              <a:gd name="adj" fmla="val 19786"/>
            </a:avLst>
          </a:prstGeom>
          <a:solidFill>
            <a:srgbClr val="F8FAFC"/>
          </a:solidFill>
          <a:ln w="12700">
            <a:solidFill>
              <a:srgbClr val="CBD5E1"/>
            </a:solidFill>
            <a:prstDash val="solid"/>
          </a:ln>
        </p:spPr>
        <p:txBody>
          <a:bodyPr wrap="square" lIns="100192" tIns="49392" rIns="0" bIns="23992"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Confirm password</a:t>
            </a:r>
            <a:endParaRPr lang="en-US" sz="1200" dirty="0"/>
          </a:p>
        </p:txBody>
      </p:sp>
      <p:sp>
        <p:nvSpPr>
          <p:cNvPr id="24" name="Text 22"/>
          <p:cNvSpPr/>
          <p:nvPr/>
        </p:nvSpPr>
        <p:spPr>
          <a:xfrm>
            <a:off x="6413500" y="5094932"/>
            <a:ext cx="4724400" cy="426690"/>
          </a:xfrm>
          <a:prstGeom prst="roundRect">
            <a:avLst>
              <a:gd name="adj" fmla="val 17858"/>
            </a:avLst>
          </a:prstGeom>
          <a:solidFill>
            <a:srgbClr val="1D4ED8"/>
          </a:solidFill>
          <a:ln/>
        </p:spPr>
        <p:txBody>
          <a:bodyPr wrap="square" lIns="0" tIns="66582" rIns="0" bIns="41182" rtlCol="0" anchor="t">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Register</a:t>
            </a:r>
            <a:endParaRPr lang="en-US" sz="1400" dirty="0"/>
          </a:p>
        </p:txBody>
      </p:sp>
      <p:sp>
        <p:nvSpPr>
          <p:cNvPr id="25"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 · Illustrative UI with sample data</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8 / 20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SCREEN 3 · LOGIN</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Secure sign-in for registered users</a:t>
            </a:r>
            <a:endParaRPr lang="en-US" sz="3200" dirty="0"/>
          </a:p>
        </p:txBody>
      </p:sp>
      <p:sp>
        <p:nvSpPr>
          <p:cNvPr id="4" name="Text 2"/>
          <p:cNvSpPr/>
          <p:nvPr/>
        </p:nvSpPr>
        <p:spPr>
          <a:xfrm>
            <a:off x="812800" y="1790650"/>
            <a:ext cx="510159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2447"/>
                </a:solidFill>
                <a:latin typeface="Arial" pitchFamily="34" charset="0"/>
                <a:ea typeface="Arial" pitchFamily="34" charset="-122"/>
                <a:cs typeface="Arial" pitchFamily="34" charset="-120"/>
              </a:rPr>
              <a:t>Users log in with their email address and password.</a:t>
            </a:r>
            <a:endParaRPr lang="en-US" sz="1500" dirty="0"/>
          </a:p>
        </p:txBody>
      </p:sp>
      <p:sp>
        <p:nvSpPr>
          <p:cNvPr id="5" name="Text 3"/>
          <p:cNvSpPr/>
          <p:nvPr/>
        </p:nvSpPr>
        <p:spPr>
          <a:xfrm>
            <a:off x="896620" y="2235150"/>
            <a:ext cx="5010150" cy="1501775"/>
          </a:xfrm>
          <a:prstGeom prst="rect">
            <a:avLst/>
          </a:prstGeom>
          <a:noFill/>
          <a:ln/>
        </p:spPr>
        <p:txBody>
          <a:bodyPr wrap="square" lIns="0" tIns="0" rIns="0" bIns="0" rtlCol="0" anchor="t">
            <a:normAutofit/>
          </a:bodyPr>
          <a:lstStyle/>
          <a:p>
            <a:pPr algn="l" marL="170180" indent="-170180">
              <a:lnSpc>
                <a:spcPts val="2325"/>
              </a:lnSpc>
              <a:buSzPct val="100000"/>
              <a:buChar char="•"/>
            </a:pPr>
            <a:r>
              <a:rPr lang="en-US" sz="1500" dirty="0">
                <a:solidFill>
                  <a:srgbClr val="334155"/>
                </a:solidFill>
                <a:latin typeface="Arial" pitchFamily="34" charset="0"/>
                <a:ea typeface="Arial" pitchFamily="34" charset="-122"/>
                <a:cs typeface="Arial" pitchFamily="34" charset="-120"/>
              </a:rPr>
              <a:t>Email and password authentication</a:t>
            </a:r>
            <a:endParaRPr lang="en-US" sz="1500" dirty="0"/>
          </a:p>
          <a:p>
            <a:pPr algn="l" marL="170180" indent="-170180">
              <a:lnSpc>
                <a:spcPts val="2325"/>
              </a:lnSpc>
              <a:buSzPct val="100000"/>
              <a:buChar char="•"/>
            </a:pPr>
            <a:r>
              <a:rPr lang="en-US" sz="1500" dirty="0">
                <a:solidFill>
                  <a:srgbClr val="334155"/>
                </a:solidFill>
                <a:latin typeface="Arial" pitchFamily="34" charset="0"/>
                <a:ea typeface="Arial" pitchFamily="34" charset="-122"/>
                <a:cs typeface="Arial" pitchFamily="34" charset="-120"/>
              </a:rPr>
              <a:t>Input validation and error messages</a:t>
            </a:r>
            <a:endParaRPr lang="en-US" sz="1500" dirty="0"/>
          </a:p>
          <a:p>
            <a:pPr algn="l" marL="170180" indent="-170180">
              <a:lnSpc>
                <a:spcPts val="2325"/>
              </a:lnSpc>
              <a:buSzPct val="100000"/>
              <a:buChar char="•"/>
            </a:pPr>
            <a:r>
              <a:rPr lang="en-US" sz="1500" dirty="0">
                <a:solidFill>
                  <a:srgbClr val="334155"/>
                </a:solidFill>
                <a:latin typeface="Arial" pitchFamily="34" charset="0"/>
                <a:ea typeface="Arial" pitchFamily="34" charset="-122"/>
                <a:cs typeface="Arial" pitchFamily="34" charset="-120"/>
              </a:rPr>
              <a:t>Forgot password option</a:t>
            </a:r>
            <a:endParaRPr lang="en-US" sz="1500" dirty="0"/>
          </a:p>
          <a:p>
            <a:pPr algn="l" marL="170180" indent="-170180">
              <a:lnSpc>
                <a:spcPts val="2325"/>
              </a:lnSpc>
              <a:buSzPct val="100000"/>
              <a:buChar char="•"/>
            </a:pPr>
            <a:r>
              <a:rPr lang="en-US" sz="1500" dirty="0">
                <a:solidFill>
                  <a:srgbClr val="334155"/>
                </a:solidFill>
                <a:latin typeface="Arial" pitchFamily="34" charset="0"/>
                <a:ea typeface="Arial" pitchFamily="34" charset="-122"/>
                <a:cs typeface="Arial" pitchFamily="34" charset="-120"/>
              </a:rPr>
              <a:t>Secure session or token management</a:t>
            </a:r>
            <a:endParaRPr lang="en-US" sz="1500" dirty="0"/>
          </a:p>
          <a:p>
            <a:pPr algn="l" marL="170180" indent="-170180">
              <a:lnSpc>
                <a:spcPts val="2325"/>
              </a:lnSpc>
              <a:buSzPct val="100000"/>
              <a:buChar char="•"/>
            </a:pPr>
            <a:r>
              <a:rPr lang="en-US" sz="1500" dirty="0">
                <a:solidFill>
                  <a:srgbClr val="334155"/>
                </a:solidFill>
                <a:latin typeface="Arial" pitchFamily="34" charset="0"/>
                <a:ea typeface="Arial" pitchFamily="34" charset="-122"/>
                <a:cs typeface="Arial" pitchFamily="34" charset="-120"/>
              </a:rPr>
              <a:t>Redirect to the dashboard after login</a:t>
            </a:r>
            <a:endParaRPr lang="en-US" sz="1500" dirty="0"/>
          </a:p>
        </p:txBody>
      </p:sp>
      <p:sp>
        <p:nvSpPr>
          <p:cNvPr id="6" name="Text 4"/>
          <p:cNvSpPr/>
          <p:nvPr/>
        </p:nvSpPr>
        <p:spPr>
          <a:xfrm>
            <a:off x="819150" y="3895675"/>
            <a:ext cx="4940300" cy="703560"/>
          </a:xfrm>
          <a:prstGeom prst="roundRect">
            <a:avLst>
              <a:gd name="adj" fmla="val 13538"/>
            </a:avLst>
          </a:prstGeom>
          <a:solidFill>
            <a:srgbClr val="FFEDD5"/>
          </a:solidFill>
          <a:ln w="12700">
            <a:solidFill>
              <a:srgbClr val="C2410C"/>
            </a:solidFill>
            <a:prstDash val="solid"/>
          </a:ln>
        </p:spPr>
        <p:txBody>
          <a:bodyPr wrap="square" lIns="130852" tIns="92752" rIns="0" bIns="67352" rtlCol="0" anchor="t">
            <a:normAutofit/>
          </a:bodyPr>
          <a:lstStyle/>
          <a:p>
            <a:pPr algn="l" indent="0" marL="0">
              <a:lnSpc>
                <a:spcPts val="1820"/>
              </a:lnSpc>
              <a:buNone/>
            </a:pPr>
            <a:r>
              <a:rPr lang="en-US" sz="1300" dirty="0">
                <a:solidFill>
                  <a:srgbClr val="7C2D12"/>
                </a:solidFill>
                <a:latin typeface="Arial" pitchFamily="34" charset="0"/>
                <a:ea typeface="Arial" pitchFamily="34" charset="-122"/>
                <a:cs typeface="Arial" pitchFamily="34" charset="-120"/>
              </a:rPr>
              <a:t>If the login details are incorrect, the system displays an error message.</a:t>
            </a:r>
            <a:endParaRPr lang="en-US" sz="1300" dirty="0"/>
          </a:p>
        </p:txBody>
      </p:sp>
      <p:sp>
        <p:nvSpPr>
          <p:cNvPr id="7" name="Shape 5"/>
          <p:cNvSpPr/>
          <p:nvPr/>
        </p:nvSpPr>
        <p:spPr>
          <a:xfrm>
            <a:off x="6178550" y="1797000"/>
            <a:ext cx="5194300" cy="3680172"/>
          </a:xfrm>
          <a:prstGeom prst="roundRect">
            <a:avLst>
              <a:gd name="adj" fmla="val 3969"/>
            </a:avLst>
          </a:prstGeom>
          <a:solidFill>
            <a:srgbClr val="FFFFFF"/>
          </a:solidFill>
          <a:ln w="12700">
            <a:solidFill>
              <a:srgbClr val="CBD5E1"/>
            </a:solidFill>
            <a:prstDash val="solid"/>
          </a:ln>
          <a:effectLst>
            <a:outerShdw sx="100000" sy="100000" kx="0" ky="0" algn="bl" rotWithShape="0" blurRad="254000" dist="76200" dir="5400000">
              <a:srgbClr val="0B2447">
                <a:alpha val="14000"/>
              </a:srgbClr>
            </a:outerShdw>
          </a:effectLst>
        </p:spPr>
      </p:sp>
      <p:sp>
        <p:nvSpPr>
          <p:cNvPr id="8" name="Shape 6"/>
          <p:cNvSpPr/>
          <p:nvPr/>
        </p:nvSpPr>
        <p:spPr>
          <a:xfrm>
            <a:off x="6184900" y="1803350"/>
            <a:ext cx="5181600" cy="467320"/>
          </a:xfrm>
          <a:custGeom>
            <a:avLst/>
            <a:gdLst/>
            <a:ahLst/>
            <a:cxnLst/>
            <a:rect l="l" t="t" r="r" b="b"/>
            <a:pathLst>
              <a:path w="5181600" h="467320">
                <a:moveTo>
                  <a:pt x="0" y="139700"/>
                </a:moveTo>
                <a:arcTo hR="139700" wR="139700" stAng="10800000" swAng="5400000"/>
                <a:lnTo>
                  <a:pt x="5041900" y="0"/>
                </a:lnTo>
                <a:arcTo hR="139700" wR="139700" stAng="16200000" swAng="5400000"/>
                <a:lnTo>
                  <a:pt x="5181600" y="467320"/>
                </a:lnTo>
                <a:lnTo>
                  <a:pt x="0" y="467320"/>
                </a:lnTo>
                <a:close/>
              </a:path>
            </a:pathLst>
          </a:custGeom>
          <a:solidFill>
            <a:srgbClr val="E2E8F0"/>
          </a:solidFill>
          <a:ln/>
        </p:spPr>
      </p:sp>
      <p:sp>
        <p:nvSpPr>
          <p:cNvPr id="9" name="Shape 7"/>
          <p:cNvSpPr/>
          <p:nvPr/>
        </p:nvSpPr>
        <p:spPr>
          <a:xfrm>
            <a:off x="6324600" y="1986211"/>
            <a:ext cx="101600" cy="101600"/>
          </a:xfrm>
          <a:prstGeom prst="roundRect">
            <a:avLst>
              <a:gd name="adj" fmla="val 50000"/>
            </a:avLst>
          </a:prstGeom>
          <a:solidFill>
            <a:srgbClr val="94A3B8"/>
          </a:solidFill>
          <a:ln/>
        </p:spPr>
      </p:sp>
      <p:sp>
        <p:nvSpPr>
          <p:cNvPr id="10" name="Shape 8"/>
          <p:cNvSpPr/>
          <p:nvPr/>
        </p:nvSpPr>
        <p:spPr>
          <a:xfrm>
            <a:off x="6489700" y="1986211"/>
            <a:ext cx="101600" cy="101600"/>
          </a:xfrm>
          <a:prstGeom prst="roundRect">
            <a:avLst>
              <a:gd name="adj" fmla="val 50000"/>
            </a:avLst>
          </a:prstGeom>
          <a:solidFill>
            <a:srgbClr val="94A3B8"/>
          </a:solidFill>
          <a:ln/>
        </p:spPr>
      </p:sp>
      <p:sp>
        <p:nvSpPr>
          <p:cNvPr id="11" name="Shape 9"/>
          <p:cNvSpPr/>
          <p:nvPr/>
        </p:nvSpPr>
        <p:spPr>
          <a:xfrm>
            <a:off x="6654800" y="1986211"/>
            <a:ext cx="101600" cy="101600"/>
          </a:xfrm>
          <a:prstGeom prst="roundRect">
            <a:avLst>
              <a:gd name="adj" fmla="val 50000"/>
            </a:avLst>
          </a:prstGeom>
          <a:solidFill>
            <a:srgbClr val="94A3B8"/>
          </a:solidFill>
          <a:ln/>
        </p:spPr>
      </p:sp>
      <p:sp>
        <p:nvSpPr>
          <p:cNvPr id="12" name="Text 10"/>
          <p:cNvSpPr/>
          <p:nvPr/>
        </p:nvSpPr>
        <p:spPr>
          <a:xfrm>
            <a:off x="6819900" y="1892250"/>
            <a:ext cx="4406900" cy="289520"/>
          </a:xfrm>
          <a:custGeom>
            <a:avLst/>
            <a:gdLst/>
            <a:ahLst/>
            <a:cxnLst/>
            <a:rect l="l" t="t" r="r" b="b"/>
            <a:pathLst>
              <a:path w="4406900" h="289520">
                <a:moveTo>
                  <a:pt x="144760" y="0"/>
                </a:moveTo>
                <a:lnTo>
                  <a:pt x="4262140" y="0"/>
                </a:lnTo>
                <a:arcTo hR="144760" wR="144760" stAng="16200000" swAng="5400000"/>
                <a:lnTo>
                  <a:pt x="44069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FFFFF"/>
          </a:solidFill>
          <a:ln/>
        </p:spPr>
        <p:txBody>
          <a:bodyPr wrap="square" lIns="127000" tIns="38100" rIns="2413" bIns="1270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busbooking.app/login</a:t>
            </a:r>
            <a:endParaRPr lang="en-US" sz="1200" dirty="0"/>
          </a:p>
        </p:txBody>
      </p:sp>
      <p:sp>
        <p:nvSpPr>
          <p:cNvPr id="13" name="Text 11"/>
          <p:cNvSpPr/>
          <p:nvPr/>
        </p:nvSpPr>
        <p:spPr>
          <a:xfrm>
            <a:off x="6413500" y="2448471"/>
            <a:ext cx="486613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Welcome back</a:t>
            </a:r>
            <a:endParaRPr lang="en-US" sz="1600" dirty="0"/>
          </a:p>
        </p:txBody>
      </p:sp>
      <p:sp>
        <p:nvSpPr>
          <p:cNvPr id="14" name="Text 12"/>
          <p:cNvSpPr/>
          <p:nvPr/>
        </p:nvSpPr>
        <p:spPr>
          <a:xfrm>
            <a:off x="6419850" y="2840881"/>
            <a:ext cx="4711700" cy="353020"/>
          </a:xfrm>
          <a:prstGeom prst="roundRect">
            <a:avLst>
              <a:gd name="adj" fmla="val 19786"/>
            </a:avLst>
          </a:prstGeom>
          <a:solidFill>
            <a:srgbClr val="FFEDD5"/>
          </a:solidFill>
          <a:ln w="12700">
            <a:solidFill>
              <a:srgbClr val="C2410C"/>
            </a:solidFill>
            <a:prstDash val="solid"/>
          </a:ln>
        </p:spPr>
        <p:txBody>
          <a:bodyPr wrap="square" lIns="100192" tIns="49392" rIns="0" bIns="23992" rtlCol="0" anchor="t">
            <a:normAutofit/>
          </a:bodyPr>
          <a:lstStyle/>
          <a:p>
            <a:pPr algn="l" indent="0" marL="0">
              <a:lnSpc>
                <a:spcPts val="1680"/>
              </a:lnSpc>
              <a:buNone/>
            </a:pPr>
            <a:r>
              <a:rPr lang="en-US" sz="1200" b="1" dirty="0">
                <a:solidFill>
                  <a:srgbClr val="7C2D12"/>
                </a:solidFill>
                <a:latin typeface="Arial" pitchFamily="34" charset="0"/>
                <a:ea typeface="Arial" pitchFamily="34" charset="-122"/>
                <a:cs typeface="Arial" pitchFamily="34" charset="-120"/>
              </a:rPr>
              <a:t>Incorrect email or password</a:t>
            </a:r>
            <a:endParaRPr lang="en-US" sz="1200" dirty="0"/>
          </a:p>
        </p:txBody>
      </p:sp>
      <p:sp>
        <p:nvSpPr>
          <p:cNvPr id="15" name="Text 13"/>
          <p:cNvSpPr/>
          <p:nvPr/>
        </p:nvSpPr>
        <p:spPr>
          <a:xfrm>
            <a:off x="6419850" y="3308201"/>
            <a:ext cx="4711700" cy="353020"/>
          </a:xfrm>
          <a:prstGeom prst="roundRect">
            <a:avLst>
              <a:gd name="adj" fmla="val 19786"/>
            </a:avLst>
          </a:prstGeom>
          <a:solidFill>
            <a:srgbClr val="F8FAFC"/>
          </a:solidFill>
          <a:ln w="12700">
            <a:solidFill>
              <a:srgbClr val="CBD5E1"/>
            </a:solidFill>
            <a:prstDash val="solid"/>
          </a:ln>
        </p:spPr>
        <p:txBody>
          <a:bodyPr wrap="square" lIns="100192" tIns="49392" rIns="0" bIns="23992"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Email address</a:t>
            </a:r>
            <a:endParaRPr lang="en-US" sz="1200" dirty="0"/>
          </a:p>
        </p:txBody>
      </p:sp>
      <p:sp>
        <p:nvSpPr>
          <p:cNvPr id="16" name="Text 14"/>
          <p:cNvSpPr/>
          <p:nvPr/>
        </p:nvSpPr>
        <p:spPr>
          <a:xfrm>
            <a:off x="6419850" y="3775521"/>
            <a:ext cx="4711700" cy="353020"/>
          </a:xfrm>
          <a:prstGeom prst="roundRect">
            <a:avLst>
              <a:gd name="adj" fmla="val 19786"/>
            </a:avLst>
          </a:prstGeom>
          <a:solidFill>
            <a:srgbClr val="F8FAFC"/>
          </a:solidFill>
          <a:ln w="12700">
            <a:solidFill>
              <a:srgbClr val="CBD5E1"/>
            </a:solidFill>
            <a:prstDash val="solid"/>
          </a:ln>
        </p:spPr>
        <p:txBody>
          <a:bodyPr wrap="square" lIns="100192" tIns="49392" rIns="0" bIns="23992"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Password</a:t>
            </a:r>
            <a:endParaRPr lang="en-US" sz="1200" dirty="0"/>
          </a:p>
        </p:txBody>
      </p:sp>
      <p:sp>
        <p:nvSpPr>
          <p:cNvPr id="17" name="Text 15"/>
          <p:cNvSpPr/>
          <p:nvPr/>
        </p:nvSpPr>
        <p:spPr>
          <a:xfrm>
            <a:off x="6271768" y="4236492"/>
            <a:ext cx="4866132" cy="238720"/>
          </a:xfrm>
          <a:prstGeom prst="rect">
            <a:avLst/>
          </a:prstGeom>
          <a:noFill/>
          <a:ln/>
        </p:spPr>
        <p:txBody>
          <a:bodyPr wrap="square" lIns="0" tIns="0" rIns="0" bIns="0" rtlCol="0" anchor="t">
            <a:normAutofit/>
          </a:bodyPr>
          <a:lstStyle/>
          <a:p>
            <a:pPr algn="r" indent="0" marL="0">
              <a:lnSpc>
                <a:spcPts val="1680"/>
              </a:lnSpc>
              <a:buNone/>
            </a:pPr>
            <a:r>
              <a:rPr lang="en-US" sz="1200" b="1" u="sng" dirty="0">
                <a:solidFill>
                  <a:srgbClr val="1D4ED8"/>
                </a:solidFill>
                <a:latin typeface="Arial" pitchFamily="34" charset="0"/>
                <a:ea typeface="Arial" pitchFamily="34" charset="-122"/>
                <a:cs typeface="Arial" pitchFamily="34" charset="-120"/>
              </a:rPr>
              <a:t>Forgot password?</a:t>
            </a:r>
            <a:endParaRPr lang="en-US" sz="1200" dirty="0"/>
          </a:p>
        </p:txBody>
      </p:sp>
      <p:sp>
        <p:nvSpPr>
          <p:cNvPr id="18" name="Text 16"/>
          <p:cNvSpPr/>
          <p:nvPr/>
        </p:nvSpPr>
        <p:spPr>
          <a:xfrm>
            <a:off x="6413500" y="4551412"/>
            <a:ext cx="4724400" cy="426690"/>
          </a:xfrm>
          <a:prstGeom prst="roundRect">
            <a:avLst>
              <a:gd name="adj" fmla="val 17858"/>
            </a:avLst>
          </a:prstGeom>
          <a:solidFill>
            <a:srgbClr val="1D4ED8"/>
          </a:solidFill>
          <a:ln/>
        </p:spPr>
        <p:txBody>
          <a:bodyPr wrap="square" lIns="0" tIns="66582" rIns="0" bIns="41182" rtlCol="0" anchor="t">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Login</a:t>
            </a:r>
            <a:endParaRPr lang="en-US" sz="1400" dirty="0"/>
          </a:p>
        </p:txBody>
      </p:sp>
      <p:sp>
        <p:nvSpPr>
          <p:cNvPr id="19" name="Text 17"/>
          <p:cNvSpPr/>
          <p:nvPr/>
        </p:nvSpPr>
        <p:spPr>
          <a:xfrm>
            <a:off x="6342634" y="5079702"/>
            <a:ext cx="48661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34155"/>
                </a:solidFill>
                <a:latin typeface="Arial" pitchFamily="34" charset="0"/>
                <a:ea typeface="Arial" pitchFamily="34" charset="-122"/>
                <a:cs typeface="Arial" pitchFamily="34" charset="-120"/>
              </a:rPr>
              <a:t>New user? </a:t>
            </a:r>
            <a:r>
              <a:rPr lang="en-US" sz="1200" b="1" dirty="0">
                <a:solidFill>
                  <a:srgbClr val="334155"/>
                </a:solidFill>
                <a:latin typeface="Arial" pitchFamily="34" charset="0"/>
                <a:ea typeface="Arial" pitchFamily="34" charset="-122"/>
                <a:cs typeface="Arial" pitchFamily="34" charset="-120"/>
              </a:rPr>
              <a:t>Register</a:t>
            </a:r>
            <a:endParaRPr lang="en-US" sz="1200" dirty="0"/>
          </a:p>
        </p:txBody>
      </p:sp>
      <p:sp>
        <p:nvSpPr>
          <p:cNvPr id="20" name="Text 1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 · Illustrative UI with sample data</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9 / 20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SCREEN 4 · SEARCH BUS</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Find buses for a journey</a:t>
            </a:r>
            <a:endParaRPr lang="en-US" sz="3200" dirty="0"/>
          </a:p>
        </p:txBody>
      </p:sp>
      <p:sp>
        <p:nvSpPr>
          <p:cNvPr id="4" name="Text 2"/>
          <p:cNvSpPr/>
          <p:nvPr/>
        </p:nvSpPr>
        <p:spPr>
          <a:xfrm>
            <a:off x="812800" y="1790650"/>
            <a:ext cx="510159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Search fields</a:t>
            </a:r>
            <a:endParaRPr lang="en-US" sz="1400" dirty="0"/>
          </a:p>
        </p:txBody>
      </p:sp>
      <p:sp>
        <p:nvSpPr>
          <p:cNvPr id="5" name="Text 3"/>
          <p:cNvSpPr/>
          <p:nvPr/>
        </p:nvSpPr>
        <p:spPr>
          <a:xfrm>
            <a:off x="812800" y="2179241"/>
            <a:ext cx="932706" cy="332730"/>
          </a:xfrm>
          <a:prstGeom prst="roundRect">
            <a:avLst>
              <a:gd name="adj" fmla="val 50000"/>
            </a:avLst>
          </a:prstGeom>
          <a:solidFill>
            <a:srgbClr val="DBEAFE"/>
          </a:solidFill>
          <a:ln/>
        </p:spPr>
        <p:txBody>
          <a:bodyPr wrap="none" lIns="0" tIns="0" rIns="0" bIns="0" rtlCol="0" anchor="ctr">
            <a:normAutofit/>
          </a:bodyPr>
          <a:lstStyle/>
          <a:p>
            <a:pPr algn="ctr" indent="0" marL="0">
              <a:lnSpc>
                <a:spcPts val="1820"/>
              </a:lnSpc>
              <a:buNone/>
            </a:pPr>
            <a:r>
              <a:rPr lang="en-US" sz="1300" dirty="0">
                <a:solidFill>
                  <a:srgbClr val="1E3A8A"/>
                </a:solidFill>
                <a:latin typeface="Arial" pitchFamily="34" charset="0"/>
                <a:ea typeface="Arial" pitchFamily="34" charset="-122"/>
                <a:cs typeface="Arial" pitchFamily="34" charset="-120"/>
              </a:rPr>
              <a:t>From city</a:t>
            </a:r>
            <a:endParaRPr lang="en-US" sz="1300" dirty="0"/>
          </a:p>
        </p:txBody>
      </p:sp>
      <p:sp>
        <p:nvSpPr>
          <p:cNvPr id="6" name="Text 4"/>
          <p:cNvSpPr/>
          <p:nvPr/>
        </p:nvSpPr>
        <p:spPr>
          <a:xfrm>
            <a:off x="1821706" y="2179241"/>
            <a:ext cx="721916" cy="332730"/>
          </a:xfrm>
          <a:prstGeom prst="roundRect">
            <a:avLst>
              <a:gd name="adj" fmla="val 50000"/>
            </a:avLst>
          </a:prstGeom>
          <a:solidFill>
            <a:srgbClr val="DBEAFE"/>
          </a:solidFill>
          <a:ln/>
        </p:spPr>
        <p:txBody>
          <a:bodyPr wrap="none" lIns="0" tIns="0" rIns="0" bIns="0" rtlCol="0" anchor="ctr">
            <a:normAutofit/>
          </a:bodyPr>
          <a:lstStyle/>
          <a:p>
            <a:pPr algn="ctr" indent="0" marL="0">
              <a:lnSpc>
                <a:spcPts val="1820"/>
              </a:lnSpc>
              <a:buNone/>
            </a:pPr>
            <a:r>
              <a:rPr lang="en-US" sz="1300" dirty="0">
                <a:solidFill>
                  <a:srgbClr val="1E3A8A"/>
                </a:solidFill>
                <a:latin typeface="Arial" pitchFamily="34" charset="0"/>
                <a:ea typeface="Arial" pitchFamily="34" charset="-122"/>
                <a:cs typeface="Arial" pitchFamily="34" charset="-120"/>
              </a:rPr>
              <a:t>To city</a:t>
            </a:r>
            <a:endParaRPr lang="en-US" sz="1300" dirty="0"/>
          </a:p>
        </p:txBody>
      </p:sp>
      <p:sp>
        <p:nvSpPr>
          <p:cNvPr id="7" name="Text 5"/>
          <p:cNvSpPr/>
          <p:nvPr/>
        </p:nvSpPr>
        <p:spPr>
          <a:xfrm>
            <a:off x="2619821" y="2179241"/>
            <a:ext cx="1208584" cy="332730"/>
          </a:xfrm>
          <a:prstGeom prst="roundRect">
            <a:avLst>
              <a:gd name="adj" fmla="val 50000"/>
            </a:avLst>
          </a:prstGeom>
          <a:solidFill>
            <a:srgbClr val="DBEAFE"/>
          </a:solidFill>
          <a:ln/>
        </p:spPr>
        <p:txBody>
          <a:bodyPr wrap="none" lIns="0" tIns="0" rIns="0" bIns="0" rtlCol="0" anchor="ctr">
            <a:normAutofit/>
          </a:bodyPr>
          <a:lstStyle/>
          <a:p>
            <a:pPr algn="ctr" indent="0" marL="0">
              <a:lnSpc>
                <a:spcPts val="1820"/>
              </a:lnSpc>
              <a:buNone/>
            </a:pPr>
            <a:r>
              <a:rPr lang="en-US" sz="1300" dirty="0">
                <a:solidFill>
                  <a:srgbClr val="1E3A8A"/>
                </a:solidFill>
                <a:latin typeface="Arial" pitchFamily="34" charset="0"/>
                <a:ea typeface="Arial" pitchFamily="34" charset="-122"/>
                <a:cs typeface="Arial" pitchFamily="34" charset="-120"/>
              </a:rPr>
              <a:t>Journey date</a:t>
            </a:r>
            <a:endParaRPr lang="en-US" sz="1300" dirty="0"/>
          </a:p>
        </p:txBody>
      </p:sp>
      <p:sp>
        <p:nvSpPr>
          <p:cNvPr id="8" name="Text 6"/>
          <p:cNvSpPr/>
          <p:nvPr/>
        </p:nvSpPr>
        <p:spPr>
          <a:xfrm>
            <a:off x="812800" y="2651671"/>
            <a:ext cx="510159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Each result shows</a:t>
            </a:r>
            <a:endParaRPr lang="en-US" sz="1400" dirty="0"/>
          </a:p>
        </p:txBody>
      </p:sp>
      <p:sp>
        <p:nvSpPr>
          <p:cNvPr id="9" name="Text 7"/>
          <p:cNvSpPr/>
          <p:nvPr/>
        </p:nvSpPr>
        <p:spPr>
          <a:xfrm>
            <a:off x="910082" y="3040261"/>
            <a:ext cx="4996688" cy="1678880"/>
          </a:xfrm>
          <a:prstGeom prst="rect">
            <a:avLst/>
          </a:prstGeom>
          <a:noFill/>
          <a:ln/>
        </p:spPr>
        <p:txBody>
          <a:bodyPr wrap="square" lIns="0" tIns="0" rIns="0" bIns="0" rtlCol="0" anchor="t">
            <a:normAutofit/>
          </a:bodyPr>
          <a:lstStyle/>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Bus name and type</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Departure and arrival times</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Journey duration</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Ticket price</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Available seats</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A Select Bus button</a:t>
            </a:r>
            <a:endParaRPr lang="en-US" sz="1400" dirty="0"/>
          </a:p>
        </p:txBody>
      </p:sp>
      <p:sp>
        <p:nvSpPr>
          <p:cNvPr id="10" name="Text 8"/>
          <p:cNvSpPr/>
          <p:nvPr/>
        </p:nvSpPr>
        <p:spPr>
          <a:xfrm>
            <a:off x="819150" y="4839791"/>
            <a:ext cx="4940300" cy="447030"/>
          </a:xfrm>
          <a:prstGeom prst="roundRect">
            <a:avLst>
              <a:gd name="adj" fmla="val 21307"/>
            </a:avLst>
          </a:prstGeom>
          <a:solidFill>
            <a:srgbClr val="EFF6FF"/>
          </a:solidFill>
          <a:ln w="12700">
            <a:solidFill>
              <a:srgbClr val="93C5FD"/>
            </a:solidFill>
            <a:prstDash val="solid"/>
          </a:ln>
        </p:spPr>
        <p:txBody>
          <a:bodyPr wrap="square" lIns="118152" tIns="80052" rIns="0" bIns="54652" rtlCol="0" anchor="t">
            <a:normAutofit/>
          </a:bodyPr>
          <a:lstStyle/>
          <a:p>
            <a:pPr algn="l" indent="0" marL="0">
              <a:lnSpc>
                <a:spcPts val="1820"/>
              </a:lnSpc>
              <a:buNone/>
            </a:pPr>
            <a:r>
              <a:rPr lang="en-US" sz="1300" dirty="0">
                <a:solidFill>
                  <a:srgbClr val="1E293B"/>
                </a:solidFill>
                <a:latin typeface="Arial" pitchFamily="34" charset="0"/>
                <a:ea typeface="Arial" pitchFamily="34" charset="-122"/>
                <a:cs typeface="Arial" pitchFamily="34" charset="-120"/>
              </a:rPr>
              <a:t>Only buses matching the selected route and date are shown.</a:t>
            </a:r>
            <a:endParaRPr lang="en-US" sz="1300" dirty="0"/>
          </a:p>
        </p:txBody>
      </p:sp>
      <p:sp>
        <p:nvSpPr>
          <p:cNvPr id="11" name="Shape 9"/>
          <p:cNvSpPr/>
          <p:nvPr/>
        </p:nvSpPr>
        <p:spPr>
          <a:xfrm>
            <a:off x="6178550" y="1797000"/>
            <a:ext cx="5194300" cy="4307532"/>
          </a:xfrm>
          <a:prstGeom prst="roundRect">
            <a:avLst>
              <a:gd name="adj" fmla="val 3391"/>
            </a:avLst>
          </a:prstGeom>
          <a:solidFill>
            <a:srgbClr val="FFFFFF"/>
          </a:solidFill>
          <a:ln w="12700">
            <a:solidFill>
              <a:srgbClr val="CBD5E1"/>
            </a:solidFill>
            <a:prstDash val="solid"/>
          </a:ln>
          <a:effectLst>
            <a:outerShdw sx="100000" sy="100000" kx="0" ky="0" algn="bl" rotWithShape="0" blurRad="254000" dist="76200" dir="5400000">
              <a:srgbClr val="0B2447">
                <a:alpha val="14000"/>
              </a:srgbClr>
            </a:outerShdw>
          </a:effectLst>
        </p:spPr>
      </p:sp>
      <p:sp>
        <p:nvSpPr>
          <p:cNvPr id="12" name="Shape 10"/>
          <p:cNvSpPr/>
          <p:nvPr/>
        </p:nvSpPr>
        <p:spPr>
          <a:xfrm>
            <a:off x="6184900" y="1803350"/>
            <a:ext cx="5181600" cy="467320"/>
          </a:xfrm>
          <a:custGeom>
            <a:avLst/>
            <a:gdLst/>
            <a:ahLst/>
            <a:cxnLst/>
            <a:rect l="l" t="t" r="r" b="b"/>
            <a:pathLst>
              <a:path w="5181600" h="467320">
                <a:moveTo>
                  <a:pt x="0" y="139700"/>
                </a:moveTo>
                <a:arcTo hR="139700" wR="139700" stAng="10800000" swAng="5400000"/>
                <a:lnTo>
                  <a:pt x="5041900" y="0"/>
                </a:lnTo>
                <a:arcTo hR="139700" wR="139700" stAng="16200000" swAng="5400000"/>
                <a:lnTo>
                  <a:pt x="5181600" y="467320"/>
                </a:lnTo>
                <a:lnTo>
                  <a:pt x="0" y="467320"/>
                </a:lnTo>
                <a:close/>
              </a:path>
            </a:pathLst>
          </a:custGeom>
          <a:solidFill>
            <a:srgbClr val="E2E8F0"/>
          </a:solidFill>
          <a:ln/>
        </p:spPr>
      </p:sp>
      <p:sp>
        <p:nvSpPr>
          <p:cNvPr id="13" name="Shape 11"/>
          <p:cNvSpPr/>
          <p:nvPr/>
        </p:nvSpPr>
        <p:spPr>
          <a:xfrm>
            <a:off x="6324600" y="1986211"/>
            <a:ext cx="101600" cy="101600"/>
          </a:xfrm>
          <a:prstGeom prst="roundRect">
            <a:avLst>
              <a:gd name="adj" fmla="val 50000"/>
            </a:avLst>
          </a:prstGeom>
          <a:solidFill>
            <a:srgbClr val="94A3B8"/>
          </a:solidFill>
          <a:ln/>
        </p:spPr>
      </p:sp>
      <p:sp>
        <p:nvSpPr>
          <p:cNvPr id="14" name="Shape 12"/>
          <p:cNvSpPr/>
          <p:nvPr/>
        </p:nvSpPr>
        <p:spPr>
          <a:xfrm>
            <a:off x="6489700" y="1986211"/>
            <a:ext cx="101600" cy="101600"/>
          </a:xfrm>
          <a:prstGeom prst="roundRect">
            <a:avLst>
              <a:gd name="adj" fmla="val 50000"/>
            </a:avLst>
          </a:prstGeom>
          <a:solidFill>
            <a:srgbClr val="94A3B8"/>
          </a:solidFill>
          <a:ln/>
        </p:spPr>
      </p:sp>
      <p:sp>
        <p:nvSpPr>
          <p:cNvPr id="15" name="Shape 13"/>
          <p:cNvSpPr/>
          <p:nvPr/>
        </p:nvSpPr>
        <p:spPr>
          <a:xfrm>
            <a:off x="6654800" y="1986211"/>
            <a:ext cx="101600" cy="101600"/>
          </a:xfrm>
          <a:prstGeom prst="roundRect">
            <a:avLst>
              <a:gd name="adj" fmla="val 50000"/>
            </a:avLst>
          </a:prstGeom>
          <a:solidFill>
            <a:srgbClr val="94A3B8"/>
          </a:solidFill>
          <a:ln/>
        </p:spPr>
      </p:sp>
      <p:sp>
        <p:nvSpPr>
          <p:cNvPr id="16" name="Text 14"/>
          <p:cNvSpPr/>
          <p:nvPr/>
        </p:nvSpPr>
        <p:spPr>
          <a:xfrm>
            <a:off x="6819900" y="1892250"/>
            <a:ext cx="4406900" cy="289520"/>
          </a:xfrm>
          <a:custGeom>
            <a:avLst/>
            <a:gdLst/>
            <a:ahLst/>
            <a:cxnLst/>
            <a:rect l="l" t="t" r="r" b="b"/>
            <a:pathLst>
              <a:path w="4406900" h="289520">
                <a:moveTo>
                  <a:pt x="144760" y="0"/>
                </a:moveTo>
                <a:lnTo>
                  <a:pt x="4262140" y="0"/>
                </a:lnTo>
                <a:arcTo hR="144760" wR="144760" stAng="16200000" swAng="5400000"/>
                <a:lnTo>
                  <a:pt x="44069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FFFFF"/>
          </a:solidFill>
          <a:ln/>
        </p:spPr>
        <p:txBody>
          <a:bodyPr wrap="square" lIns="127000" tIns="38100" rIns="2413" bIns="1270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busbooking.app/search</a:t>
            </a:r>
            <a:endParaRPr lang="en-US" sz="1200" dirty="0"/>
          </a:p>
        </p:txBody>
      </p:sp>
      <p:sp>
        <p:nvSpPr>
          <p:cNvPr id="17" name="Text 15"/>
          <p:cNvSpPr/>
          <p:nvPr/>
        </p:nvSpPr>
        <p:spPr>
          <a:xfrm>
            <a:off x="6362700" y="2410371"/>
            <a:ext cx="49707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Trichy → Chennai · 25/10/2026</a:t>
            </a:r>
            <a:endParaRPr lang="en-US" sz="1400" dirty="0"/>
          </a:p>
        </p:txBody>
      </p:sp>
      <p:sp>
        <p:nvSpPr>
          <p:cNvPr id="18" name="Shape 16"/>
          <p:cNvSpPr/>
          <p:nvPr/>
        </p:nvSpPr>
        <p:spPr>
          <a:xfrm>
            <a:off x="6369050" y="2741811"/>
            <a:ext cx="4813300" cy="1010841"/>
          </a:xfrm>
          <a:prstGeom prst="roundRect">
            <a:avLst>
              <a:gd name="adj" fmla="val 9423"/>
            </a:avLst>
          </a:prstGeom>
          <a:solidFill>
            <a:srgbClr val="F8FAFC"/>
          </a:solidFill>
          <a:ln w="12700">
            <a:solidFill>
              <a:srgbClr val="CBD5E1"/>
            </a:solidFill>
            <a:prstDash val="solid"/>
          </a:ln>
        </p:spPr>
      </p:sp>
      <p:sp>
        <p:nvSpPr>
          <p:cNvPr id="19" name="Text 17"/>
          <p:cNvSpPr/>
          <p:nvPr/>
        </p:nvSpPr>
        <p:spPr>
          <a:xfrm>
            <a:off x="6515100" y="2845941"/>
            <a:ext cx="184981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Blue Line Express</a:t>
            </a:r>
            <a:endParaRPr lang="en-US" sz="1400" dirty="0"/>
          </a:p>
        </p:txBody>
      </p:sp>
      <p:sp>
        <p:nvSpPr>
          <p:cNvPr id="20" name="Text 18"/>
          <p:cNvSpPr/>
          <p:nvPr/>
        </p:nvSpPr>
        <p:spPr>
          <a:xfrm>
            <a:off x="10528439" y="2837061"/>
            <a:ext cx="507861"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1D4ED8"/>
                </a:solidFill>
                <a:latin typeface="Arial" pitchFamily="34" charset="0"/>
                <a:ea typeface="Arial" pitchFamily="34" charset="-122"/>
                <a:cs typeface="Arial" pitchFamily="34" charset="-120"/>
              </a:rPr>
              <a:t>₹450</a:t>
            </a:r>
            <a:endParaRPr lang="en-US" sz="1500" dirty="0"/>
          </a:p>
        </p:txBody>
      </p:sp>
      <p:sp>
        <p:nvSpPr>
          <p:cNvPr id="21" name="Text 19"/>
          <p:cNvSpPr/>
          <p:nvPr/>
        </p:nvSpPr>
        <p:spPr>
          <a:xfrm>
            <a:off x="6515100" y="3129161"/>
            <a:ext cx="46568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155"/>
                </a:solidFill>
                <a:latin typeface="Arial" pitchFamily="34" charset="0"/>
                <a:ea typeface="Arial" pitchFamily="34" charset="-122"/>
                <a:cs typeface="Arial" pitchFamily="34" charset="-120"/>
              </a:rPr>
              <a:t>AC Sleeper · 06:00 → 10:30 · 4h 30m</a:t>
            </a:r>
            <a:endParaRPr lang="en-US" sz="1200" dirty="0"/>
          </a:p>
        </p:txBody>
      </p:sp>
      <p:sp>
        <p:nvSpPr>
          <p:cNvPr id="22" name="Text 20"/>
          <p:cNvSpPr/>
          <p:nvPr/>
        </p:nvSpPr>
        <p:spPr>
          <a:xfrm>
            <a:off x="6515100" y="3405981"/>
            <a:ext cx="146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28 seats available</a:t>
            </a:r>
            <a:endParaRPr lang="en-US" sz="1200" dirty="0"/>
          </a:p>
        </p:txBody>
      </p:sp>
      <p:sp>
        <p:nvSpPr>
          <p:cNvPr id="23" name="Text 21"/>
          <p:cNvSpPr/>
          <p:nvPr/>
        </p:nvSpPr>
        <p:spPr>
          <a:xfrm>
            <a:off x="10003036" y="3367881"/>
            <a:ext cx="1033264" cy="289520"/>
          </a:xfrm>
          <a:custGeom>
            <a:avLst/>
            <a:gdLst/>
            <a:ahLst/>
            <a:cxnLst/>
            <a:rect l="l" t="t" r="r" b="b"/>
            <a:pathLst>
              <a:path w="1033264" h="289520">
                <a:moveTo>
                  <a:pt x="144760" y="0"/>
                </a:moveTo>
                <a:lnTo>
                  <a:pt x="888504" y="0"/>
                </a:lnTo>
                <a:arcTo hR="144760" wR="144760" stAng="16200000" swAng="5400000"/>
                <a:lnTo>
                  <a:pt x="1033264" y="144760"/>
                </a:lnTo>
                <a:arcTo hR="144760" wR="144760" stAng="0" swAng="5400000"/>
                <a:lnTo>
                  <a:pt x="144760" y="289520"/>
                </a:lnTo>
                <a:arcTo hR="144760" wR="144760" stAng="5400000" swAng="5400000"/>
                <a:lnTo>
                  <a:pt x="0" y="144760"/>
                </a:lnTo>
                <a:arcTo hR="144760" wR="144760"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Select Bus</a:t>
            </a:r>
            <a:endParaRPr lang="en-US" sz="1200" dirty="0"/>
          </a:p>
        </p:txBody>
      </p:sp>
      <p:sp>
        <p:nvSpPr>
          <p:cNvPr id="24" name="Shape 22"/>
          <p:cNvSpPr/>
          <p:nvPr/>
        </p:nvSpPr>
        <p:spPr>
          <a:xfrm>
            <a:off x="6369050" y="3841552"/>
            <a:ext cx="4813300" cy="1010841"/>
          </a:xfrm>
          <a:prstGeom prst="roundRect">
            <a:avLst>
              <a:gd name="adj" fmla="val 9423"/>
            </a:avLst>
          </a:prstGeom>
          <a:solidFill>
            <a:srgbClr val="F8FAFC"/>
          </a:solidFill>
          <a:ln w="12700">
            <a:solidFill>
              <a:srgbClr val="CBD5E1"/>
            </a:solidFill>
            <a:prstDash val="solid"/>
          </a:ln>
        </p:spPr>
      </p:sp>
      <p:sp>
        <p:nvSpPr>
          <p:cNvPr id="25" name="Text 23"/>
          <p:cNvSpPr/>
          <p:nvPr/>
        </p:nvSpPr>
        <p:spPr>
          <a:xfrm>
            <a:off x="6515100" y="3945682"/>
            <a:ext cx="16722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City Star Travels</a:t>
            </a:r>
            <a:endParaRPr lang="en-US" sz="1400" dirty="0"/>
          </a:p>
        </p:txBody>
      </p:sp>
      <p:sp>
        <p:nvSpPr>
          <p:cNvPr id="26" name="Text 24"/>
          <p:cNvSpPr/>
          <p:nvPr/>
        </p:nvSpPr>
        <p:spPr>
          <a:xfrm>
            <a:off x="10528439" y="3936802"/>
            <a:ext cx="507861"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1D4ED8"/>
                </a:solidFill>
                <a:latin typeface="Arial" pitchFamily="34" charset="0"/>
                <a:ea typeface="Arial" pitchFamily="34" charset="-122"/>
                <a:cs typeface="Arial" pitchFamily="34" charset="-120"/>
              </a:rPr>
              <a:t>₹320</a:t>
            </a:r>
            <a:endParaRPr lang="en-US" sz="1500" dirty="0"/>
          </a:p>
        </p:txBody>
      </p:sp>
      <p:sp>
        <p:nvSpPr>
          <p:cNvPr id="27" name="Text 25"/>
          <p:cNvSpPr/>
          <p:nvPr/>
        </p:nvSpPr>
        <p:spPr>
          <a:xfrm>
            <a:off x="6515100" y="4228902"/>
            <a:ext cx="46568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155"/>
                </a:solidFill>
                <a:latin typeface="Arial" pitchFamily="34" charset="0"/>
                <a:ea typeface="Arial" pitchFamily="34" charset="-122"/>
                <a:cs typeface="Arial" pitchFamily="34" charset="-120"/>
              </a:rPr>
              <a:t>Non-AC Seater · 09:15 → 14:00 · 4h 45m</a:t>
            </a:r>
            <a:endParaRPr lang="en-US" sz="1200" dirty="0"/>
          </a:p>
        </p:txBody>
      </p:sp>
      <p:sp>
        <p:nvSpPr>
          <p:cNvPr id="28" name="Text 26"/>
          <p:cNvSpPr/>
          <p:nvPr/>
        </p:nvSpPr>
        <p:spPr>
          <a:xfrm>
            <a:off x="6515100" y="4505722"/>
            <a:ext cx="146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17 seats available</a:t>
            </a:r>
            <a:endParaRPr lang="en-US" sz="1200" dirty="0"/>
          </a:p>
        </p:txBody>
      </p:sp>
      <p:sp>
        <p:nvSpPr>
          <p:cNvPr id="29" name="Text 27"/>
          <p:cNvSpPr/>
          <p:nvPr/>
        </p:nvSpPr>
        <p:spPr>
          <a:xfrm>
            <a:off x="10003036" y="4467622"/>
            <a:ext cx="1033264" cy="289520"/>
          </a:xfrm>
          <a:custGeom>
            <a:avLst/>
            <a:gdLst/>
            <a:ahLst/>
            <a:cxnLst/>
            <a:rect l="l" t="t" r="r" b="b"/>
            <a:pathLst>
              <a:path w="1033264" h="289520">
                <a:moveTo>
                  <a:pt x="144760" y="0"/>
                </a:moveTo>
                <a:lnTo>
                  <a:pt x="888504" y="0"/>
                </a:lnTo>
                <a:arcTo hR="144760" wR="144760" stAng="16200000" swAng="5400000"/>
                <a:lnTo>
                  <a:pt x="1033264" y="144760"/>
                </a:lnTo>
                <a:arcTo hR="144760" wR="144760" stAng="0" swAng="5400000"/>
                <a:lnTo>
                  <a:pt x="144760" y="289520"/>
                </a:lnTo>
                <a:arcTo hR="144760" wR="144760" stAng="5400000" swAng="5400000"/>
                <a:lnTo>
                  <a:pt x="0" y="144760"/>
                </a:lnTo>
                <a:arcTo hR="144760" wR="144760"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Select Bus</a:t>
            </a:r>
            <a:endParaRPr lang="en-US" sz="1200" dirty="0"/>
          </a:p>
        </p:txBody>
      </p:sp>
      <p:sp>
        <p:nvSpPr>
          <p:cNvPr id="30" name="Shape 28"/>
          <p:cNvSpPr/>
          <p:nvPr/>
        </p:nvSpPr>
        <p:spPr>
          <a:xfrm>
            <a:off x="6369050" y="4941292"/>
            <a:ext cx="4813300" cy="1010841"/>
          </a:xfrm>
          <a:prstGeom prst="roundRect">
            <a:avLst>
              <a:gd name="adj" fmla="val 9423"/>
            </a:avLst>
          </a:prstGeom>
          <a:solidFill>
            <a:srgbClr val="F8FAFC"/>
          </a:solidFill>
          <a:ln w="12700">
            <a:solidFill>
              <a:srgbClr val="CBD5E1"/>
            </a:solidFill>
            <a:prstDash val="solid"/>
          </a:ln>
        </p:spPr>
      </p:sp>
      <p:sp>
        <p:nvSpPr>
          <p:cNvPr id="31" name="Text 29"/>
          <p:cNvSpPr/>
          <p:nvPr/>
        </p:nvSpPr>
        <p:spPr>
          <a:xfrm>
            <a:off x="6515100" y="5045422"/>
            <a:ext cx="16722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Sunrise Express</a:t>
            </a:r>
            <a:endParaRPr lang="en-US" sz="1400" dirty="0"/>
          </a:p>
        </p:txBody>
      </p:sp>
      <p:sp>
        <p:nvSpPr>
          <p:cNvPr id="32" name="Text 30"/>
          <p:cNvSpPr/>
          <p:nvPr/>
        </p:nvSpPr>
        <p:spPr>
          <a:xfrm>
            <a:off x="10528439" y="5036542"/>
            <a:ext cx="507861"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1D4ED8"/>
                </a:solidFill>
                <a:latin typeface="Arial" pitchFamily="34" charset="0"/>
                <a:ea typeface="Arial" pitchFamily="34" charset="-122"/>
                <a:cs typeface="Arial" pitchFamily="34" charset="-120"/>
              </a:rPr>
              <a:t>₹520</a:t>
            </a:r>
            <a:endParaRPr lang="en-US" sz="1500" dirty="0"/>
          </a:p>
        </p:txBody>
      </p:sp>
      <p:sp>
        <p:nvSpPr>
          <p:cNvPr id="33" name="Text 31"/>
          <p:cNvSpPr/>
          <p:nvPr/>
        </p:nvSpPr>
        <p:spPr>
          <a:xfrm>
            <a:off x="6515100" y="5328642"/>
            <a:ext cx="46568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155"/>
                </a:solidFill>
                <a:latin typeface="Arial" pitchFamily="34" charset="0"/>
                <a:ea typeface="Arial" pitchFamily="34" charset="-122"/>
                <a:cs typeface="Arial" pitchFamily="34" charset="-120"/>
              </a:rPr>
              <a:t>AC Seater · 22:30 → 03:15 · 4h 45m</a:t>
            </a:r>
            <a:endParaRPr lang="en-US" sz="1200" dirty="0"/>
          </a:p>
        </p:txBody>
      </p:sp>
      <p:sp>
        <p:nvSpPr>
          <p:cNvPr id="34" name="Text 32"/>
          <p:cNvSpPr/>
          <p:nvPr/>
        </p:nvSpPr>
        <p:spPr>
          <a:xfrm>
            <a:off x="6515100" y="5605463"/>
            <a:ext cx="1464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35 seats available</a:t>
            </a:r>
            <a:endParaRPr lang="en-US" sz="1200" dirty="0"/>
          </a:p>
        </p:txBody>
      </p:sp>
      <p:sp>
        <p:nvSpPr>
          <p:cNvPr id="35" name="Text 33"/>
          <p:cNvSpPr/>
          <p:nvPr/>
        </p:nvSpPr>
        <p:spPr>
          <a:xfrm>
            <a:off x="10003036" y="5567363"/>
            <a:ext cx="1033264" cy="289520"/>
          </a:xfrm>
          <a:custGeom>
            <a:avLst/>
            <a:gdLst/>
            <a:ahLst/>
            <a:cxnLst/>
            <a:rect l="l" t="t" r="r" b="b"/>
            <a:pathLst>
              <a:path w="1033264" h="289520">
                <a:moveTo>
                  <a:pt x="144760" y="0"/>
                </a:moveTo>
                <a:lnTo>
                  <a:pt x="888504" y="0"/>
                </a:lnTo>
                <a:arcTo hR="144760" wR="144760" stAng="16200000" swAng="5400000"/>
                <a:lnTo>
                  <a:pt x="1033264" y="144760"/>
                </a:lnTo>
                <a:arcTo hR="144760" wR="144760" stAng="0" swAng="5400000"/>
                <a:lnTo>
                  <a:pt x="144760" y="289520"/>
                </a:lnTo>
                <a:arcTo hR="144760" wR="144760" stAng="5400000" swAng="5400000"/>
                <a:lnTo>
                  <a:pt x="0" y="144760"/>
                </a:lnTo>
                <a:arcTo hR="144760" wR="144760"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Select Bus</a:t>
            </a:r>
            <a:endParaRPr lang="en-US" sz="1200" dirty="0"/>
          </a:p>
        </p:txBody>
      </p:sp>
      <p:sp>
        <p:nvSpPr>
          <p:cNvPr id="36" name="Text 3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 · Illustrative UI with sample data</a:t>
            </a:r>
            <a:endParaRPr lang="en-US" sz="1200" dirty="0"/>
          </a:p>
        </p:txBody>
      </p:sp>
      <p:sp>
        <p:nvSpPr>
          <p:cNvPr id="37" name="Text 3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10 / 20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SCREEN 5 · SELECT BUS</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Compare and choose a bus</a:t>
            </a:r>
            <a:endParaRPr lang="en-US" sz="3200" dirty="0"/>
          </a:p>
        </p:txBody>
      </p:sp>
      <p:sp>
        <p:nvSpPr>
          <p:cNvPr id="4" name="Text 2"/>
          <p:cNvSpPr/>
          <p:nvPr/>
        </p:nvSpPr>
        <p:spPr>
          <a:xfrm>
            <a:off x="812800" y="1790650"/>
            <a:ext cx="510159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2447"/>
                </a:solidFill>
                <a:latin typeface="Arial" pitchFamily="34" charset="0"/>
                <a:ea typeface="Arial" pitchFamily="34" charset="-122"/>
                <a:cs typeface="Arial" pitchFamily="34" charset="-120"/>
              </a:rPr>
              <a:t>After searching, users compare the options and pick their preferred bus.</a:t>
            </a:r>
            <a:endParaRPr lang="en-US" sz="1500" dirty="0"/>
          </a:p>
        </p:txBody>
      </p:sp>
      <p:sp>
        <p:nvSpPr>
          <p:cNvPr id="5" name="Text 3"/>
          <p:cNvSpPr/>
          <p:nvPr/>
        </p:nvSpPr>
        <p:spPr>
          <a:xfrm>
            <a:off x="812800" y="2476450"/>
            <a:ext cx="510159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Bus details</a:t>
            </a:r>
            <a:endParaRPr lang="en-US" sz="1400" dirty="0"/>
          </a:p>
        </p:txBody>
      </p:sp>
      <p:sp>
        <p:nvSpPr>
          <p:cNvPr id="6" name="Text 4"/>
          <p:cNvSpPr/>
          <p:nvPr/>
        </p:nvSpPr>
        <p:spPr>
          <a:xfrm>
            <a:off x="910082" y="2877741"/>
            <a:ext cx="4996688" cy="1403300"/>
          </a:xfrm>
          <a:prstGeom prst="rect">
            <a:avLst/>
          </a:prstGeom>
          <a:noFill/>
          <a:ln/>
        </p:spPr>
        <p:txBody>
          <a:bodyPr wrap="square" lIns="0" tIns="0" rIns="0" bIns="0" rtlCol="0" anchor="t">
            <a:normAutofit/>
          </a:bodyPr>
          <a:lstStyle/>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Bus operator and bus type</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Departure and arrival locations</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Travel time</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Ticket price</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Seat availability</a:t>
            </a:r>
            <a:endParaRPr lang="en-US" sz="1400" dirty="0"/>
          </a:p>
        </p:txBody>
      </p:sp>
      <p:sp>
        <p:nvSpPr>
          <p:cNvPr id="7" name="Text 5"/>
          <p:cNvSpPr/>
          <p:nvPr/>
        </p:nvSpPr>
        <p:spPr>
          <a:xfrm>
            <a:off x="819150" y="4414391"/>
            <a:ext cx="4940300" cy="678160"/>
          </a:xfrm>
          <a:prstGeom prst="roundRect">
            <a:avLst>
              <a:gd name="adj" fmla="val 14045"/>
            </a:avLst>
          </a:prstGeom>
          <a:solidFill>
            <a:srgbClr val="EFF6FF"/>
          </a:solidFill>
          <a:ln w="12700">
            <a:solidFill>
              <a:srgbClr val="93C5FD"/>
            </a:solidFill>
            <a:prstDash val="solid"/>
          </a:ln>
        </p:spPr>
        <p:txBody>
          <a:bodyPr wrap="square" lIns="118152" tIns="80052" rIns="0" bIns="54652" rtlCol="0" anchor="t">
            <a:normAutofit/>
          </a:bodyPr>
          <a:lstStyle/>
          <a:p>
            <a:pPr algn="l" indent="0" marL="0">
              <a:lnSpc>
                <a:spcPts val="1820"/>
              </a:lnSpc>
              <a:buNone/>
            </a:pPr>
            <a:r>
              <a:rPr lang="en-US" sz="1300" dirty="0">
                <a:solidFill>
                  <a:srgbClr val="1E293B"/>
                </a:solidFill>
                <a:latin typeface="Arial" pitchFamily="34" charset="0"/>
                <a:ea typeface="Arial" pitchFamily="34" charset="-122"/>
                <a:cs typeface="Arial" pitchFamily="34" charset="-120"/>
              </a:rPr>
              <a:t>Clicking Select Bus opens the seat selection page for that bus and schedule.</a:t>
            </a:r>
            <a:endParaRPr lang="en-US" sz="1300" dirty="0"/>
          </a:p>
        </p:txBody>
      </p:sp>
      <p:sp>
        <p:nvSpPr>
          <p:cNvPr id="8" name="Shape 6"/>
          <p:cNvSpPr/>
          <p:nvPr/>
        </p:nvSpPr>
        <p:spPr>
          <a:xfrm>
            <a:off x="6178550" y="1797000"/>
            <a:ext cx="5194300" cy="3847852"/>
          </a:xfrm>
          <a:prstGeom prst="roundRect">
            <a:avLst>
              <a:gd name="adj" fmla="val 3796"/>
            </a:avLst>
          </a:prstGeom>
          <a:solidFill>
            <a:srgbClr val="FFFFFF"/>
          </a:solidFill>
          <a:ln w="12700">
            <a:solidFill>
              <a:srgbClr val="CBD5E1"/>
            </a:solidFill>
            <a:prstDash val="solid"/>
          </a:ln>
          <a:effectLst>
            <a:outerShdw sx="100000" sy="100000" kx="0" ky="0" algn="bl" rotWithShape="0" blurRad="254000" dist="76200" dir="5400000">
              <a:srgbClr val="0B2447">
                <a:alpha val="14000"/>
              </a:srgbClr>
            </a:outerShdw>
          </a:effectLst>
        </p:spPr>
      </p:sp>
      <p:sp>
        <p:nvSpPr>
          <p:cNvPr id="9" name="Shape 7"/>
          <p:cNvSpPr/>
          <p:nvPr/>
        </p:nvSpPr>
        <p:spPr>
          <a:xfrm>
            <a:off x="6184900" y="1803350"/>
            <a:ext cx="5181600" cy="467320"/>
          </a:xfrm>
          <a:custGeom>
            <a:avLst/>
            <a:gdLst/>
            <a:ahLst/>
            <a:cxnLst/>
            <a:rect l="l" t="t" r="r" b="b"/>
            <a:pathLst>
              <a:path w="5181600" h="467320">
                <a:moveTo>
                  <a:pt x="0" y="139700"/>
                </a:moveTo>
                <a:arcTo hR="139700" wR="139700" stAng="10800000" swAng="5400000"/>
                <a:lnTo>
                  <a:pt x="5041900" y="0"/>
                </a:lnTo>
                <a:arcTo hR="139700" wR="139700" stAng="16200000" swAng="5400000"/>
                <a:lnTo>
                  <a:pt x="5181600" y="467320"/>
                </a:lnTo>
                <a:lnTo>
                  <a:pt x="0" y="467320"/>
                </a:lnTo>
                <a:close/>
              </a:path>
            </a:pathLst>
          </a:custGeom>
          <a:solidFill>
            <a:srgbClr val="E2E8F0"/>
          </a:solidFill>
          <a:ln/>
        </p:spPr>
      </p:sp>
      <p:sp>
        <p:nvSpPr>
          <p:cNvPr id="10" name="Shape 8"/>
          <p:cNvSpPr/>
          <p:nvPr/>
        </p:nvSpPr>
        <p:spPr>
          <a:xfrm>
            <a:off x="6324600" y="1986211"/>
            <a:ext cx="101600" cy="101600"/>
          </a:xfrm>
          <a:prstGeom prst="roundRect">
            <a:avLst>
              <a:gd name="adj" fmla="val 50000"/>
            </a:avLst>
          </a:prstGeom>
          <a:solidFill>
            <a:srgbClr val="94A3B8"/>
          </a:solidFill>
          <a:ln/>
        </p:spPr>
      </p:sp>
      <p:sp>
        <p:nvSpPr>
          <p:cNvPr id="11" name="Shape 9"/>
          <p:cNvSpPr/>
          <p:nvPr/>
        </p:nvSpPr>
        <p:spPr>
          <a:xfrm>
            <a:off x="6489700" y="1986211"/>
            <a:ext cx="101600" cy="101600"/>
          </a:xfrm>
          <a:prstGeom prst="roundRect">
            <a:avLst>
              <a:gd name="adj" fmla="val 50000"/>
            </a:avLst>
          </a:prstGeom>
          <a:solidFill>
            <a:srgbClr val="94A3B8"/>
          </a:solidFill>
          <a:ln/>
        </p:spPr>
      </p:sp>
      <p:sp>
        <p:nvSpPr>
          <p:cNvPr id="12" name="Shape 10"/>
          <p:cNvSpPr/>
          <p:nvPr/>
        </p:nvSpPr>
        <p:spPr>
          <a:xfrm>
            <a:off x="6654800" y="1986211"/>
            <a:ext cx="101600" cy="101600"/>
          </a:xfrm>
          <a:prstGeom prst="roundRect">
            <a:avLst>
              <a:gd name="adj" fmla="val 50000"/>
            </a:avLst>
          </a:prstGeom>
          <a:solidFill>
            <a:srgbClr val="94A3B8"/>
          </a:solidFill>
          <a:ln/>
        </p:spPr>
      </p:sp>
      <p:sp>
        <p:nvSpPr>
          <p:cNvPr id="13" name="Text 11"/>
          <p:cNvSpPr/>
          <p:nvPr/>
        </p:nvSpPr>
        <p:spPr>
          <a:xfrm>
            <a:off x="6819900" y="1892250"/>
            <a:ext cx="4406900" cy="289520"/>
          </a:xfrm>
          <a:custGeom>
            <a:avLst/>
            <a:gdLst/>
            <a:ahLst/>
            <a:cxnLst/>
            <a:rect l="l" t="t" r="r" b="b"/>
            <a:pathLst>
              <a:path w="4406900" h="289520">
                <a:moveTo>
                  <a:pt x="144760" y="0"/>
                </a:moveTo>
                <a:lnTo>
                  <a:pt x="4262140" y="0"/>
                </a:lnTo>
                <a:arcTo hR="144760" wR="144760" stAng="16200000" swAng="5400000"/>
                <a:lnTo>
                  <a:pt x="44069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FFFFF"/>
          </a:solidFill>
          <a:ln/>
        </p:spPr>
        <p:txBody>
          <a:bodyPr wrap="square" lIns="127000" tIns="38100" rIns="2413" bIns="1270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busbooking.app/bus/details</a:t>
            </a:r>
            <a:endParaRPr lang="en-US" sz="1200" dirty="0"/>
          </a:p>
        </p:txBody>
      </p:sp>
      <p:sp>
        <p:nvSpPr>
          <p:cNvPr id="14" name="Shape 12"/>
          <p:cNvSpPr/>
          <p:nvPr/>
        </p:nvSpPr>
        <p:spPr>
          <a:xfrm>
            <a:off x="6372225" y="2432596"/>
            <a:ext cx="4806950" cy="2238871"/>
          </a:xfrm>
          <a:prstGeom prst="roundRect">
            <a:avLst>
              <a:gd name="adj" fmla="val 5247"/>
            </a:avLst>
          </a:prstGeom>
          <a:solidFill>
            <a:srgbClr val="EFF6FF"/>
          </a:solidFill>
          <a:ln w="19050">
            <a:solidFill>
              <a:srgbClr val="1D4ED8"/>
            </a:solidFill>
            <a:prstDash val="solid"/>
          </a:ln>
        </p:spPr>
      </p:sp>
      <p:sp>
        <p:nvSpPr>
          <p:cNvPr id="15" name="Text 13"/>
          <p:cNvSpPr/>
          <p:nvPr/>
        </p:nvSpPr>
        <p:spPr>
          <a:xfrm>
            <a:off x="6534150" y="2603401"/>
            <a:ext cx="211407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Blue Line Express</a:t>
            </a:r>
            <a:endParaRPr lang="en-US" sz="1600" dirty="0"/>
          </a:p>
        </p:txBody>
      </p:sp>
      <p:sp>
        <p:nvSpPr>
          <p:cNvPr id="16" name="Text 14"/>
          <p:cNvSpPr/>
          <p:nvPr/>
        </p:nvSpPr>
        <p:spPr>
          <a:xfrm>
            <a:off x="9965978" y="2597696"/>
            <a:ext cx="1048097" cy="295870"/>
          </a:xfrm>
          <a:prstGeom prst="roundRect">
            <a:avLst>
              <a:gd name="adj" fmla="val 50000"/>
            </a:avLst>
          </a:prstGeom>
          <a:solidFill>
            <a:srgbClr val="DBEAFE"/>
          </a:solidFill>
          <a:ln w="6350">
            <a:solidFill>
              <a:srgbClr val="1D4ED8"/>
            </a:solidFill>
            <a:prstDash val="solid"/>
          </a:ln>
        </p:spPr>
        <p:txBody>
          <a:bodyPr wrap="none" lIns="0" tIns="0" rIns="0" bIns="0" rtlCol="0" anchor="ctr">
            <a:normAutofit/>
          </a:bodyPr>
          <a:lstStyle/>
          <a:p>
            <a:pPr algn="ctr" indent="0" marL="0">
              <a:lnSpc>
                <a:spcPts val="1680"/>
              </a:lnSpc>
              <a:buNone/>
            </a:pPr>
            <a:r>
              <a:rPr lang="en-US" sz="1200" b="1" dirty="0">
                <a:solidFill>
                  <a:srgbClr val="1E3A8A"/>
                </a:solidFill>
                <a:latin typeface="Arial" pitchFamily="34" charset="0"/>
                <a:ea typeface="Arial" pitchFamily="34" charset="-122"/>
                <a:cs typeface="Arial" pitchFamily="34" charset="-120"/>
              </a:rPr>
              <a:t>AC Sleeper</a:t>
            </a:r>
            <a:endParaRPr lang="en-US" sz="1200" dirty="0"/>
          </a:p>
        </p:txBody>
      </p:sp>
      <p:sp>
        <p:nvSpPr>
          <p:cNvPr id="17" name="Text 15"/>
          <p:cNvSpPr/>
          <p:nvPr/>
        </p:nvSpPr>
        <p:spPr>
          <a:xfrm>
            <a:off x="6534150" y="3011041"/>
            <a:ext cx="62364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06:00</a:t>
            </a:r>
            <a:endParaRPr lang="en-US" sz="1600" dirty="0"/>
          </a:p>
        </p:txBody>
      </p:sp>
      <p:sp>
        <p:nvSpPr>
          <p:cNvPr id="18" name="Text 16"/>
          <p:cNvSpPr/>
          <p:nvPr/>
        </p:nvSpPr>
        <p:spPr>
          <a:xfrm>
            <a:off x="6534150" y="3295501"/>
            <a:ext cx="5705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Trichy</a:t>
            </a:r>
            <a:endParaRPr lang="en-US" sz="1200" dirty="0"/>
          </a:p>
        </p:txBody>
      </p:sp>
      <p:sp>
        <p:nvSpPr>
          <p:cNvPr id="19" name="Text 17"/>
          <p:cNvSpPr/>
          <p:nvPr/>
        </p:nvSpPr>
        <p:spPr>
          <a:xfrm>
            <a:off x="8436536" y="3131046"/>
            <a:ext cx="630257"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D4ED8"/>
                </a:solidFill>
                <a:latin typeface="Arial" pitchFamily="34" charset="0"/>
                <a:ea typeface="Arial" pitchFamily="34" charset="-122"/>
                <a:cs typeface="Arial" pitchFamily="34" charset="-120"/>
              </a:rPr>
              <a:t>4h 30m</a:t>
            </a:r>
            <a:endParaRPr lang="en-US" sz="1200" dirty="0"/>
          </a:p>
        </p:txBody>
      </p:sp>
      <p:pic>
        <p:nvPicPr>
          <p:cNvPr id="20" name="Image 0" descr="line">    </p:cNvPr>
          <p:cNvPicPr>
            <a:picLocks noChangeAspect="1"/>
          </p:cNvPicPr>
          <p:nvPr/>
        </p:nvPicPr>
        <p:blipFill>
          <a:blip r:embed="rId1"/>
          <a:srcRect l="0" r="0" t="-24" b="-24"/>
          <a:stretch/>
        </p:blipFill>
        <p:spPr>
          <a:xfrm>
            <a:off x="7155458" y="3369766"/>
            <a:ext cx="3192463" cy="19050"/>
          </a:xfrm>
          <a:prstGeom prst="rect">
            <a:avLst/>
          </a:prstGeom>
        </p:spPr>
      </p:pic>
      <p:sp>
        <p:nvSpPr>
          <p:cNvPr id="21" name="Text 18"/>
          <p:cNvSpPr/>
          <p:nvPr/>
        </p:nvSpPr>
        <p:spPr>
          <a:xfrm>
            <a:off x="10393601" y="3011041"/>
            <a:ext cx="623649"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0B2447"/>
                </a:solidFill>
                <a:latin typeface="Arial" pitchFamily="34" charset="0"/>
                <a:ea typeface="Arial" pitchFamily="34" charset="-122"/>
                <a:cs typeface="Arial" pitchFamily="34" charset="-120"/>
              </a:rPr>
              <a:t>10:30</a:t>
            </a:r>
            <a:endParaRPr lang="en-US" sz="1600" dirty="0"/>
          </a:p>
        </p:txBody>
      </p:sp>
      <p:sp>
        <p:nvSpPr>
          <p:cNvPr id="22" name="Text 19"/>
          <p:cNvSpPr/>
          <p:nvPr/>
        </p:nvSpPr>
        <p:spPr>
          <a:xfrm>
            <a:off x="10449520" y="3295501"/>
            <a:ext cx="6812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Chennai</a:t>
            </a:r>
            <a:endParaRPr lang="en-US" sz="1200" dirty="0"/>
          </a:p>
        </p:txBody>
      </p:sp>
      <p:sp>
        <p:nvSpPr>
          <p:cNvPr id="23" name="Text 20"/>
          <p:cNvSpPr/>
          <p:nvPr/>
        </p:nvSpPr>
        <p:spPr>
          <a:xfrm>
            <a:off x="6537325" y="3626296"/>
            <a:ext cx="1306264" cy="339080"/>
          </a:xfrm>
          <a:prstGeom prst="roundRect">
            <a:avLst>
              <a:gd name="adj" fmla="val 50000"/>
            </a:avLst>
          </a:prstGeom>
          <a:solidFill>
            <a:srgbClr val="FFFFFF"/>
          </a:solidFill>
          <a:ln w="6350">
            <a:solidFill>
              <a:srgbClr val="CBD5E1"/>
            </a:solidFill>
            <a:prstDash val="solid"/>
          </a:ln>
        </p:spPr>
        <p:txBody>
          <a:bodyPr wrap="none" lIns="0" tIns="0" rIns="0" bIns="0" rtlCol="0" anchor="ctr">
            <a:normAutofit/>
          </a:bodyPr>
          <a:lstStyle/>
          <a:p>
            <a:pPr algn="ctr" indent="0" marL="0">
              <a:lnSpc>
                <a:spcPts val="1820"/>
              </a:lnSpc>
              <a:buNone/>
            </a:pPr>
            <a:r>
              <a:rPr lang="en-US" sz="1300" b="1" dirty="0">
                <a:solidFill>
                  <a:srgbClr val="0B2447"/>
                </a:solidFill>
                <a:latin typeface="Arial" pitchFamily="34" charset="0"/>
                <a:ea typeface="Arial" pitchFamily="34" charset="-122"/>
                <a:cs typeface="Arial" pitchFamily="34" charset="-120"/>
              </a:rPr>
              <a:t>₹450 per seat</a:t>
            </a:r>
            <a:endParaRPr lang="en-US" sz="1300" dirty="0"/>
          </a:p>
        </p:txBody>
      </p:sp>
      <p:sp>
        <p:nvSpPr>
          <p:cNvPr id="24" name="Text 21"/>
          <p:cNvSpPr/>
          <p:nvPr/>
        </p:nvSpPr>
        <p:spPr>
          <a:xfrm>
            <a:off x="7926139" y="3626296"/>
            <a:ext cx="1655564" cy="339080"/>
          </a:xfrm>
          <a:prstGeom prst="roundRect">
            <a:avLst>
              <a:gd name="adj" fmla="val 50000"/>
            </a:avLst>
          </a:prstGeom>
          <a:solidFill>
            <a:srgbClr val="CCFBF1"/>
          </a:solidFill>
          <a:ln w="6350">
            <a:solidFill>
              <a:srgbClr val="0F766E"/>
            </a:solidFill>
            <a:prstDash val="solid"/>
          </a:ln>
        </p:spPr>
        <p:txBody>
          <a:bodyPr wrap="none" lIns="0" tIns="0" rIns="0" bIns="0" rtlCol="0" anchor="ctr">
            <a:normAutofit/>
          </a:bodyPr>
          <a:lstStyle/>
          <a:p>
            <a:pPr algn="ctr" indent="0" marL="0">
              <a:lnSpc>
                <a:spcPts val="1820"/>
              </a:lnSpc>
              <a:buNone/>
            </a:pPr>
            <a:r>
              <a:rPr lang="en-US" sz="1300" b="1" dirty="0">
                <a:solidFill>
                  <a:srgbClr val="134E4A"/>
                </a:solidFill>
                <a:latin typeface="Arial" pitchFamily="34" charset="0"/>
                <a:ea typeface="Arial" pitchFamily="34" charset="-122"/>
                <a:cs typeface="Arial" pitchFamily="34" charset="-120"/>
              </a:rPr>
              <a:t>28 seats available</a:t>
            </a:r>
            <a:endParaRPr lang="en-US" sz="1300" dirty="0"/>
          </a:p>
        </p:txBody>
      </p:sp>
      <p:sp>
        <p:nvSpPr>
          <p:cNvPr id="25" name="Text 22"/>
          <p:cNvSpPr/>
          <p:nvPr/>
        </p:nvSpPr>
        <p:spPr>
          <a:xfrm>
            <a:off x="6534150" y="4082852"/>
            <a:ext cx="4483100" cy="426690"/>
          </a:xfrm>
          <a:prstGeom prst="roundRect">
            <a:avLst>
              <a:gd name="adj" fmla="val 17858"/>
            </a:avLst>
          </a:prstGeom>
          <a:solidFill>
            <a:srgbClr val="1D4ED8"/>
          </a:solidFill>
          <a:ln/>
        </p:spPr>
        <p:txBody>
          <a:bodyPr wrap="square" lIns="2002" tIns="66582" rIns="2002" bIns="41182" rtlCol="0" anchor="t">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Select Bus →</a:t>
            </a:r>
            <a:endParaRPr lang="en-US" sz="1400" dirty="0"/>
          </a:p>
        </p:txBody>
      </p:sp>
      <p:sp>
        <p:nvSpPr>
          <p:cNvPr id="26" name="Shape 23"/>
          <p:cNvSpPr/>
          <p:nvPr/>
        </p:nvSpPr>
        <p:spPr>
          <a:xfrm>
            <a:off x="6369050" y="4801642"/>
            <a:ext cx="4813300" cy="678111"/>
          </a:xfrm>
          <a:prstGeom prst="roundRect">
            <a:avLst>
              <a:gd name="adj" fmla="val 14046"/>
            </a:avLst>
          </a:prstGeom>
          <a:solidFill>
            <a:srgbClr val="F8FAFC"/>
          </a:solidFill>
          <a:ln w="12700">
            <a:solidFill>
              <a:srgbClr val="CBD5E1"/>
            </a:solidFill>
            <a:prstDash val="solid"/>
          </a:ln>
        </p:spPr>
      </p:sp>
      <p:sp>
        <p:nvSpPr>
          <p:cNvPr id="27" name="Text 24"/>
          <p:cNvSpPr/>
          <p:nvPr/>
        </p:nvSpPr>
        <p:spPr>
          <a:xfrm>
            <a:off x="6515100" y="4909592"/>
            <a:ext cx="223373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City Star Travels</a:t>
            </a:r>
            <a:endParaRPr lang="en-US" sz="1400" dirty="0"/>
          </a:p>
        </p:txBody>
      </p:sp>
      <p:sp>
        <p:nvSpPr>
          <p:cNvPr id="28" name="Text 25"/>
          <p:cNvSpPr/>
          <p:nvPr/>
        </p:nvSpPr>
        <p:spPr>
          <a:xfrm>
            <a:off x="6515100" y="5158482"/>
            <a:ext cx="26024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Non-AC Seater · 09:15 → 14:00</a:t>
            </a:r>
            <a:endParaRPr lang="en-US" sz="1200" dirty="0"/>
          </a:p>
        </p:txBody>
      </p:sp>
      <p:sp>
        <p:nvSpPr>
          <p:cNvPr id="29" name="Text 26"/>
          <p:cNvSpPr/>
          <p:nvPr/>
        </p:nvSpPr>
        <p:spPr>
          <a:xfrm>
            <a:off x="10528439" y="5007322"/>
            <a:ext cx="507861"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1D4ED8"/>
                </a:solidFill>
                <a:latin typeface="Arial" pitchFamily="34" charset="0"/>
                <a:ea typeface="Arial" pitchFamily="34" charset="-122"/>
                <a:cs typeface="Arial" pitchFamily="34" charset="-120"/>
              </a:rPr>
              <a:t>₹320</a:t>
            </a:r>
            <a:endParaRPr lang="en-US" sz="1500" dirty="0"/>
          </a:p>
        </p:txBody>
      </p:sp>
      <p:sp>
        <p:nvSpPr>
          <p:cNvPr id="30"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 · Illustrative UI with sample data</a:t>
            </a:r>
            <a:endParaRPr lang="en-US" sz="1200" dirty="0"/>
          </a:p>
        </p:txBody>
      </p:sp>
      <p:sp>
        <p:nvSpPr>
          <p:cNvPr id="31"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11 / 20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SCREEN 6 · SELECT SEAT</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Pick seats on a visual layout</a:t>
            </a:r>
            <a:endParaRPr lang="en-US" sz="3200" dirty="0"/>
          </a:p>
        </p:txBody>
      </p:sp>
      <p:sp>
        <p:nvSpPr>
          <p:cNvPr id="4" name="Shape 2"/>
          <p:cNvSpPr/>
          <p:nvPr/>
        </p:nvSpPr>
        <p:spPr>
          <a:xfrm>
            <a:off x="819150" y="1798241"/>
            <a:ext cx="215900" cy="215900"/>
          </a:xfrm>
          <a:prstGeom prst="roundRect">
            <a:avLst>
              <a:gd name="adj" fmla="val 20588"/>
            </a:avLst>
          </a:prstGeom>
          <a:solidFill>
            <a:srgbClr val="FFFFFF"/>
          </a:solidFill>
          <a:ln w="12700">
            <a:solidFill>
              <a:srgbClr val="1D4ED8"/>
            </a:solidFill>
            <a:prstDash val="solid"/>
          </a:ln>
        </p:spPr>
      </p:sp>
      <p:sp>
        <p:nvSpPr>
          <p:cNvPr id="5" name="Text 3"/>
          <p:cNvSpPr/>
          <p:nvPr/>
        </p:nvSpPr>
        <p:spPr>
          <a:xfrm>
            <a:off x="1104900" y="1790650"/>
            <a:ext cx="80045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2447"/>
                </a:solidFill>
                <a:latin typeface="Arial" pitchFamily="34" charset="0"/>
                <a:ea typeface="Arial" pitchFamily="34" charset="-122"/>
                <a:cs typeface="Arial" pitchFamily="34" charset="-120"/>
              </a:rPr>
              <a:t>Available</a:t>
            </a:r>
            <a:endParaRPr lang="en-US" sz="1300" dirty="0"/>
          </a:p>
        </p:txBody>
      </p:sp>
      <p:sp>
        <p:nvSpPr>
          <p:cNvPr id="6" name="Shape 4"/>
          <p:cNvSpPr/>
          <p:nvPr/>
        </p:nvSpPr>
        <p:spPr>
          <a:xfrm>
            <a:off x="1956098" y="1798241"/>
            <a:ext cx="215900" cy="215900"/>
          </a:xfrm>
          <a:prstGeom prst="roundRect">
            <a:avLst>
              <a:gd name="adj" fmla="val 20588"/>
            </a:avLst>
          </a:prstGeom>
          <a:solidFill>
            <a:srgbClr val="1D4ED8"/>
          </a:solidFill>
          <a:ln w="12700">
            <a:solidFill>
              <a:srgbClr val="1D4ED8"/>
            </a:solidFill>
            <a:prstDash val="solid"/>
          </a:ln>
        </p:spPr>
      </p:sp>
      <p:sp>
        <p:nvSpPr>
          <p:cNvPr id="7" name="Text 5"/>
          <p:cNvSpPr/>
          <p:nvPr/>
        </p:nvSpPr>
        <p:spPr>
          <a:xfrm>
            <a:off x="2241848" y="1790650"/>
            <a:ext cx="77104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2447"/>
                </a:solidFill>
                <a:latin typeface="Arial" pitchFamily="34" charset="0"/>
                <a:ea typeface="Arial" pitchFamily="34" charset="-122"/>
                <a:cs typeface="Arial" pitchFamily="34" charset="-120"/>
              </a:rPr>
              <a:t>Selected</a:t>
            </a:r>
            <a:endParaRPr lang="en-US" sz="1300" dirty="0"/>
          </a:p>
        </p:txBody>
      </p:sp>
      <p:sp>
        <p:nvSpPr>
          <p:cNvPr id="8" name="Shape 6"/>
          <p:cNvSpPr/>
          <p:nvPr/>
        </p:nvSpPr>
        <p:spPr>
          <a:xfrm>
            <a:off x="3068538" y="1798241"/>
            <a:ext cx="215900" cy="215900"/>
          </a:xfrm>
          <a:prstGeom prst="roundRect">
            <a:avLst>
              <a:gd name="adj" fmla="val 20588"/>
            </a:avLst>
          </a:prstGeom>
          <a:solidFill>
            <a:srgbClr val="CBD5E1"/>
          </a:solidFill>
          <a:ln w="12700">
            <a:solidFill>
              <a:srgbClr val="CBD5E1"/>
            </a:solidFill>
            <a:prstDash val="solid"/>
          </a:ln>
        </p:spPr>
      </p:sp>
      <p:sp>
        <p:nvSpPr>
          <p:cNvPr id="9" name="Text 7"/>
          <p:cNvSpPr/>
          <p:nvPr/>
        </p:nvSpPr>
        <p:spPr>
          <a:xfrm>
            <a:off x="3354288" y="1790650"/>
            <a:ext cx="67198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2447"/>
                </a:solidFill>
                <a:latin typeface="Arial" pitchFamily="34" charset="0"/>
                <a:ea typeface="Arial" pitchFamily="34" charset="-122"/>
                <a:cs typeface="Arial" pitchFamily="34" charset="-120"/>
              </a:rPr>
              <a:t>Booked</a:t>
            </a:r>
            <a:endParaRPr lang="en-US" sz="1300" dirty="0"/>
          </a:p>
        </p:txBody>
      </p:sp>
      <p:sp>
        <p:nvSpPr>
          <p:cNvPr id="10" name="Text 8"/>
          <p:cNvSpPr/>
          <p:nvPr/>
        </p:nvSpPr>
        <p:spPr>
          <a:xfrm>
            <a:off x="910082" y="2161480"/>
            <a:ext cx="4996688" cy="1678880"/>
          </a:xfrm>
          <a:prstGeom prst="rect">
            <a:avLst/>
          </a:prstGeom>
          <a:noFill/>
          <a:ln/>
        </p:spPr>
        <p:txBody>
          <a:bodyPr wrap="square" lIns="0" tIns="0" rIns="0" bIns="0" rtlCol="0" anchor="t">
            <a:normAutofit/>
          </a:bodyPr>
          <a:lstStyle/>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View available and booked seats</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Select one or more seats</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Show the selected seat numbers</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Calculate the total ticket amount</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Temporarily lock selected seats during checkout</a:t>
            </a:r>
            <a:endParaRPr lang="en-US" sz="1400" dirty="0"/>
          </a:p>
          <a:p>
            <a:pPr algn="l" marL="156718" indent="-156718">
              <a:lnSpc>
                <a:spcPts val="2170"/>
              </a:lnSpc>
              <a:buSzPct val="100000"/>
              <a:buChar char="•"/>
            </a:pPr>
            <a:r>
              <a:rPr lang="en-US" sz="1400" dirty="0">
                <a:solidFill>
                  <a:srgbClr val="334155"/>
                </a:solidFill>
                <a:latin typeface="Arial" pitchFamily="34" charset="0"/>
                <a:ea typeface="Arial" pitchFamily="34" charset="-122"/>
                <a:cs typeface="Arial" pitchFamily="34" charset="-120"/>
              </a:rPr>
              <a:t>Prevent two users from booking the same seat</a:t>
            </a:r>
            <a:endParaRPr lang="en-US" sz="1400" dirty="0"/>
          </a:p>
        </p:txBody>
      </p:sp>
      <p:sp>
        <p:nvSpPr>
          <p:cNvPr id="11" name="Shape 9"/>
          <p:cNvSpPr/>
          <p:nvPr/>
        </p:nvSpPr>
        <p:spPr>
          <a:xfrm>
            <a:off x="6178550" y="1797000"/>
            <a:ext cx="5194300" cy="3995341"/>
          </a:xfrm>
          <a:prstGeom prst="roundRect">
            <a:avLst>
              <a:gd name="adj" fmla="val 3656"/>
            </a:avLst>
          </a:prstGeom>
          <a:solidFill>
            <a:srgbClr val="FFFFFF"/>
          </a:solidFill>
          <a:ln w="12700">
            <a:solidFill>
              <a:srgbClr val="CBD5E1"/>
            </a:solidFill>
            <a:prstDash val="solid"/>
          </a:ln>
          <a:effectLst>
            <a:outerShdw sx="100000" sy="100000" kx="0" ky="0" algn="bl" rotWithShape="0" blurRad="254000" dist="76200" dir="5400000">
              <a:srgbClr val="0B2447">
                <a:alpha val="14000"/>
              </a:srgbClr>
            </a:outerShdw>
          </a:effectLst>
        </p:spPr>
      </p:sp>
      <p:sp>
        <p:nvSpPr>
          <p:cNvPr id="12" name="Shape 10"/>
          <p:cNvSpPr/>
          <p:nvPr/>
        </p:nvSpPr>
        <p:spPr>
          <a:xfrm>
            <a:off x="6184900" y="1803350"/>
            <a:ext cx="5181600" cy="467320"/>
          </a:xfrm>
          <a:custGeom>
            <a:avLst/>
            <a:gdLst/>
            <a:ahLst/>
            <a:cxnLst/>
            <a:rect l="l" t="t" r="r" b="b"/>
            <a:pathLst>
              <a:path w="5181600" h="467320">
                <a:moveTo>
                  <a:pt x="0" y="139700"/>
                </a:moveTo>
                <a:arcTo hR="139700" wR="139700" stAng="10800000" swAng="5400000"/>
                <a:lnTo>
                  <a:pt x="5041900" y="0"/>
                </a:lnTo>
                <a:arcTo hR="139700" wR="139700" stAng="16200000" swAng="5400000"/>
                <a:lnTo>
                  <a:pt x="5181600" y="467320"/>
                </a:lnTo>
                <a:lnTo>
                  <a:pt x="0" y="467320"/>
                </a:lnTo>
                <a:close/>
              </a:path>
            </a:pathLst>
          </a:custGeom>
          <a:solidFill>
            <a:srgbClr val="E2E8F0"/>
          </a:solidFill>
          <a:ln/>
        </p:spPr>
      </p:sp>
      <p:sp>
        <p:nvSpPr>
          <p:cNvPr id="13" name="Shape 11"/>
          <p:cNvSpPr/>
          <p:nvPr/>
        </p:nvSpPr>
        <p:spPr>
          <a:xfrm>
            <a:off x="6324600" y="1986211"/>
            <a:ext cx="101600" cy="101600"/>
          </a:xfrm>
          <a:prstGeom prst="roundRect">
            <a:avLst>
              <a:gd name="adj" fmla="val 50000"/>
            </a:avLst>
          </a:prstGeom>
          <a:solidFill>
            <a:srgbClr val="94A3B8"/>
          </a:solidFill>
          <a:ln/>
        </p:spPr>
      </p:sp>
      <p:sp>
        <p:nvSpPr>
          <p:cNvPr id="14" name="Shape 12"/>
          <p:cNvSpPr/>
          <p:nvPr/>
        </p:nvSpPr>
        <p:spPr>
          <a:xfrm>
            <a:off x="6489700" y="1986211"/>
            <a:ext cx="101600" cy="101600"/>
          </a:xfrm>
          <a:prstGeom prst="roundRect">
            <a:avLst>
              <a:gd name="adj" fmla="val 50000"/>
            </a:avLst>
          </a:prstGeom>
          <a:solidFill>
            <a:srgbClr val="94A3B8"/>
          </a:solidFill>
          <a:ln/>
        </p:spPr>
      </p:sp>
      <p:sp>
        <p:nvSpPr>
          <p:cNvPr id="15" name="Shape 13"/>
          <p:cNvSpPr/>
          <p:nvPr/>
        </p:nvSpPr>
        <p:spPr>
          <a:xfrm>
            <a:off x="6654800" y="1986211"/>
            <a:ext cx="101600" cy="101600"/>
          </a:xfrm>
          <a:prstGeom prst="roundRect">
            <a:avLst>
              <a:gd name="adj" fmla="val 50000"/>
            </a:avLst>
          </a:prstGeom>
          <a:solidFill>
            <a:srgbClr val="94A3B8"/>
          </a:solidFill>
          <a:ln/>
        </p:spPr>
      </p:sp>
      <p:sp>
        <p:nvSpPr>
          <p:cNvPr id="16" name="Text 14"/>
          <p:cNvSpPr/>
          <p:nvPr/>
        </p:nvSpPr>
        <p:spPr>
          <a:xfrm>
            <a:off x="6819900" y="1892250"/>
            <a:ext cx="4406900" cy="289520"/>
          </a:xfrm>
          <a:custGeom>
            <a:avLst/>
            <a:gdLst/>
            <a:ahLst/>
            <a:cxnLst/>
            <a:rect l="l" t="t" r="r" b="b"/>
            <a:pathLst>
              <a:path w="4406900" h="289520">
                <a:moveTo>
                  <a:pt x="144760" y="0"/>
                </a:moveTo>
                <a:lnTo>
                  <a:pt x="4262140" y="0"/>
                </a:lnTo>
                <a:arcTo hR="144760" wR="144760" stAng="16200000" swAng="5400000"/>
                <a:lnTo>
                  <a:pt x="44069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FFFFF"/>
          </a:solidFill>
          <a:ln/>
        </p:spPr>
        <p:txBody>
          <a:bodyPr wrap="square" lIns="127000" tIns="38100" rIns="2413" bIns="1270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busbooking.app/seats</a:t>
            </a:r>
            <a:endParaRPr lang="en-US" sz="1200" dirty="0"/>
          </a:p>
        </p:txBody>
      </p:sp>
      <p:sp>
        <p:nvSpPr>
          <p:cNvPr id="17" name="Shape 15"/>
          <p:cNvSpPr/>
          <p:nvPr/>
        </p:nvSpPr>
        <p:spPr>
          <a:xfrm>
            <a:off x="6337300" y="2423071"/>
            <a:ext cx="2540000" cy="3210520"/>
          </a:xfrm>
          <a:prstGeom prst="roundRect">
            <a:avLst>
              <a:gd name="adj" fmla="val 5000"/>
            </a:avLst>
          </a:prstGeom>
          <a:solidFill>
            <a:srgbClr val="F1F5F9"/>
          </a:solidFill>
          <a:ln/>
        </p:spPr>
      </p:sp>
      <p:sp>
        <p:nvSpPr>
          <p:cNvPr id="18" name="Text 16"/>
          <p:cNvSpPr/>
          <p:nvPr/>
        </p:nvSpPr>
        <p:spPr>
          <a:xfrm>
            <a:off x="6430010" y="2550071"/>
            <a:ext cx="2354580"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55657A"/>
                </a:solidFill>
                <a:latin typeface="Arial" pitchFamily="34" charset="0"/>
                <a:ea typeface="Arial" pitchFamily="34" charset="-122"/>
                <a:cs typeface="Arial" pitchFamily="34" charset="-120"/>
              </a:rPr>
              <a:t>FRONT</a:t>
            </a:r>
            <a:endParaRPr lang="en-US" sz="1200" dirty="0"/>
          </a:p>
        </p:txBody>
      </p:sp>
      <p:sp>
        <p:nvSpPr>
          <p:cNvPr id="19" name="Text 17"/>
          <p:cNvSpPr/>
          <p:nvPr/>
        </p:nvSpPr>
        <p:spPr>
          <a:xfrm>
            <a:off x="6572250" y="28459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1A</a:t>
            </a:r>
            <a:endParaRPr lang="en-US" sz="1200" dirty="0"/>
          </a:p>
        </p:txBody>
      </p:sp>
      <p:sp>
        <p:nvSpPr>
          <p:cNvPr id="20" name="Text 18"/>
          <p:cNvSpPr/>
          <p:nvPr/>
        </p:nvSpPr>
        <p:spPr>
          <a:xfrm>
            <a:off x="7029450" y="28459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1B</a:t>
            </a:r>
            <a:endParaRPr lang="en-US" sz="1200" dirty="0"/>
          </a:p>
        </p:txBody>
      </p:sp>
      <p:sp>
        <p:nvSpPr>
          <p:cNvPr id="21" name="Text 19"/>
          <p:cNvSpPr/>
          <p:nvPr/>
        </p:nvSpPr>
        <p:spPr>
          <a:xfrm>
            <a:off x="7816850" y="2845941"/>
            <a:ext cx="368300" cy="368300"/>
          </a:xfrm>
          <a:prstGeom prst="roundRect">
            <a:avLst>
              <a:gd name="adj" fmla="val 15517"/>
            </a:avLst>
          </a:prstGeom>
          <a:solidFill>
            <a:srgbClr val="CBD5E1"/>
          </a:solidFill>
          <a:ln w="12700">
            <a:solidFill>
              <a:srgbClr val="CBD5E1"/>
            </a:solidFill>
            <a:prstDash val="solid"/>
          </a:ln>
        </p:spPr>
        <p:txBody>
          <a:bodyPr wrap="square" lIns="0" tIns="0" rIns="0" bIns="0" rtlCol="0" anchor="ctr">
            <a:normAutofit/>
          </a:bodyPr>
          <a:lstStyle/>
          <a:p>
            <a:pPr algn="ctr" indent="0" marL="0">
              <a:lnSpc>
                <a:spcPts val="1680"/>
              </a:lnSpc>
              <a:buNone/>
            </a:pPr>
            <a:r>
              <a:rPr lang="en-US" sz="1200" b="1" dirty="0">
                <a:solidFill>
                  <a:srgbClr val="475569"/>
                </a:solidFill>
                <a:latin typeface="Arial" pitchFamily="34" charset="0"/>
                <a:ea typeface="Arial" pitchFamily="34" charset="-122"/>
                <a:cs typeface="Arial" pitchFamily="34" charset="-120"/>
              </a:rPr>
              <a:t>1C</a:t>
            </a:r>
            <a:endParaRPr lang="en-US" sz="1200" dirty="0"/>
          </a:p>
        </p:txBody>
      </p:sp>
      <p:sp>
        <p:nvSpPr>
          <p:cNvPr id="22" name="Text 20"/>
          <p:cNvSpPr/>
          <p:nvPr/>
        </p:nvSpPr>
        <p:spPr>
          <a:xfrm>
            <a:off x="8274050" y="28459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1D</a:t>
            </a:r>
            <a:endParaRPr lang="en-US" sz="1200" dirty="0"/>
          </a:p>
        </p:txBody>
      </p:sp>
      <p:sp>
        <p:nvSpPr>
          <p:cNvPr id="23" name="Text 21"/>
          <p:cNvSpPr/>
          <p:nvPr/>
        </p:nvSpPr>
        <p:spPr>
          <a:xfrm>
            <a:off x="6572250" y="3303141"/>
            <a:ext cx="368300" cy="368300"/>
          </a:xfrm>
          <a:prstGeom prst="roundRect">
            <a:avLst>
              <a:gd name="adj" fmla="val 15517"/>
            </a:avLst>
          </a:prstGeom>
          <a:solidFill>
            <a:srgbClr val="CBD5E1"/>
          </a:solidFill>
          <a:ln w="12700">
            <a:solidFill>
              <a:srgbClr val="CBD5E1"/>
            </a:solidFill>
            <a:prstDash val="solid"/>
          </a:ln>
        </p:spPr>
        <p:txBody>
          <a:bodyPr wrap="square" lIns="0" tIns="0" rIns="0" bIns="0" rtlCol="0" anchor="ctr">
            <a:normAutofit/>
          </a:bodyPr>
          <a:lstStyle/>
          <a:p>
            <a:pPr algn="ctr" indent="0" marL="0">
              <a:lnSpc>
                <a:spcPts val="1680"/>
              </a:lnSpc>
              <a:buNone/>
            </a:pPr>
            <a:r>
              <a:rPr lang="en-US" sz="1200" b="1" dirty="0">
                <a:solidFill>
                  <a:srgbClr val="475569"/>
                </a:solidFill>
                <a:latin typeface="Arial" pitchFamily="34" charset="0"/>
                <a:ea typeface="Arial" pitchFamily="34" charset="-122"/>
                <a:cs typeface="Arial" pitchFamily="34" charset="-120"/>
              </a:rPr>
              <a:t>2A</a:t>
            </a:r>
            <a:endParaRPr lang="en-US" sz="1200" dirty="0"/>
          </a:p>
        </p:txBody>
      </p:sp>
      <p:sp>
        <p:nvSpPr>
          <p:cNvPr id="24" name="Text 22"/>
          <p:cNvSpPr/>
          <p:nvPr/>
        </p:nvSpPr>
        <p:spPr>
          <a:xfrm>
            <a:off x="7029450" y="3303141"/>
            <a:ext cx="368300" cy="368300"/>
          </a:xfrm>
          <a:prstGeom prst="roundRect">
            <a:avLst>
              <a:gd name="adj" fmla="val 15517"/>
            </a:avLst>
          </a:prstGeom>
          <a:solidFill>
            <a:srgbClr val="CBD5E1"/>
          </a:solidFill>
          <a:ln w="12700">
            <a:solidFill>
              <a:srgbClr val="CBD5E1"/>
            </a:solidFill>
            <a:prstDash val="solid"/>
          </a:ln>
        </p:spPr>
        <p:txBody>
          <a:bodyPr wrap="square" lIns="0" tIns="0" rIns="0" bIns="0" rtlCol="0" anchor="ctr">
            <a:normAutofit/>
          </a:bodyPr>
          <a:lstStyle/>
          <a:p>
            <a:pPr algn="ctr" indent="0" marL="0">
              <a:lnSpc>
                <a:spcPts val="1680"/>
              </a:lnSpc>
              <a:buNone/>
            </a:pPr>
            <a:r>
              <a:rPr lang="en-US" sz="1200" b="1" dirty="0">
                <a:solidFill>
                  <a:srgbClr val="475569"/>
                </a:solidFill>
                <a:latin typeface="Arial" pitchFamily="34" charset="0"/>
                <a:ea typeface="Arial" pitchFamily="34" charset="-122"/>
                <a:cs typeface="Arial" pitchFamily="34" charset="-120"/>
              </a:rPr>
              <a:t>2B</a:t>
            </a:r>
            <a:endParaRPr lang="en-US" sz="1200" dirty="0"/>
          </a:p>
        </p:txBody>
      </p:sp>
      <p:sp>
        <p:nvSpPr>
          <p:cNvPr id="25" name="Text 23"/>
          <p:cNvSpPr/>
          <p:nvPr/>
        </p:nvSpPr>
        <p:spPr>
          <a:xfrm>
            <a:off x="7816850" y="33031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2C</a:t>
            </a:r>
            <a:endParaRPr lang="en-US" sz="1200" dirty="0"/>
          </a:p>
        </p:txBody>
      </p:sp>
      <p:sp>
        <p:nvSpPr>
          <p:cNvPr id="26" name="Text 24"/>
          <p:cNvSpPr/>
          <p:nvPr/>
        </p:nvSpPr>
        <p:spPr>
          <a:xfrm>
            <a:off x="8274050" y="33031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2D</a:t>
            </a:r>
            <a:endParaRPr lang="en-US" sz="1200" dirty="0"/>
          </a:p>
        </p:txBody>
      </p:sp>
      <p:sp>
        <p:nvSpPr>
          <p:cNvPr id="27" name="Text 25"/>
          <p:cNvSpPr/>
          <p:nvPr/>
        </p:nvSpPr>
        <p:spPr>
          <a:xfrm>
            <a:off x="6572250" y="3760341"/>
            <a:ext cx="368300" cy="368300"/>
          </a:xfrm>
          <a:prstGeom prst="roundRect">
            <a:avLst>
              <a:gd name="adj" fmla="val 15517"/>
            </a:avLst>
          </a:prstGeom>
          <a:solidFill>
            <a:srgbClr val="1D4ED8"/>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3A</a:t>
            </a:r>
            <a:endParaRPr lang="en-US" sz="1200" dirty="0"/>
          </a:p>
        </p:txBody>
      </p:sp>
      <p:sp>
        <p:nvSpPr>
          <p:cNvPr id="28" name="Text 26"/>
          <p:cNvSpPr/>
          <p:nvPr/>
        </p:nvSpPr>
        <p:spPr>
          <a:xfrm>
            <a:off x="7029450" y="3760341"/>
            <a:ext cx="368300" cy="368300"/>
          </a:xfrm>
          <a:prstGeom prst="roundRect">
            <a:avLst>
              <a:gd name="adj" fmla="val 15517"/>
            </a:avLst>
          </a:prstGeom>
          <a:solidFill>
            <a:srgbClr val="1D4ED8"/>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3B</a:t>
            </a:r>
            <a:endParaRPr lang="en-US" sz="1200" dirty="0"/>
          </a:p>
        </p:txBody>
      </p:sp>
      <p:sp>
        <p:nvSpPr>
          <p:cNvPr id="29" name="Text 27"/>
          <p:cNvSpPr/>
          <p:nvPr/>
        </p:nvSpPr>
        <p:spPr>
          <a:xfrm>
            <a:off x="7816850" y="37603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3C</a:t>
            </a:r>
            <a:endParaRPr lang="en-US" sz="1200" dirty="0"/>
          </a:p>
        </p:txBody>
      </p:sp>
      <p:sp>
        <p:nvSpPr>
          <p:cNvPr id="30" name="Text 28"/>
          <p:cNvSpPr/>
          <p:nvPr/>
        </p:nvSpPr>
        <p:spPr>
          <a:xfrm>
            <a:off x="8274050" y="37603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3D</a:t>
            </a:r>
            <a:endParaRPr lang="en-US" sz="1200" dirty="0"/>
          </a:p>
        </p:txBody>
      </p:sp>
      <p:sp>
        <p:nvSpPr>
          <p:cNvPr id="31" name="Text 29"/>
          <p:cNvSpPr/>
          <p:nvPr/>
        </p:nvSpPr>
        <p:spPr>
          <a:xfrm>
            <a:off x="6572250" y="42175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4A</a:t>
            </a:r>
            <a:endParaRPr lang="en-US" sz="1200" dirty="0"/>
          </a:p>
        </p:txBody>
      </p:sp>
      <p:sp>
        <p:nvSpPr>
          <p:cNvPr id="32" name="Text 30"/>
          <p:cNvSpPr/>
          <p:nvPr/>
        </p:nvSpPr>
        <p:spPr>
          <a:xfrm>
            <a:off x="7029450" y="42175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4B</a:t>
            </a:r>
            <a:endParaRPr lang="en-US" sz="1200" dirty="0"/>
          </a:p>
        </p:txBody>
      </p:sp>
      <p:sp>
        <p:nvSpPr>
          <p:cNvPr id="33" name="Text 31"/>
          <p:cNvSpPr/>
          <p:nvPr/>
        </p:nvSpPr>
        <p:spPr>
          <a:xfrm>
            <a:off x="7816850" y="42175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4C</a:t>
            </a:r>
            <a:endParaRPr lang="en-US" sz="1200" dirty="0"/>
          </a:p>
        </p:txBody>
      </p:sp>
      <p:sp>
        <p:nvSpPr>
          <p:cNvPr id="34" name="Text 32"/>
          <p:cNvSpPr/>
          <p:nvPr/>
        </p:nvSpPr>
        <p:spPr>
          <a:xfrm>
            <a:off x="8274050" y="4217541"/>
            <a:ext cx="368300" cy="368300"/>
          </a:xfrm>
          <a:prstGeom prst="roundRect">
            <a:avLst>
              <a:gd name="adj" fmla="val 15517"/>
            </a:avLst>
          </a:prstGeom>
          <a:solidFill>
            <a:srgbClr val="CBD5E1"/>
          </a:solidFill>
          <a:ln w="12700">
            <a:solidFill>
              <a:srgbClr val="CBD5E1"/>
            </a:solidFill>
            <a:prstDash val="solid"/>
          </a:ln>
        </p:spPr>
        <p:txBody>
          <a:bodyPr wrap="square" lIns="0" tIns="0" rIns="0" bIns="0" rtlCol="0" anchor="ctr">
            <a:normAutofit/>
          </a:bodyPr>
          <a:lstStyle/>
          <a:p>
            <a:pPr algn="ctr" indent="0" marL="0">
              <a:lnSpc>
                <a:spcPts val="1680"/>
              </a:lnSpc>
              <a:buNone/>
            </a:pPr>
            <a:r>
              <a:rPr lang="en-US" sz="1200" b="1" dirty="0">
                <a:solidFill>
                  <a:srgbClr val="475569"/>
                </a:solidFill>
                <a:latin typeface="Arial" pitchFamily="34" charset="0"/>
                <a:ea typeface="Arial" pitchFamily="34" charset="-122"/>
                <a:cs typeface="Arial" pitchFamily="34" charset="-120"/>
              </a:rPr>
              <a:t>4D</a:t>
            </a:r>
            <a:endParaRPr lang="en-US" sz="1200" dirty="0"/>
          </a:p>
        </p:txBody>
      </p:sp>
      <p:sp>
        <p:nvSpPr>
          <p:cNvPr id="35" name="Text 33"/>
          <p:cNvSpPr/>
          <p:nvPr/>
        </p:nvSpPr>
        <p:spPr>
          <a:xfrm>
            <a:off x="6572250" y="4674741"/>
            <a:ext cx="368300" cy="368300"/>
          </a:xfrm>
          <a:prstGeom prst="roundRect">
            <a:avLst>
              <a:gd name="adj" fmla="val 15517"/>
            </a:avLst>
          </a:prstGeom>
          <a:solidFill>
            <a:srgbClr val="CBD5E1"/>
          </a:solidFill>
          <a:ln w="12700">
            <a:solidFill>
              <a:srgbClr val="CBD5E1"/>
            </a:solidFill>
            <a:prstDash val="solid"/>
          </a:ln>
        </p:spPr>
        <p:txBody>
          <a:bodyPr wrap="square" lIns="0" tIns="0" rIns="0" bIns="0" rtlCol="0" anchor="ctr">
            <a:normAutofit/>
          </a:bodyPr>
          <a:lstStyle/>
          <a:p>
            <a:pPr algn="ctr" indent="0" marL="0">
              <a:lnSpc>
                <a:spcPts val="1680"/>
              </a:lnSpc>
              <a:buNone/>
            </a:pPr>
            <a:r>
              <a:rPr lang="en-US" sz="1200" b="1" dirty="0">
                <a:solidFill>
                  <a:srgbClr val="475569"/>
                </a:solidFill>
                <a:latin typeface="Arial" pitchFamily="34" charset="0"/>
                <a:ea typeface="Arial" pitchFamily="34" charset="-122"/>
                <a:cs typeface="Arial" pitchFamily="34" charset="-120"/>
              </a:rPr>
              <a:t>5A</a:t>
            </a:r>
            <a:endParaRPr lang="en-US" sz="1200" dirty="0"/>
          </a:p>
        </p:txBody>
      </p:sp>
      <p:sp>
        <p:nvSpPr>
          <p:cNvPr id="36" name="Text 34"/>
          <p:cNvSpPr/>
          <p:nvPr/>
        </p:nvSpPr>
        <p:spPr>
          <a:xfrm>
            <a:off x="7029450" y="46747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5B</a:t>
            </a:r>
            <a:endParaRPr lang="en-US" sz="1200" dirty="0"/>
          </a:p>
        </p:txBody>
      </p:sp>
      <p:sp>
        <p:nvSpPr>
          <p:cNvPr id="37" name="Text 35"/>
          <p:cNvSpPr/>
          <p:nvPr/>
        </p:nvSpPr>
        <p:spPr>
          <a:xfrm>
            <a:off x="7816850" y="46747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5C</a:t>
            </a:r>
            <a:endParaRPr lang="en-US" sz="1200" dirty="0"/>
          </a:p>
        </p:txBody>
      </p:sp>
      <p:sp>
        <p:nvSpPr>
          <p:cNvPr id="38" name="Text 36"/>
          <p:cNvSpPr/>
          <p:nvPr/>
        </p:nvSpPr>
        <p:spPr>
          <a:xfrm>
            <a:off x="8274050" y="46747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5D</a:t>
            </a:r>
            <a:endParaRPr lang="en-US" sz="1200" dirty="0"/>
          </a:p>
        </p:txBody>
      </p:sp>
      <p:sp>
        <p:nvSpPr>
          <p:cNvPr id="39" name="Text 37"/>
          <p:cNvSpPr/>
          <p:nvPr/>
        </p:nvSpPr>
        <p:spPr>
          <a:xfrm>
            <a:off x="6572250" y="51319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6A</a:t>
            </a:r>
            <a:endParaRPr lang="en-US" sz="1200" dirty="0"/>
          </a:p>
        </p:txBody>
      </p:sp>
      <p:sp>
        <p:nvSpPr>
          <p:cNvPr id="40" name="Text 38"/>
          <p:cNvSpPr/>
          <p:nvPr/>
        </p:nvSpPr>
        <p:spPr>
          <a:xfrm>
            <a:off x="7029450" y="51319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6B</a:t>
            </a:r>
            <a:endParaRPr lang="en-US" sz="1200" dirty="0"/>
          </a:p>
        </p:txBody>
      </p:sp>
      <p:sp>
        <p:nvSpPr>
          <p:cNvPr id="41" name="Text 39"/>
          <p:cNvSpPr/>
          <p:nvPr/>
        </p:nvSpPr>
        <p:spPr>
          <a:xfrm>
            <a:off x="7816850" y="5131941"/>
            <a:ext cx="368300" cy="368300"/>
          </a:xfrm>
          <a:prstGeom prst="roundRect">
            <a:avLst>
              <a:gd name="adj" fmla="val 15517"/>
            </a:avLst>
          </a:prstGeom>
          <a:solidFill>
            <a:srgbClr val="CBD5E1"/>
          </a:solidFill>
          <a:ln w="12700">
            <a:solidFill>
              <a:srgbClr val="CBD5E1"/>
            </a:solidFill>
            <a:prstDash val="solid"/>
          </a:ln>
        </p:spPr>
        <p:txBody>
          <a:bodyPr wrap="square" lIns="0" tIns="0" rIns="0" bIns="0" rtlCol="0" anchor="ctr">
            <a:normAutofit/>
          </a:bodyPr>
          <a:lstStyle/>
          <a:p>
            <a:pPr algn="ctr" indent="0" marL="0">
              <a:lnSpc>
                <a:spcPts val="1680"/>
              </a:lnSpc>
              <a:buNone/>
            </a:pPr>
            <a:r>
              <a:rPr lang="en-US" sz="1200" b="1" dirty="0">
                <a:solidFill>
                  <a:srgbClr val="475569"/>
                </a:solidFill>
                <a:latin typeface="Arial" pitchFamily="34" charset="0"/>
                <a:ea typeface="Arial" pitchFamily="34" charset="-122"/>
                <a:cs typeface="Arial" pitchFamily="34" charset="-120"/>
              </a:rPr>
              <a:t>6C</a:t>
            </a:r>
            <a:endParaRPr lang="en-US" sz="1200" dirty="0"/>
          </a:p>
        </p:txBody>
      </p:sp>
      <p:sp>
        <p:nvSpPr>
          <p:cNvPr id="42" name="Text 40"/>
          <p:cNvSpPr/>
          <p:nvPr/>
        </p:nvSpPr>
        <p:spPr>
          <a:xfrm>
            <a:off x="8274050" y="5131941"/>
            <a:ext cx="368300" cy="368300"/>
          </a:xfrm>
          <a:prstGeom prst="roundRect">
            <a:avLst>
              <a:gd name="adj" fmla="val 15517"/>
            </a:avLst>
          </a:prstGeom>
          <a:solidFill>
            <a:srgbClr val="FFFFFF"/>
          </a:solidFill>
          <a:ln w="12700">
            <a:solidFill>
              <a:srgbClr val="1D4ED8"/>
            </a:solidFill>
            <a:prstDash val="solid"/>
          </a:ln>
        </p:spPr>
        <p:txBody>
          <a:bodyPr wrap="square" lIns="0" tIns="0" rIns="0" bIns="0" rtlCol="0" anchor="ctr">
            <a:normAutofit/>
          </a:bodyPr>
          <a:lstStyle/>
          <a:p>
            <a:pPr algn="ctr" indent="0" marL="0">
              <a:lnSpc>
                <a:spcPts val="1680"/>
              </a:lnSpc>
              <a:buNone/>
            </a:pPr>
            <a:r>
              <a:rPr lang="en-US" sz="1200" b="1" dirty="0">
                <a:solidFill>
                  <a:srgbClr val="0B2447"/>
                </a:solidFill>
                <a:latin typeface="Arial" pitchFamily="34" charset="0"/>
                <a:ea typeface="Arial" pitchFamily="34" charset="-122"/>
                <a:cs typeface="Arial" pitchFamily="34" charset="-120"/>
              </a:rPr>
              <a:t>6D</a:t>
            </a:r>
            <a:endParaRPr lang="en-US" sz="1200" dirty="0"/>
          </a:p>
        </p:txBody>
      </p:sp>
      <p:sp>
        <p:nvSpPr>
          <p:cNvPr id="43" name="Shape 41"/>
          <p:cNvSpPr/>
          <p:nvPr/>
        </p:nvSpPr>
        <p:spPr>
          <a:xfrm>
            <a:off x="9010650" y="2429421"/>
            <a:ext cx="2197100" cy="2633861"/>
          </a:xfrm>
          <a:prstGeom prst="roundRect">
            <a:avLst>
              <a:gd name="adj" fmla="val 5491"/>
            </a:avLst>
          </a:prstGeom>
          <a:solidFill>
            <a:srgbClr val="EFF6FF"/>
          </a:solidFill>
          <a:ln w="12700">
            <a:solidFill>
              <a:srgbClr val="BFDBFE"/>
            </a:solidFill>
            <a:prstDash val="solid"/>
          </a:ln>
        </p:spPr>
      </p:sp>
      <p:sp>
        <p:nvSpPr>
          <p:cNvPr id="44" name="Text 42"/>
          <p:cNvSpPr/>
          <p:nvPr/>
        </p:nvSpPr>
        <p:spPr>
          <a:xfrm>
            <a:off x="9144000" y="2562771"/>
            <a:ext cx="19883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Your selection</a:t>
            </a:r>
            <a:endParaRPr lang="en-US" sz="1400" dirty="0"/>
          </a:p>
        </p:txBody>
      </p:sp>
      <p:sp>
        <p:nvSpPr>
          <p:cNvPr id="45" name="Text 43"/>
          <p:cNvSpPr/>
          <p:nvPr/>
        </p:nvSpPr>
        <p:spPr>
          <a:xfrm>
            <a:off x="9144000" y="2900561"/>
            <a:ext cx="198831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155"/>
                </a:solidFill>
                <a:latin typeface="Arial" pitchFamily="34" charset="0"/>
                <a:ea typeface="Arial" pitchFamily="34" charset="-122"/>
                <a:cs typeface="Arial" pitchFamily="34" charset="-120"/>
              </a:rPr>
              <a:t>Seats: </a:t>
            </a:r>
            <a:r>
              <a:rPr lang="en-US" sz="1300" b="1" dirty="0">
                <a:solidFill>
                  <a:srgbClr val="334155"/>
                </a:solidFill>
                <a:latin typeface="Arial" pitchFamily="34" charset="0"/>
                <a:ea typeface="Arial" pitchFamily="34" charset="-122"/>
                <a:cs typeface="Arial" pitchFamily="34" charset="-120"/>
              </a:rPr>
              <a:t>3A, 3B</a:t>
            </a:r>
            <a:endParaRPr lang="en-US" sz="1300" dirty="0"/>
          </a:p>
        </p:txBody>
      </p:sp>
      <p:sp>
        <p:nvSpPr>
          <p:cNvPr id="46" name="Text 44"/>
          <p:cNvSpPr/>
          <p:nvPr/>
        </p:nvSpPr>
        <p:spPr>
          <a:xfrm>
            <a:off x="9144000" y="3220591"/>
            <a:ext cx="198831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155"/>
                </a:solidFill>
                <a:latin typeface="Arial" pitchFamily="34" charset="0"/>
                <a:ea typeface="Arial" pitchFamily="34" charset="-122"/>
                <a:cs typeface="Arial" pitchFamily="34" charset="-120"/>
              </a:rPr>
              <a:t>₹450 × 2 seats</a:t>
            </a:r>
            <a:endParaRPr lang="en-US" sz="1300" dirty="0"/>
          </a:p>
        </p:txBody>
      </p:sp>
      <p:sp>
        <p:nvSpPr>
          <p:cNvPr id="47" name="Text 45"/>
          <p:cNvSpPr/>
          <p:nvPr/>
        </p:nvSpPr>
        <p:spPr>
          <a:xfrm>
            <a:off x="9144000" y="3540621"/>
            <a:ext cx="198831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D4ED8"/>
                </a:solidFill>
                <a:latin typeface="Arial" pitchFamily="34" charset="0"/>
                <a:ea typeface="Arial" pitchFamily="34" charset="-122"/>
                <a:cs typeface="Arial" pitchFamily="34" charset="-120"/>
              </a:rPr>
              <a:t>Total ₹900</a:t>
            </a:r>
            <a:endParaRPr lang="en-US" sz="1700" dirty="0"/>
          </a:p>
        </p:txBody>
      </p:sp>
      <p:sp>
        <p:nvSpPr>
          <p:cNvPr id="48" name="Text 46"/>
          <p:cNvSpPr/>
          <p:nvPr/>
        </p:nvSpPr>
        <p:spPr>
          <a:xfrm>
            <a:off x="9147175" y="3934916"/>
            <a:ext cx="1924050" cy="519410"/>
          </a:xfrm>
          <a:prstGeom prst="roundRect">
            <a:avLst>
              <a:gd name="adj" fmla="val 14059"/>
            </a:avLst>
          </a:prstGeom>
          <a:solidFill>
            <a:srgbClr val="CCFBF1"/>
          </a:solidFill>
          <a:ln w="6350">
            <a:solidFill>
              <a:srgbClr val="0F766E"/>
            </a:solidFill>
            <a:prstDash val="solid"/>
          </a:ln>
        </p:spPr>
        <p:txBody>
          <a:bodyPr wrap="square" lIns="57987" tIns="32587" rIns="5028" bIns="7187" rtlCol="0" anchor="t">
            <a:normAutofit/>
          </a:bodyPr>
          <a:lstStyle/>
          <a:p>
            <a:pPr algn="l" indent="0" marL="0">
              <a:lnSpc>
                <a:spcPts val="1620"/>
              </a:lnSpc>
              <a:buNone/>
            </a:pPr>
            <a:r>
              <a:rPr lang="en-US" sz="1200" dirty="0">
                <a:solidFill>
                  <a:srgbClr val="134E4A"/>
                </a:solidFill>
                <a:latin typeface="Arial" pitchFamily="34" charset="0"/>
                <a:ea typeface="Arial" pitchFamily="34" charset="-122"/>
                <a:cs typeface="Arial" pitchFamily="34" charset="-120"/>
              </a:rPr>
              <a:t>Seats are held while you pay</a:t>
            </a:r>
            <a:endParaRPr lang="en-US" sz="1200" dirty="0"/>
          </a:p>
        </p:txBody>
      </p:sp>
      <p:sp>
        <p:nvSpPr>
          <p:cNvPr id="49" name="Text 47"/>
          <p:cNvSpPr/>
          <p:nvPr/>
        </p:nvSpPr>
        <p:spPr>
          <a:xfrm>
            <a:off x="9144000" y="4546402"/>
            <a:ext cx="1930400" cy="383530"/>
          </a:xfrm>
          <a:prstGeom prst="roundRect">
            <a:avLst>
              <a:gd name="adj" fmla="val 19868"/>
            </a:avLst>
          </a:prstGeom>
          <a:solidFill>
            <a:srgbClr val="1D4ED8"/>
          </a:solidFill>
          <a:ln/>
        </p:spPr>
        <p:txBody>
          <a:bodyPr wrap="square" lIns="27212" tIns="53882" rIns="27212" bIns="28482" rtlCol="0" anchor="t">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Continue</a:t>
            </a:r>
            <a:endParaRPr lang="en-US" sz="1300" dirty="0"/>
          </a:p>
        </p:txBody>
      </p:sp>
      <p:sp>
        <p:nvSpPr>
          <p:cNvPr id="50" name="Text 4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 · Illustrative UI with sample data</a:t>
            </a:r>
            <a:endParaRPr lang="en-US" sz="1200" dirty="0"/>
          </a:p>
        </p:txBody>
      </p:sp>
      <p:sp>
        <p:nvSpPr>
          <p:cNvPr id="51" name="Text 4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12 / 20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SCREEN 7 · BOOKING SUMMARY</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Passenger details and review</a:t>
            </a:r>
            <a:endParaRPr lang="en-US" sz="3200" dirty="0"/>
          </a:p>
        </p:txBody>
      </p:sp>
      <p:sp>
        <p:nvSpPr>
          <p:cNvPr id="4" name="Shape 2"/>
          <p:cNvSpPr/>
          <p:nvPr/>
        </p:nvSpPr>
        <p:spPr>
          <a:xfrm>
            <a:off x="815975" y="1793825"/>
            <a:ext cx="5143500" cy="3693964"/>
          </a:xfrm>
          <a:prstGeom prst="roundRect">
            <a:avLst>
              <a:gd name="adj" fmla="val 4040"/>
            </a:avLst>
          </a:prstGeom>
          <a:solidFill>
            <a:srgbClr val="F4F7FB"/>
          </a:solidFill>
          <a:ln w="6350">
            <a:solidFill>
              <a:srgbClr val="CBD5E1"/>
            </a:solidFill>
            <a:prstDash val="solid"/>
          </a:ln>
        </p:spPr>
      </p:sp>
      <p:sp>
        <p:nvSpPr>
          <p:cNvPr id="5" name="Text 3"/>
          <p:cNvSpPr/>
          <p:nvPr/>
        </p:nvSpPr>
        <p:spPr>
          <a:xfrm>
            <a:off x="1022350" y="2000200"/>
            <a:ext cx="487267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Passenger details</a:t>
            </a:r>
            <a:endParaRPr lang="en-US" sz="1600" dirty="0"/>
          </a:p>
        </p:txBody>
      </p:sp>
      <p:sp>
        <p:nvSpPr>
          <p:cNvPr id="6" name="Text 4"/>
          <p:cNvSpPr/>
          <p:nvPr/>
        </p:nvSpPr>
        <p:spPr>
          <a:xfrm>
            <a:off x="1028700" y="2379911"/>
            <a:ext cx="4718050" cy="396230"/>
          </a:xfrm>
          <a:prstGeom prst="roundRect">
            <a:avLst>
              <a:gd name="adj" fmla="val 17629"/>
            </a:avLst>
          </a:prstGeom>
          <a:solidFill>
            <a:srgbClr val="FFFFFF"/>
          </a:solidFill>
          <a:ln w="12700">
            <a:solidFill>
              <a:srgbClr val="CBD5E1"/>
            </a:solidFill>
            <a:prstDash val="solid"/>
          </a:ln>
        </p:spPr>
        <p:txBody>
          <a:bodyPr wrap="square" lIns="100192" tIns="62092" rIns="0" bIns="36692" rtlCol="0" anchor="t">
            <a:normAutofit/>
          </a:bodyPr>
          <a:lstStyle/>
          <a:p>
            <a:pPr algn="l" indent="0" marL="0">
              <a:lnSpc>
                <a:spcPts val="1820"/>
              </a:lnSpc>
              <a:buNone/>
            </a:pPr>
            <a:r>
              <a:rPr lang="en-US" sz="1300" dirty="0">
                <a:solidFill>
                  <a:srgbClr val="55657A"/>
                </a:solidFill>
                <a:latin typeface="Arial" pitchFamily="34" charset="0"/>
                <a:ea typeface="Arial" pitchFamily="34" charset="-122"/>
                <a:cs typeface="Arial" pitchFamily="34" charset="-120"/>
              </a:rPr>
              <a:t>Passenger name</a:t>
            </a:r>
            <a:endParaRPr lang="en-US" sz="1300" dirty="0"/>
          </a:p>
        </p:txBody>
      </p:sp>
      <p:sp>
        <p:nvSpPr>
          <p:cNvPr id="7" name="Text 5"/>
          <p:cNvSpPr/>
          <p:nvPr/>
        </p:nvSpPr>
        <p:spPr>
          <a:xfrm>
            <a:off x="1028700" y="2877741"/>
            <a:ext cx="2308225" cy="396230"/>
          </a:xfrm>
          <a:prstGeom prst="roundRect">
            <a:avLst>
              <a:gd name="adj" fmla="val 17629"/>
            </a:avLst>
          </a:prstGeom>
          <a:solidFill>
            <a:srgbClr val="FFFFFF"/>
          </a:solidFill>
          <a:ln w="12700">
            <a:solidFill>
              <a:srgbClr val="CBD5E1"/>
            </a:solidFill>
            <a:prstDash val="solid"/>
          </a:ln>
        </p:spPr>
        <p:txBody>
          <a:bodyPr wrap="square" lIns="100192" tIns="62092" rIns="38184" bIns="36692" rtlCol="0" anchor="t">
            <a:normAutofit/>
          </a:bodyPr>
          <a:lstStyle/>
          <a:p>
            <a:pPr algn="l" indent="0" marL="0">
              <a:lnSpc>
                <a:spcPts val="1820"/>
              </a:lnSpc>
              <a:buNone/>
            </a:pPr>
            <a:r>
              <a:rPr lang="en-US" sz="1300" dirty="0">
                <a:solidFill>
                  <a:srgbClr val="55657A"/>
                </a:solidFill>
                <a:latin typeface="Arial" pitchFamily="34" charset="0"/>
                <a:ea typeface="Arial" pitchFamily="34" charset="-122"/>
                <a:cs typeface="Arial" pitchFamily="34" charset="-120"/>
              </a:rPr>
              <a:t>Age</a:t>
            </a:r>
            <a:endParaRPr lang="en-US" sz="1300" dirty="0"/>
          </a:p>
        </p:txBody>
      </p:sp>
      <p:sp>
        <p:nvSpPr>
          <p:cNvPr id="8" name="Text 6"/>
          <p:cNvSpPr/>
          <p:nvPr/>
        </p:nvSpPr>
        <p:spPr>
          <a:xfrm>
            <a:off x="3438525" y="2877741"/>
            <a:ext cx="2308225" cy="396230"/>
          </a:xfrm>
          <a:prstGeom prst="roundRect">
            <a:avLst>
              <a:gd name="adj" fmla="val 17629"/>
            </a:avLst>
          </a:prstGeom>
          <a:solidFill>
            <a:srgbClr val="FFFFFF"/>
          </a:solidFill>
          <a:ln w="12700">
            <a:solidFill>
              <a:srgbClr val="CBD5E1"/>
            </a:solidFill>
            <a:prstDash val="solid"/>
          </a:ln>
        </p:spPr>
        <p:txBody>
          <a:bodyPr wrap="square" lIns="100192" tIns="62092" rIns="38184" bIns="36692" rtlCol="0" anchor="t">
            <a:normAutofit/>
          </a:bodyPr>
          <a:lstStyle/>
          <a:p>
            <a:pPr algn="l" indent="0" marL="0">
              <a:lnSpc>
                <a:spcPts val="1820"/>
              </a:lnSpc>
              <a:buNone/>
            </a:pPr>
            <a:r>
              <a:rPr lang="en-US" sz="1300" dirty="0">
                <a:solidFill>
                  <a:srgbClr val="55657A"/>
                </a:solidFill>
                <a:latin typeface="Arial" pitchFamily="34" charset="0"/>
                <a:ea typeface="Arial" pitchFamily="34" charset="-122"/>
                <a:cs typeface="Arial" pitchFamily="34" charset="-120"/>
              </a:rPr>
              <a:t>Gender</a:t>
            </a:r>
            <a:endParaRPr lang="en-US" sz="1300" dirty="0"/>
          </a:p>
        </p:txBody>
      </p:sp>
      <p:sp>
        <p:nvSpPr>
          <p:cNvPr id="9" name="Text 7"/>
          <p:cNvSpPr/>
          <p:nvPr/>
        </p:nvSpPr>
        <p:spPr>
          <a:xfrm>
            <a:off x="1028700" y="3375571"/>
            <a:ext cx="4718050" cy="396230"/>
          </a:xfrm>
          <a:prstGeom prst="roundRect">
            <a:avLst>
              <a:gd name="adj" fmla="val 17629"/>
            </a:avLst>
          </a:prstGeom>
          <a:solidFill>
            <a:srgbClr val="FFFFFF"/>
          </a:solidFill>
          <a:ln w="12700">
            <a:solidFill>
              <a:srgbClr val="CBD5E1"/>
            </a:solidFill>
            <a:prstDash val="solid"/>
          </a:ln>
        </p:spPr>
        <p:txBody>
          <a:bodyPr wrap="square" lIns="100192" tIns="62092" rIns="0" bIns="36692" rtlCol="0" anchor="t">
            <a:normAutofit/>
          </a:bodyPr>
          <a:lstStyle/>
          <a:p>
            <a:pPr algn="l" indent="0" marL="0">
              <a:lnSpc>
                <a:spcPts val="1820"/>
              </a:lnSpc>
              <a:buNone/>
            </a:pPr>
            <a:r>
              <a:rPr lang="en-US" sz="1300" dirty="0">
                <a:solidFill>
                  <a:srgbClr val="55657A"/>
                </a:solidFill>
                <a:latin typeface="Arial" pitchFamily="34" charset="0"/>
                <a:ea typeface="Arial" pitchFamily="34" charset="-122"/>
                <a:cs typeface="Arial" pitchFamily="34" charset="-120"/>
              </a:rPr>
              <a:t>Contact number</a:t>
            </a:r>
            <a:endParaRPr lang="en-US" sz="1300" dirty="0"/>
          </a:p>
        </p:txBody>
      </p:sp>
      <p:sp>
        <p:nvSpPr>
          <p:cNvPr id="10" name="Text 8"/>
          <p:cNvSpPr/>
          <p:nvPr/>
        </p:nvSpPr>
        <p:spPr>
          <a:xfrm>
            <a:off x="1028700" y="3873401"/>
            <a:ext cx="4718050" cy="396230"/>
          </a:xfrm>
          <a:prstGeom prst="roundRect">
            <a:avLst>
              <a:gd name="adj" fmla="val 17629"/>
            </a:avLst>
          </a:prstGeom>
          <a:solidFill>
            <a:srgbClr val="FFFFFF"/>
          </a:solidFill>
          <a:ln w="12700">
            <a:solidFill>
              <a:srgbClr val="CBD5E1"/>
            </a:solidFill>
            <a:prstDash val="solid"/>
          </a:ln>
        </p:spPr>
        <p:txBody>
          <a:bodyPr wrap="square" lIns="100192" tIns="62092" rIns="0" bIns="36692" rtlCol="0" anchor="t">
            <a:normAutofit/>
          </a:bodyPr>
          <a:lstStyle/>
          <a:p>
            <a:pPr algn="l" indent="0" marL="0">
              <a:lnSpc>
                <a:spcPts val="1820"/>
              </a:lnSpc>
              <a:buNone/>
            </a:pPr>
            <a:r>
              <a:rPr lang="en-US" sz="1300" dirty="0">
                <a:solidFill>
                  <a:srgbClr val="55657A"/>
                </a:solidFill>
                <a:latin typeface="Arial" pitchFamily="34" charset="0"/>
                <a:ea typeface="Arial" pitchFamily="34" charset="-122"/>
                <a:cs typeface="Arial" pitchFamily="34" charset="-120"/>
              </a:rPr>
              <a:t>Email address</a:t>
            </a:r>
            <a:endParaRPr lang="en-US" sz="1300" dirty="0"/>
          </a:p>
        </p:txBody>
      </p:sp>
      <p:sp>
        <p:nvSpPr>
          <p:cNvPr id="11" name="Text 9"/>
          <p:cNvSpPr/>
          <p:nvPr/>
        </p:nvSpPr>
        <p:spPr>
          <a:xfrm>
            <a:off x="1022350" y="4364881"/>
            <a:ext cx="487267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155"/>
                </a:solidFill>
                <a:latin typeface="Arial" pitchFamily="34" charset="0"/>
                <a:ea typeface="Arial" pitchFamily="34" charset="-122"/>
                <a:cs typeface="Arial" pitchFamily="34" charset="-120"/>
              </a:rPr>
              <a:t>Entered for every passenger before payment.</a:t>
            </a:r>
            <a:endParaRPr lang="en-US" sz="1300" dirty="0"/>
          </a:p>
        </p:txBody>
      </p:sp>
      <p:sp>
        <p:nvSpPr>
          <p:cNvPr id="12" name="Shape 10"/>
          <p:cNvSpPr/>
          <p:nvPr/>
        </p:nvSpPr>
        <p:spPr>
          <a:xfrm>
            <a:off x="6223000" y="1797000"/>
            <a:ext cx="5149850" cy="3687614"/>
          </a:xfrm>
          <a:prstGeom prst="roundRect">
            <a:avLst>
              <a:gd name="adj" fmla="val 3961"/>
            </a:avLst>
          </a:prstGeom>
          <a:solidFill>
            <a:srgbClr val="EFF6FF"/>
          </a:solidFill>
          <a:ln w="12700">
            <a:solidFill>
              <a:srgbClr val="1D4ED8"/>
            </a:solidFill>
            <a:prstDash val="solid"/>
          </a:ln>
        </p:spPr>
      </p:sp>
      <p:sp>
        <p:nvSpPr>
          <p:cNvPr id="13" name="Text 11"/>
          <p:cNvSpPr/>
          <p:nvPr/>
        </p:nvSpPr>
        <p:spPr>
          <a:xfrm>
            <a:off x="6432550" y="2006550"/>
            <a:ext cx="487267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Booking summary</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45250" y="2418011"/>
          <a:ext cx="4718050" cy="2316063"/>
        </p:xfrm>
        <a:graphic>
          <a:graphicData uri="http://schemas.openxmlformats.org/drawingml/2006/table">
            <a:tbl>
              <a:tblPr/>
              <a:tblGrid>
                <a:gridCol w="1981581"/>
                <a:gridCol w="2736469"/>
              </a:tblGrid>
              <a:tr h="386011">
                <a:tc>
                  <a:txBody>
                    <a:bodyPr/>
                    <a:lstStyle/>
                    <a:p>
                      <a:pPr indent="0" marL="0">
                        <a:lnSpc>
                          <a:spcPts val="1960"/>
                        </a:lnSpc>
                        <a:buNone/>
                      </a:pPr>
                      <a:r>
                        <a:rPr lang="en-US" sz="1400" dirty="0">
                          <a:solidFill>
                            <a:srgbClr val="334155"/>
                          </a:solidFill>
                          <a:latin typeface="Arial" pitchFamily="34" charset="0"/>
                          <a:ea typeface="Arial" pitchFamily="34" charset="-122"/>
                          <a:cs typeface="Arial" pitchFamily="34" charset="-120"/>
                        </a:rPr>
                        <a:t>Bus</a:t>
                      </a:r>
                      <a:endParaRPr lang="en-US" sz="1400" dirty="0">
                        <a:latin typeface="Arial" charset="0"/>
                        <a:ea typeface="Arial" charset="0"/>
                        <a:cs typeface="Arial" charset="0"/>
                      </a:endParaRPr>
                    </a:p>
                  </a:txBody>
                  <a:tcPr marL="62230" marR="62230" marT="62230" marB="62230"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BFC4CB"/>
                      </a:solidFill>
                      <a:prstDash val="solid"/>
                      <a:round/>
                      <a:headEnd type="none" w="med" len="med"/>
                      <a:tailEnd type="none" w="med" len="med"/>
                    </a:lnB>
                  </a:tcPr>
                </a:tc>
                <a:tc>
                  <a:txBody>
                    <a:bodyPr/>
                    <a:lstStyle/>
                    <a:p>
                      <a:pPr indent="0" marL="0">
                        <a:lnSpc>
                          <a:spcPts val="1960"/>
                        </a:lnSpc>
                        <a:buNone/>
                      </a:pPr>
                      <a:r>
                        <a:rPr lang="en-US" sz="1400" dirty="0">
                          <a:solidFill>
                            <a:srgbClr val="334155"/>
                          </a:solidFill>
                          <a:latin typeface="Arial" pitchFamily="34" charset="0"/>
                          <a:ea typeface="Arial" pitchFamily="34" charset="-122"/>
                          <a:cs typeface="Arial" pitchFamily="34" charset="-120"/>
                        </a:rPr>
                        <a:t>Blue Line Express</a:t>
                      </a:r>
                      <a:endParaRPr lang="en-US" sz="1400" dirty="0">
                        <a:latin typeface="Arial" charset="0"/>
                        <a:ea typeface="Arial" charset="0"/>
                        <a:cs typeface="Arial" charset="0"/>
                      </a:endParaRPr>
                    </a:p>
                  </a:txBody>
                  <a:tcPr marL="62230" marR="62230" marT="62230" marB="62230"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BFC4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34155"/>
                          </a:solidFill>
                          <a:latin typeface="Arial" pitchFamily="34" charset="0"/>
                          <a:ea typeface="Arial" pitchFamily="34" charset="-122"/>
                          <a:cs typeface="Arial" pitchFamily="34" charset="-120"/>
                        </a:rPr>
                        <a:t>Route</a:t>
                      </a:r>
                      <a:endParaRPr lang="en-US" sz="1400" dirty="0">
                        <a:latin typeface="Arial" charset="0"/>
                        <a:ea typeface="Arial" charset="0"/>
                        <a:cs typeface="Arial" charset="0"/>
                      </a:endParaRPr>
                    </a:p>
                  </a:txBody>
                  <a:tcPr marL="62230" marR="62230" marT="62230" marB="62230"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BFC4CB"/>
                      </a:solidFill>
                      <a:prstDash val="solid"/>
                      <a:round/>
                      <a:headEnd type="none" w="med" len="med"/>
                      <a:tailEnd type="none" w="med" len="med"/>
                    </a:lnB>
                  </a:tcPr>
                </a:tc>
                <a:tc>
                  <a:txBody>
                    <a:bodyPr/>
                    <a:lstStyle/>
                    <a:p>
                      <a:pPr indent="0" marL="0">
                        <a:lnSpc>
                          <a:spcPts val="1960"/>
                        </a:lnSpc>
                        <a:buNone/>
                      </a:pPr>
                      <a:r>
                        <a:rPr lang="en-US" sz="1400" dirty="0">
                          <a:solidFill>
                            <a:srgbClr val="334155"/>
                          </a:solidFill>
                          <a:latin typeface="Arial" pitchFamily="34" charset="0"/>
                          <a:ea typeface="Arial" pitchFamily="34" charset="-122"/>
                          <a:cs typeface="Arial" pitchFamily="34" charset="-120"/>
                        </a:rPr>
                        <a:t>Trichy → Chennai</a:t>
                      </a:r>
                      <a:endParaRPr lang="en-US" sz="1400" dirty="0">
                        <a:latin typeface="Arial" charset="0"/>
                        <a:ea typeface="Arial" charset="0"/>
                        <a:cs typeface="Arial" charset="0"/>
                      </a:endParaRPr>
                    </a:p>
                  </a:txBody>
                  <a:tcPr marL="62230" marR="62230" marT="62230" marB="62230"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BFC4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34155"/>
                          </a:solidFill>
                          <a:latin typeface="Arial" pitchFamily="34" charset="0"/>
                          <a:ea typeface="Arial" pitchFamily="34" charset="-122"/>
                          <a:cs typeface="Arial" pitchFamily="34" charset="-120"/>
                        </a:rPr>
                        <a:t>Journey date</a:t>
                      </a:r>
                      <a:endParaRPr lang="en-US" sz="1400" dirty="0">
                        <a:latin typeface="Arial" charset="0"/>
                        <a:ea typeface="Arial" charset="0"/>
                        <a:cs typeface="Arial" charset="0"/>
                      </a:endParaRPr>
                    </a:p>
                  </a:txBody>
                  <a:tcPr marL="62230" marR="62230" marT="62230" marB="62230"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BFC4CB"/>
                      </a:solidFill>
                      <a:prstDash val="solid"/>
                      <a:round/>
                      <a:headEnd type="none" w="med" len="med"/>
                      <a:tailEnd type="none" w="med" len="med"/>
                    </a:lnB>
                  </a:tcPr>
                </a:tc>
                <a:tc>
                  <a:txBody>
                    <a:bodyPr/>
                    <a:lstStyle/>
                    <a:p>
                      <a:pPr indent="0" marL="0">
                        <a:lnSpc>
                          <a:spcPts val="1960"/>
                        </a:lnSpc>
                        <a:buNone/>
                      </a:pPr>
                      <a:r>
                        <a:rPr lang="en-US" sz="1400" dirty="0">
                          <a:solidFill>
                            <a:srgbClr val="334155"/>
                          </a:solidFill>
                          <a:latin typeface="Arial" pitchFamily="34" charset="0"/>
                          <a:ea typeface="Arial" pitchFamily="34" charset="-122"/>
                          <a:cs typeface="Arial" pitchFamily="34" charset="-120"/>
                        </a:rPr>
                        <a:t>25/10/2026</a:t>
                      </a:r>
                      <a:endParaRPr lang="en-US" sz="1400" dirty="0">
                        <a:latin typeface="Arial" charset="0"/>
                        <a:ea typeface="Arial" charset="0"/>
                        <a:cs typeface="Arial" charset="0"/>
                      </a:endParaRPr>
                    </a:p>
                  </a:txBody>
                  <a:tcPr marL="62230" marR="62230" marT="62230" marB="62230"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BFC4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34155"/>
                          </a:solidFill>
                          <a:latin typeface="Arial" pitchFamily="34" charset="0"/>
                          <a:ea typeface="Arial" pitchFamily="34" charset="-122"/>
                          <a:cs typeface="Arial" pitchFamily="34" charset="-120"/>
                        </a:rPr>
                        <a:t>Seats</a:t>
                      </a:r>
                      <a:endParaRPr lang="en-US" sz="1400" dirty="0">
                        <a:latin typeface="Arial" charset="0"/>
                        <a:ea typeface="Arial" charset="0"/>
                        <a:cs typeface="Arial" charset="0"/>
                      </a:endParaRPr>
                    </a:p>
                  </a:txBody>
                  <a:tcPr marL="62230" marR="62230" marT="62230" marB="62230"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BFC4CB"/>
                      </a:solidFill>
                      <a:prstDash val="solid"/>
                      <a:round/>
                      <a:headEnd type="none" w="med" len="med"/>
                      <a:tailEnd type="none" w="med" len="med"/>
                    </a:lnB>
                  </a:tcPr>
                </a:tc>
                <a:tc>
                  <a:txBody>
                    <a:bodyPr/>
                    <a:lstStyle/>
                    <a:p>
                      <a:pPr indent="0" marL="0">
                        <a:lnSpc>
                          <a:spcPts val="1960"/>
                        </a:lnSpc>
                        <a:buNone/>
                      </a:pPr>
                      <a:r>
                        <a:rPr lang="en-US" sz="1400" dirty="0">
                          <a:solidFill>
                            <a:srgbClr val="334155"/>
                          </a:solidFill>
                          <a:latin typeface="Arial" pitchFamily="34" charset="0"/>
                          <a:ea typeface="Arial" pitchFamily="34" charset="-122"/>
                          <a:cs typeface="Arial" pitchFamily="34" charset="-120"/>
                        </a:rPr>
                        <a:t>3A, 3B</a:t>
                      </a:r>
                      <a:endParaRPr lang="en-US" sz="1400" dirty="0">
                        <a:latin typeface="Arial" charset="0"/>
                        <a:ea typeface="Arial" charset="0"/>
                        <a:cs typeface="Arial" charset="0"/>
                      </a:endParaRPr>
                    </a:p>
                  </a:txBody>
                  <a:tcPr marL="62230" marR="62230" marT="62230" marB="62230"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BFC4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34155"/>
                          </a:solidFill>
                          <a:latin typeface="Arial" pitchFamily="34" charset="0"/>
                          <a:ea typeface="Arial" pitchFamily="34" charset="-122"/>
                          <a:cs typeface="Arial" pitchFamily="34" charset="-120"/>
                        </a:rPr>
                        <a:t>Passengers</a:t>
                      </a:r>
                      <a:endParaRPr lang="en-US" sz="1400" dirty="0">
                        <a:latin typeface="Arial" charset="0"/>
                        <a:ea typeface="Arial" charset="0"/>
                        <a:cs typeface="Arial" charset="0"/>
                      </a:endParaRPr>
                    </a:p>
                  </a:txBody>
                  <a:tcPr marL="62230" marR="62230" marT="62230" marB="62230"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BFC4CB"/>
                      </a:solidFill>
                      <a:prstDash val="solid"/>
                      <a:round/>
                      <a:headEnd type="none" w="med" len="med"/>
                      <a:tailEnd type="none" w="med" len="med"/>
                    </a:lnB>
                  </a:tcPr>
                </a:tc>
                <a:tc>
                  <a:txBody>
                    <a:bodyPr/>
                    <a:lstStyle/>
                    <a:p>
                      <a:pPr indent="0" marL="0">
                        <a:lnSpc>
                          <a:spcPts val="1960"/>
                        </a:lnSpc>
                        <a:buNone/>
                      </a:pPr>
                      <a:r>
                        <a:rPr lang="en-US" sz="1400" dirty="0">
                          <a:solidFill>
                            <a:srgbClr val="334155"/>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BFC4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34155"/>
                          </a:solidFill>
                          <a:latin typeface="Arial" pitchFamily="34" charset="0"/>
                          <a:ea typeface="Arial" pitchFamily="34" charset="-122"/>
                          <a:cs typeface="Arial" pitchFamily="34" charset="-120"/>
                        </a:rPr>
                        <a:t>Total amount</a:t>
                      </a:r>
                      <a:endParaRPr lang="en-US" sz="1400" dirty="0">
                        <a:latin typeface="Arial" charset="0"/>
                        <a:ea typeface="Arial" charset="0"/>
                        <a:cs typeface="Arial" charset="0"/>
                      </a:endParaRPr>
                    </a:p>
                  </a:txBody>
                  <a:tcPr marL="62230" marR="62230" marT="62230" marB="62230"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BFC4CB"/>
                      </a:solidFill>
                      <a:prstDash val="solid"/>
                      <a:round/>
                      <a:headEnd type="none" w="med" len="med"/>
                      <a:tailEnd type="none" w="med" len="med"/>
                    </a:lnB>
                  </a:tcPr>
                </a:tc>
                <a:tc>
                  <a:txBody>
                    <a:bodyPr/>
                    <a:lstStyle/>
                    <a:p>
                      <a:pPr indent="0" marL="0">
                        <a:lnSpc>
                          <a:spcPts val="1960"/>
                        </a:lnSpc>
                        <a:buNone/>
                      </a:pPr>
                      <a:r>
                        <a:rPr lang="en-US" sz="1400" dirty="0">
                          <a:solidFill>
                            <a:srgbClr val="334155"/>
                          </a:solidFill>
                          <a:latin typeface="Arial" pitchFamily="34" charset="0"/>
                          <a:ea typeface="Arial" pitchFamily="34" charset="-122"/>
                          <a:cs typeface="Arial" pitchFamily="34" charset="-120"/>
                        </a:rPr>
                        <a:t>₹900</a:t>
                      </a:r>
                      <a:endParaRPr lang="en-US" sz="1400" dirty="0">
                        <a:latin typeface="Arial" charset="0"/>
                        <a:ea typeface="Arial" charset="0"/>
                        <a:cs typeface="Arial" charset="0"/>
                      </a:endParaRPr>
                    </a:p>
                  </a:txBody>
                  <a:tcPr marL="62230" marR="62230" marT="62230" marB="62230"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BFC4CB"/>
                      </a:solidFill>
                      <a:prstDash val="solid"/>
                      <a:round/>
                      <a:headEnd type="none" w="med" len="med"/>
                      <a:tailEnd type="none" w="med" len="med"/>
                    </a:lnB>
                  </a:tcPr>
                </a:tc>
              </a:tr>
            </a:tbl>
          </a:graphicData>
        </a:graphic>
      </p:graphicFrame>
      <p:sp>
        <p:nvSpPr>
          <p:cNvPr id="15" name="Text 12"/>
          <p:cNvSpPr/>
          <p:nvPr/>
        </p:nvSpPr>
        <p:spPr>
          <a:xfrm>
            <a:off x="6432550" y="4848374"/>
            <a:ext cx="4730750" cy="426690"/>
          </a:xfrm>
          <a:prstGeom prst="roundRect">
            <a:avLst>
              <a:gd name="adj" fmla="val 17858"/>
            </a:avLst>
          </a:prstGeom>
          <a:solidFill>
            <a:srgbClr val="1D4ED8"/>
          </a:solidFill>
          <a:ln/>
        </p:spPr>
        <p:txBody>
          <a:bodyPr wrap="square" lIns="0" tIns="66582" rIns="0" bIns="41182" rtlCol="0" anchor="t">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Proceed to Payment</a:t>
            </a:r>
            <a:endParaRPr lang="en-US" sz="1400" dirty="0"/>
          </a:p>
        </p:txBody>
      </p:sp>
      <p:sp>
        <p:nvSpPr>
          <p:cNvPr id="16"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 · Illustrative UI with sample data</a:t>
            </a:r>
            <a:endParaRPr lang="en-US" sz="1200" dirty="0"/>
          </a:p>
        </p:txBody>
      </p:sp>
      <p:sp>
        <p:nvSpPr>
          <p:cNvPr id="17"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13 / 20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SCREEN 8 · PAYMENT METHOD</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Three ways to pay online</a:t>
            </a:r>
            <a:endParaRPr lang="en-US" sz="3200" dirty="0"/>
          </a:p>
        </p:txBody>
      </p:sp>
      <p:sp>
        <p:nvSpPr>
          <p:cNvPr id="4" name="Shape 2"/>
          <p:cNvSpPr/>
          <p:nvPr/>
        </p:nvSpPr>
        <p:spPr>
          <a:xfrm>
            <a:off x="815975" y="1793825"/>
            <a:ext cx="3346450" cy="2791321"/>
          </a:xfrm>
          <a:prstGeom prst="roundRect">
            <a:avLst>
              <a:gd name="adj" fmla="val 5346"/>
            </a:avLst>
          </a:prstGeom>
          <a:solidFill>
            <a:srgbClr val="FFFFFF"/>
          </a:solidFill>
          <a:ln w="6350">
            <a:solidFill>
              <a:srgbClr val="CBD5E1"/>
            </a:solidFill>
            <a:prstDash val="solid"/>
          </a:ln>
        </p:spPr>
      </p:sp>
      <p:pic>
        <p:nvPicPr>
          <p:cNvPr id="5" name="Image 0" descr="Illustration of a QR code for UPI payment">    </p:cNvPr>
          <p:cNvPicPr>
            <a:picLocks noChangeAspect="1"/>
          </p:cNvPicPr>
          <p:nvPr/>
        </p:nvPicPr>
        <p:blipFill>
          <a:blip r:embed="rId1"/>
          <a:srcRect l="0" r="0" t="0" b="0"/>
          <a:stretch/>
        </p:blipFill>
        <p:spPr>
          <a:xfrm>
            <a:off x="1917700" y="2000200"/>
            <a:ext cx="1143000" cy="1143000"/>
          </a:xfrm>
          <a:prstGeom prst="rect">
            <a:avLst/>
          </a:prstGeom>
        </p:spPr>
      </p:pic>
      <p:sp>
        <p:nvSpPr>
          <p:cNvPr id="6" name="Text 3"/>
          <p:cNvSpPr/>
          <p:nvPr/>
        </p:nvSpPr>
        <p:spPr>
          <a:xfrm>
            <a:off x="1545337" y="3244800"/>
            <a:ext cx="1887676" cy="28446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0B2447"/>
                </a:solidFill>
                <a:latin typeface="Poppins" pitchFamily="34" charset="0"/>
                <a:ea typeface="Poppins" pitchFamily="34" charset="-122"/>
                <a:cs typeface="Poppins" pitchFamily="34" charset="-120"/>
              </a:rPr>
              <a:t>1. UPI Payment</a:t>
            </a:r>
            <a:endParaRPr lang="en-US" sz="1700" dirty="0"/>
          </a:p>
        </p:txBody>
      </p:sp>
      <p:sp>
        <p:nvSpPr>
          <p:cNvPr id="7" name="Text 4"/>
          <p:cNvSpPr/>
          <p:nvPr/>
        </p:nvSpPr>
        <p:spPr>
          <a:xfrm>
            <a:off x="978345" y="3605461"/>
            <a:ext cx="3021711" cy="798711"/>
          </a:xfrm>
          <a:prstGeom prst="rect">
            <a:avLst/>
          </a:prstGeom>
          <a:noFill/>
          <a:ln/>
        </p:spPr>
        <p:txBody>
          <a:bodyPr wrap="square" lIns="0" tIns="0" rIns="0" bIns="0" rtlCol="0" anchor="t">
            <a:normAutofit/>
          </a:bodyPr>
          <a:lstStyle/>
          <a:p>
            <a:pPr algn="ctr" indent="0" marL="0">
              <a:lnSpc>
                <a:spcPts val="2030"/>
              </a:lnSpc>
              <a:buNone/>
            </a:pPr>
            <a:r>
              <a:rPr lang="en-US" sz="1400" dirty="0">
                <a:solidFill>
                  <a:srgbClr val="334155"/>
                </a:solidFill>
                <a:latin typeface="Arial" pitchFamily="34" charset="0"/>
                <a:ea typeface="Arial" pitchFamily="34" charset="-122"/>
                <a:cs typeface="Arial" pitchFamily="34" charset="-120"/>
              </a:rPr>
              <a:t>Pay through a supported UPI app or QR code using an integrated payment gateway.</a:t>
            </a:r>
            <a:endParaRPr lang="en-US" sz="1400" dirty="0"/>
          </a:p>
        </p:txBody>
      </p:sp>
      <p:sp>
        <p:nvSpPr>
          <p:cNvPr id="8" name="Shape 5"/>
          <p:cNvSpPr/>
          <p:nvPr/>
        </p:nvSpPr>
        <p:spPr>
          <a:xfrm>
            <a:off x="4422775" y="1793825"/>
            <a:ext cx="3346450" cy="2791321"/>
          </a:xfrm>
          <a:prstGeom prst="roundRect">
            <a:avLst>
              <a:gd name="adj" fmla="val 5346"/>
            </a:avLst>
          </a:prstGeom>
          <a:solidFill>
            <a:srgbClr val="FFFFFF"/>
          </a:solidFill>
          <a:ln w="6350">
            <a:solidFill>
              <a:srgbClr val="CBD5E1"/>
            </a:solidFill>
            <a:prstDash val="solid"/>
          </a:ln>
        </p:spPr>
      </p:sp>
      <p:pic>
        <p:nvPicPr>
          <p:cNvPr id="9" name="Image 1" descr="Illustration of a bank card">    </p:cNvPr>
          <p:cNvPicPr>
            <a:picLocks noChangeAspect="1"/>
          </p:cNvPicPr>
          <p:nvPr/>
        </p:nvPicPr>
        <p:blipFill>
          <a:blip r:embed="rId2"/>
          <a:srcRect l="0" r="0" t="0" b="0"/>
          <a:stretch/>
        </p:blipFill>
        <p:spPr>
          <a:xfrm>
            <a:off x="5334000" y="2000200"/>
            <a:ext cx="1524000" cy="1143000"/>
          </a:xfrm>
          <a:prstGeom prst="rect">
            <a:avLst/>
          </a:prstGeom>
        </p:spPr>
      </p:pic>
      <p:sp>
        <p:nvSpPr>
          <p:cNvPr id="10" name="Text 6"/>
          <p:cNvSpPr/>
          <p:nvPr/>
        </p:nvSpPr>
        <p:spPr>
          <a:xfrm>
            <a:off x="5002292" y="3244800"/>
            <a:ext cx="2187416" cy="28446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0B2447"/>
                </a:solidFill>
                <a:latin typeface="Poppins" pitchFamily="34" charset="0"/>
                <a:ea typeface="Poppins" pitchFamily="34" charset="-122"/>
                <a:cs typeface="Poppins" pitchFamily="34" charset="-120"/>
              </a:rPr>
              <a:t>2. Card Payment</a:t>
            </a:r>
            <a:endParaRPr lang="en-US" sz="1700" dirty="0"/>
          </a:p>
        </p:txBody>
      </p:sp>
      <p:sp>
        <p:nvSpPr>
          <p:cNvPr id="11" name="Text 7"/>
          <p:cNvSpPr/>
          <p:nvPr/>
        </p:nvSpPr>
        <p:spPr>
          <a:xfrm>
            <a:off x="4585145" y="3605461"/>
            <a:ext cx="3021711" cy="798711"/>
          </a:xfrm>
          <a:prstGeom prst="rect">
            <a:avLst/>
          </a:prstGeom>
          <a:noFill/>
          <a:ln/>
        </p:spPr>
        <p:txBody>
          <a:bodyPr wrap="square" lIns="0" tIns="0" rIns="0" bIns="0" rtlCol="0" anchor="t">
            <a:normAutofit/>
          </a:bodyPr>
          <a:lstStyle/>
          <a:p>
            <a:pPr algn="ctr" indent="0" marL="0">
              <a:lnSpc>
                <a:spcPts val="2030"/>
              </a:lnSpc>
              <a:buNone/>
            </a:pPr>
            <a:r>
              <a:rPr lang="en-US" sz="1400" dirty="0">
                <a:solidFill>
                  <a:srgbClr val="334155"/>
                </a:solidFill>
                <a:latin typeface="Arial" pitchFamily="34" charset="0"/>
                <a:ea typeface="Arial" pitchFamily="34" charset="-122"/>
                <a:cs typeface="Arial" pitchFamily="34" charset="-120"/>
              </a:rPr>
              <a:t>Pay with an eligible debit or credit card through the gateway's secure checkout.</a:t>
            </a:r>
            <a:endParaRPr lang="en-US" sz="1400" dirty="0"/>
          </a:p>
        </p:txBody>
      </p:sp>
      <p:sp>
        <p:nvSpPr>
          <p:cNvPr id="12" name="Shape 8"/>
          <p:cNvSpPr/>
          <p:nvPr/>
        </p:nvSpPr>
        <p:spPr>
          <a:xfrm>
            <a:off x="8029575" y="1793825"/>
            <a:ext cx="3346450" cy="2791321"/>
          </a:xfrm>
          <a:prstGeom prst="roundRect">
            <a:avLst>
              <a:gd name="adj" fmla="val 5346"/>
            </a:avLst>
          </a:prstGeom>
          <a:solidFill>
            <a:srgbClr val="FFFFFF"/>
          </a:solidFill>
          <a:ln w="6350">
            <a:solidFill>
              <a:srgbClr val="CBD5E1"/>
            </a:solidFill>
            <a:prstDash val="solid"/>
          </a:ln>
        </p:spPr>
      </p:sp>
      <p:pic>
        <p:nvPicPr>
          <p:cNvPr id="13" name="Image 2" descr="Illustration of a bank building">    </p:cNvPr>
          <p:cNvPicPr>
            <a:picLocks noChangeAspect="1"/>
          </p:cNvPicPr>
          <p:nvPr/>
        </p:nvPicPr>
        <p:blipFill>
          <a:blip r:embed="rId3"/>
          <a:srcRect l="0" r="0" t="0" b="0"/>
          <a:stretch/>
        </p:blipFill>
        <p:spPr>
          <a:xfrm>
            <a:off x="8940800" y="2000200"/>
            <a:ext cx="1524000" cy="1143000"/>
          </a:xfrm>
          <a:prstGeom prst="rect">
            <a:avLst/>
          </a:prstGeom>
        </p:spPr>
      </p:pic>
      <p:sp>
        <p:nvSpPr>
          <p:cNvPr id="14" name="Text 9"/>
          <p:cNvSpPr/>
          <p:nvPr/>
        </p:nvSpPr>
        <p:spPr>
          <a:xfrm>
            <a:off x="8762568" y="3244800"/>
            <a:ext cx="1880414" cy="28446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0B2447"/>
                </a:solidFill>
                <a:latin typeface="Poppins" pitchFamily="34" charset="0"/>
                <a:ea typeface="Poppins" pitchFamily="34" charset="-122"/>
                <a:cs typeface="Poppins" pitchFamily="34" charset="-120"/>
              </a:rPr>
              <a:t>3. Net Banking</a:t>
            </a:r>
            <a:endParaRPr lang="en-US" sz="1700" dirty="0"/>
          </a:p>
        </p:txBody>
      </p:sp>
      <p:sp>
        <p:nvSpPr>
          <p:cNvPr id="15" name="Text 10"/>
          <p:cNvSpPr/>
          <p:nvPr/>
        </p:nvSpPr>
        <p:spPr>
          <a:xfrm>
            <a:off x="8191945" y="3605461"/>
            <a:ext cx="3021711" cy="798711"/>
          </a:xfrm>
          <a:prstGeom prst="rect">
            <a:avLst/>
          </a:prstGeom>
          <a:noFill/>
          <a:ln/>
        </p:spPr>
        <p:txBody>
          <a:bodyPr wrap="square" lIns="0" tIns="0" rIns="0" bIns="0" rtlCol="0" anchor="t">
            <a:normAutofit/>
          </a:bodyPr>
          <a:lstStyle/>
          <a:p>
            <a:pPr algn="ctr" indent="0" marL="0">
              <a:lnSpc>
                <a:spcPts val="2030"/>
              </a:lnSpc>
              <a:buNone/>
            </a:pPr>
            <a:r>
              <a:rPr lang="en-US" sz="1400" dirty="0">
                <a:solidFill>
                  <a:srgbClr val="334155"/>
                </a:solidFill>
                <a:latin typeface="Arial" pitchFamily="34" charset="0"/>
                <a:ea typeface="Arial" pitchFamily="34" charset="-122"/>
                <a:cs typeface="Arial" pitchFamily="34" charset="-120"/>
              </a:rPr>
              <a:t>Choose a supported bank and complete payment through the bank's authorization process.</a:t>
            </a:r>
            <a:endParaRPr lang="en-US" sz="1400" dirty="0"/>
          </a:p>
        </p:txBody>
      </p:sp>
      <p:sp>
        <p:nvSpPr>
          <p:cNvPr id="16" name="Shape 11"/>
          <p:cNvSpPr/>
          <p:nvPr/>
        </p:nvSpPr>
        <p:spPr>
          <a:xfrm>
            <a:off x="812800" y="4842321"/>
            <a:ext cx="10566400" cy="673100"/>
          </a:xfrm>
          <a:prstGeom prst="roundRect">
            <a:avLst>
              <a:gd name="adj" fmla="val 18868"/>
            </a:avLst>
          </a:prstGeom>
          <a:solidFill>
            <a:srgbClr val="0B2447"/>
          </a:solidFill>
          <a:ln/>
        </p:spPr>
      </p:sp>
      <p:sp>
        <p:nvSpPr>
          <p:cNvPr id="17" name="Text 12"/>
          <p:cNvSpPr/>
          <p:nvPr/>
        </p:nvSpPr>
        <p:spPr>
          <a:xfrm>
            <a:off x="1016000" y="4969321"/>
            <a:ext cx="1200398" cy="419100"/>
          </a:xfrm>
          <a:prstGeom prst="roundRect">
            <a:avLst>
              <a:gd name="adj" fmla="val 18182"/>
            </a:avLst>
          </a:prstGeom>
          <a:solidFill>
            <a:srgbClr val="1D4ED8"/>
          </a:solidFill>
          <a:ln/>
        </p:spPr>
        <p:txBody>
          <a:bodyPr wrap="none" lIns="0" tIns="0" rIns="0" bIns="0" rtlCol="0" anchor="ctr">
            <a:normAutofit/>
          </a:bodyPr>
          <a:lstStyle/>
          <a:p>
            <a:pPr algn="ctr" indent="0" marL="0">
              <a:lnSpc>
                <a:spcPts val="2100"/>
              </a:lnSpc>
              <a:buNone/>
            </a:pPr>
            <a:r>
              <a:rPr lang="en-US" sz="1500" b="1" dirty="0">
                <a:solidFill>
                  <a:srgbClr val="FFFFFF"/>
                </a:solidFill>
                <a:latin typeface="Arial" pitchFamily="34" charset="0"/>
                <a:ea typeface="Arial" pitchFamily="34" charset="-122"/>
                <a:cs typeface="Arial" pitchFamily="34" charset="-120"/>
              </a:rPr>
              <a:t>Pay Now</a:t>
            </a:r>
            <a:endParaRPr lang="en-US" sz="1500" dirty="0"/>
          </a:p>
        </p:txBody>
      </p:sp>
      <p:sp>
        <p:nvSpPr>
          <p:cNvPr id="18" name="Text 13"/>
          <p:cNvSpPr/>
          <p:nvPr/>
        </p:nvSpPr>
        <p:spPr>
          <a:xfrm>
            <a:off x="2394198" y="5058866"/>
            <a:ext cx="904525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2E8F0"/>
                </a:solidFill>
                <a:latin typeface="Arial" pitchFamily="34" charset="0"/>
                <a:ea typeface="Arial" pitchFamily="34" charset="-122"/>
                <a:cs typeface="Arial" pitchFamily="34" charset="-120"/>
              </a:rPr>
              <a:t>After choosing a payment method, the user clicks Pay Now to start the transaction.</a:t>
            </a:r>
            <a:endParaRPr lang="en-US" sz="1400" dirty="0"/>
          </a:p>
        </p:txBody>
      </p:sp>
      <p:sp>
        <p:nvSpPr>
          <p:cNvPr id="19"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a:t>
            </a:r>
            <a:endParaRPr lang="en-US" sz="1200" dirty="0"/>
          </a:p>
        </p:txBody>
      </p:sp>
      <p:sp>
        <p:nvSpPr>
          <p:cNvPr id="20"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14 / 20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SCREEN 9 · PAYMENT RESULT</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Payment successful or failed</a:t>
            </a:r>
            <a:endParaRPr lang="en-US" sz="3200" dirty="0"/>
          </a:p>
        </p:txBody>
      </p:sp>
      <p:sp>
        <p:nvSpPr>
          <p:cNvPr id="4" name="Shape 2"/>
          <p:cNvSpPr/>
          <p:nvPr/>
        </p:nvSpPr>
        <p:spPr>
          <a:xfrm>
            <a:off x="822325" y="1774775"/>
            <a:ext cx="5162550" cy="1997670"/>
          </a:xfrm>
          <a:prstGeom prst="roundRect">
            <a:avLst>
              <a:gd name="adj" fmla="val 7152"/>
            </a:avLst>
          </a:prstGeom>
          <a:solidFill>
            <a:srgbClr val="F0FDFA"/>
          </a:solidFill>
          <a:ln w="19050">
            <a:solidFill>
              <a:srgbClr val="0F766E"/>
            </a:solidFill>
            <a:prstDash val="solid"/>
          </a:ln>
        </p:spPr>
      </p:sp>
      <p:pic>
        <p:nvPicPr>
          <p:cNvPr id="5" name="Image 0" descr="CheckCircle">    </p:cNvPr>
          <p:cNvPicPr>
            <a:picLocks noChangeAspect="1"/>
          </p:cNvPicPr>
          <p:nvPr/>
        </p:nvPicPr>
        <p:blipFill>
          <a:blip r:embed="rId1"/>
          <a:srcRect l="0" r="0" t="0" b="0"/>
          <a:stretch/>
        </p:blipFill>
        <p:spPr>
          <a:xfrm>
            <a:off x="1035050" y="1987500"/>
            <a:ext cx="355600" cy="355600"/>
          </a:xfrm>
          <a:prstGeom prst="rect">
            <a:avLst/>
          </a:prstGeom>
        </p:spPr>
      </p:pic>
      <p:sp>
        <p:nvSpPr>
          <p:cNvPr id="6" name="Text 3"/>
          <p:cNvSpPr/>
          <p:nvPr/>
        </p:nvSpPr>
        <p:spPr>
          <a:xfrm>
            <a:off x="1504950" y="2014190"/>
            <a:ext cx="2519958"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34E4A"/>
                </a:solidFill>
                <a:latin typeface="Arial" pitchFamily="34" charset="0"/>
                <a:ea typeface="Arial" pitchFamily="34" charset="-122"/>
                <a:cs typeface="Arial" pitchFamily="34" charset="-120"/>
              </a:rPr>
              <a:t>Payment Successful</a:t>
            </a:r>
            <a:endParaRPr lang="en-US" sz="1700" dirty="0"/>
          </a:p>
        </p:txBody>
      </p:sp>
      <p:sp>
        <p:nvSpPr>
          <p:cNvPr id="7" name="Text 4"/>
          <p:cNvSpPr/>
          <p:nvPr/>
        </p:nvSpPr>
        <p:spPr>
          <a:xfrm>
            <a:off x="1132332" y="2457400"/>
            <a:ext cx="4774311" cy="1127720"/>
          </a:xfrm>
          <a:prstGeom prst="rect">
            <a:avLst/>
          </a:prstGeom>
          <a:noFill/>
          <a:ln/>
        </p:spPr>
        <p:txBody>
          <a:bodyPr wrap="square" lIns="0" tIns="0" rIns="0" bIns="0" rtlCol="0" anchor="t">
            <a:normAutofit/>
          </a:bodyPr>
          <a:lstStyle/>
          <a:p>
            <a:pPr algn="l" marL="156718" indent="-156718">
              <a:lnSpc>
                <a:spcPts val="2170"/>
              </a:lnSpc>
              <a:buSzPct val="100000"/>
              <a:buChar char="•"/>
            </a:pPr>
            <a:r>
              <a:rPr lang="en-US" sz="1400" dirty="0">
                <a:solidFill>
                  <a:srgbClr val="1E293B"/>
                </a:solidFill>
                <a:latin typeface="Arial" pitchFamily="34" charset="0"/>
                <a:ea typeface="Arial" pitchFamily="34" charset="-122"/>
                <a:cs typeface="Arial" pitchFamily="34" charset="-120"/>
              </a:rPr>
              <a:t>Verify the payment with the gateway</a:t>
            </a:r>
            <a:endParaRPr lang="en-US" sz="1400" dirty="0"/>
          </a:p>
          <a:p>
            <a:pPr algn="l" marL="156718" indent="-156718">
              <a:lnSpc>
                <a:spcPts val="2170"/>
              </a:lnSpc>
              <a:buSzPct val="100000"/>
              <a:buChar char="•"/>
            </a:pPr>
            <a:r>
              <a:rPr lang="en-US" sz="1400" dirty="0">
                <a:solidFill>
                  <a:srgbClr val="1E293B"/>
                </a:solidFill>
                <a:latin typeface="Arial" pitchFamily="34" charset="0"/>
                <a:ea typeface="Arial" pitchFamily="34" charset="-122"/>
                <a:cs typeface="Arial" pitchFamily="34" charset="-120"/>
              </a:rPr>
              <a:t>Confirm the booking</a:t>
            </a:r>
            <a:endParaRPr lang="en-US" sz="1400" dirty="0"/>
          </a:p>
          <a:p>
            <a:pPr algn="l" marL="156718" indent="-156718">
              <a:lnSpc>
                <a:spcPts val="2170"/>
              </a:lnSpc>
              <a:buSzPct val="100000"/>
              <a:buChar char="•"/>
            </a:pPr>
            <a:r>
              <a:rPr lang="en-US" sz="1400" dirty="0">
                <a:solidFill>
                  <a:srgbClr val="1E293B"/>
                </a:solidFill>
                <a:latin typeface="Arial" pitchFamily="34" charset="0"/>
                <a:ea typeface="Arial" pitchFamily="34" charset="-122"/>
                <a:cs typeface="Arial" pitchFamily="34" charset="-120"/>
              </a:rPr>
              <a:t>Mark the seats as booked</a:t>
            </a:r>
            <a:endParaRPr lang="en-US" sz="1400" dirty="0"/>
          </a:p>
          <a:p>
            <a:pPr algn="l" marL="156718" indent="-156718">
              <a:lnSpc>
                <a:spcPts val="2170"/>
              </a:lnSpc>
              <a:buSzPct val="100000"/>
              <a:buChar char="•"/>
            </a:pPr>
            <a:r>
              <a:rPr lang="en-US" sz="1400" dirty="0">
                <a:solidFill>
                  <a:srgbClr val="1E293B"/>
                </a:solidFill>
                <a:latin typeface="Arial" pitchFamily="34" charset="0"/>
                <a:ea typeface="Arial" pitchFamily="34" charset="-122"/>
                <a:cs typeface="Arial" pitchFamily="34" charset="-120"/>
              </a:rPr>
              <a:t>Generate the ticket</a:t>
            </a:r>
            <a:endParaRPr lang="en-US" sz="1400" dirty="0"/>
          </a:p>
        </p:txBody>
      </p:sp>
      <p:sp>
        <p:nvSpPr>
          <p:cNvPr id="8" name="Shape 5"/>
          <p:cNvSpPr/>
          <p:nvPr/>
        </p:nvSpPr>
        <p:spPr>
          <a:xfrm>
            <a:off x="6207125" y="1774775"/>
            <a:ext cx="5162550" cy="1997670"/>
          </a:xfrm>
          <a:prstGeom prst="roundRect">
            <a:avLst>
              <a:gd name="adj" fmla="val 7152"/>
            </a:avLst>
          </a:prstGeom>
          <a:solidFill>
            <a:srgbClr val="FFF7ED"/>
          </a:solidFill>
          <a:ln w="19050">
            <a:solidFill>
              <a:srgbClr val="C2410C"/>
            </a:solidFill>
            <a:prstDash val="solid"/>
          </a:ln>
        </p:spPr>
      </p:sp>
      <p:pic>
        <p:nvPicPr>
          <p:cNvPr id="9" name="Image 1" descr="Warning">    </p:cNvPr>
          <p:cNvPicPr>
            <a:picLocks noChangeAspect="1"/>
          </p:cNvPicPr>
          <p:nvPr/>
        </p:nvPicPr>
        <p:blipFill>
          <a:blip r:embed="rId2"/>
          <a:srcRect l="0" r="0" t="0" b="0"/>
          <a:stretch/>
        </p:blipFill>
        <p:spPr>
          <a:xfrm>
            <a:off x="6419850" y="1987500"/>
            <a:ext cx="355600" cy="355600"/>
          </a:xfrm>
          <a:prstGeom prst="rect">
            <a:avLst/>
          </a:prstGeom>
        </p:spPr>
      </p:pic>
      <p:sp>
        <p:nvSpPr>
          <p:cNvPr id="10" name="Text 6"/>
          <p:cNvSpPr/>
          <p:nvPr/>
        </p:nvSpPr>
        <p:spPr>
          <a:xfrm>
            <a:off x="6889750" y="2014190"/>
            <a:ext cx="190059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7C2D12"/>
                </a:solidFill>
                <a:latin typeface="Arial" pitchFamily="34" charset="0"/>
                <a:ea typeface="Arial" pitchFamily="34" charset="-122"/>
                <a:cs typeface="Arial" pitchFamily="34" charset="-120"/>
              </a:rPr>
              <a:t>Payment Failed</a:t>
            </a:r>
            <a:endParaRPr lang="en-US" sz="1700" dirty="0"/>
          </a:p>
        </p:txBody>
      </p:sp>
      <p:sp>
        <p:nvSpPr>
          <p:cNvPr id="11" name="Text 7"/>
          <p:cNvSpPr/>
          <p:nvPr/>
        </p:nvSpPr>
        <p:spPr>
          <a:xfrm>
            <a:off x="6517132" y="2457400"/>
            <a:ext cx="4774311" cy="1127720"/>
          </a:xfrm>
          <a:prstGeom prst="rect">
            <a:avLst/>
          </a:prstGeom>
          <a:noFill/>
          <a:ln/>
        </p:spPr>
        <p:txBody>
          <a:bodyPr wrap="square" lIns="0" tIns="0" rIns="0" bIns="0" rtlCol="0" anchor="t">
            <a:normAutofit/>
          </a:bodyPr>
          <a:lstStyle/>
          <a:p>
            <a:pPr algn="l" marL="156718" indent="-156718">
              <a:lnSpc>
                <a:spcPts val="2170"/>
              </a:lnSpc>
              <a:buSzPct val="100000"/>
              <a:buChar char="•"/>
            </a:pPr>
            <a:r>
              <a:rPr lang="en-US" sz="1400" dirty="0">
                <a:solidFill>
                  <a:srgbClr val="1E293B"/>
                </a:solidFill>
                <a:latin typeface="Arial" pitchFamily="34" charset="0"/>
                <a:ea typeface="Arial" pitchFamily="34" charset="-122"/>
                <a:cs typeface="Arial" pitchFamily="34" charset="-120"/>
              </a:rPr>
              <a:t>Display the failure message</a:t>
            </a:r>
            <a:endParaRPr lang="en-US" sz="1400" dirty="0"/>
          </a:p>
          <a:p>
            <a:pPr algn="l" marL="156718" indent="-156718">
              <a:lnSpc>
                <a:spcPts val="2170"/>
              </a:lnSpc>
              <a:buSzPct val="100000"/>
              <a:buChar char="•"/>
            </a:pPr>
            <a:r>
              <a:rPr lang="en-US" sz="1400" dirty="0">
                <a:solidFill>
                  <a:srgbClr val="1E293B"/>
                </a:solidFill>
                <a:latin typeface="Arial" pitchFamily="34" charset="0"/>
                <a:ea typeface="Arial" pitchFamily="34" charset="-122"/>
                <a:cs typeface="Arial" pitchFamily="34" charset="-120"/>
              </a:rPr>
              <a:t>Keep the booking unconfirmed</a:t>
            </a:r>
            <a:endParaRPr lang="en-US" sz="1400" dirty="0"/>
          </a:p>
          <a:p>
            <a:pPr algn="l" marL="156718" indent="-156718">
              <a:lnSpc>
                <a:spcPts val="2170"/>
              </a:lnSpc>
              <a:buSzPct val="100000"/>
              <a:buChar char="•"/>
            </a:pPr>
            <a:r>
              <a:rPr lang="en-US" sz="1400" dirty="0">
                <a:solidFill>
                  <a:srgbClr val="1E293B"/>
                </a:solidFill>
                <a:latin typeface="Arial" pitchFamily="34" charset="0"/>
                <a:ea typeface="Arial" pitchFamily="34" charset="-122"/>
                <a:cs typeface="Arial" pitchFamily="34" charset="-120"/>
              </a:rPr>
              <a:t>Allow the user to retry payment</a:t>
            </a:r>
            <a:endParaRPr lang="en-US" sz="1400" dirty="0"/>
          </a:p>
          <a:p>
            <a:pPr algn="l" marL="156718" indent="-156718">
              <a:lnSpc>
                <a:spcPts val="2170"/>
              </a:lnSpc>
              <a:buSzPct val="100000"/>
              <a:buChar char="•"/>
            </a:pPr>
            <a:r>
              <a:rPr lang="en-US" sz="1400" dirty="0">
                <a:solidFill>
                  <a:srgbClr val="1E293B"/>
                </a:solidFill>
                <a:latin typeface="Arial" pitchFamily="34" charset="0"/>
                <a:ea typeface="Arial" pitchFamily="34" charset="-122"/>
                <a:cs typeface="Arial" pitchFamily="34" charset="-120"/>
              </a:rPr>
              <a:t>Release expired seat locks safely</a:t>
            </a:r>
            <a:endParaRPr lang="en-US" sz="1400" dirty="0"/>
          </a:p>
        </p:txBody>
      </p:sp>
      <p:sp>
        <p:nvSpPr>
          <p:cNvPr id="12" name="Shape 8"/>
          <p:cNvSpPr/>
          <p:nvPr/>
        </p:nvSpPr>
        <p:spPr>
          <a:xfrm>
            <a:off x="819150" y="4016921"/>
            <a:ext cx="10553700" cy="1111796"/>
          </a:xfrm>
          <a:prstGeom prst="roundRect">
            <a:avLst>
              <a:gd name="adj" fmla="val 10852"/>
            </a:avLst>
          </a:prstGeom>
          <a:solidFill>
            <a:srgbClr val="EFF6FF"/>
          </a:solidFill>
          <a:ln w="12700">
            <a:solidFill>
              <a:srgbClr val="93C5FD"/>
            </a:solidFill>
            <a:prstDash val="solid"/>
          </a:ln>
        </p:spPr>
      </p:sp>
      <p:sp>
        <p:nvSpPr>
          <p:cNvPr id="13" name="Text 9"/>
          <p:cNvSpPr/>
          <p:nvPr/>
        </p:nvSpPr>
        <p:spPr>
          <a:xfrm>
            <a:off x="1028700" y="4175671"/>
            <a:ext cx="10438638" cy="50413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E293B"/>
                </a:solidFill>
                <a:latin typeface="Arial" pitchFamily="34" charset="0"/>
                <a:ea typeface="Arial" pitchFamily="34" charset="-122"/>
                <a:cs typeface="Arial" pitchFamily="34" charset="-120"/>
              </a:rPr>
              <a:t>Payment workflow:</a:t>
            </a:r>
            <a:r>
              <a:rPr lang="en-US" sz="1300" dirty="0">
                <a:solidFill>
                  <a:srgbClr val="1E293B"/>
                </a:solidFill>
                <a:latin typeface="Arial" pitchFamily="34" charset="0"/>
                <a:ea typeface="Arial" pitchFamily="34" charset="-122"/>
                <a:cs typeface="Arial" pitchFamily="34" charset="-120"/>
              </a:rPr>
              <a:t> The backend verifies the transaction through the gateway's payment confirmation or signed notification. Only a verified successful payment changes the booking to confirmed.</a:t>
            </a:r>
            <a:endParaRPr lang="en-US" sz="1300" dirty="0"/>
          </a:p>
        </p:txBody>
      </p:sp>
      <p:sp>
        <p:nvSpPr>
          <p:cNvPr id="14" name="Text 10"/>
          <p:cNvSpPr/>
          <p:nvPr/>
        </p:nvSpPr>
        <p:spPr>
          <a:xfrm>
            <a:off x="1028700" y="4730601"/>
            <a:ext cx="10438638" cy="26476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E293B"/>
                </a:solidFill>
                <a:latin typeface="Arial" pitchFamily="34" charset="0"/>
                <a:ea typeface="Arial" pitchFamily="34" charset="-122"/>
                <a:cs typeface="Arial" pitchFamily="34" charset="-120"/>
              </a:rPr>
              <a:t>Pending payment:</a:t>
            </a:r>
            <a:r>
              <a:rPr lang="en-US" sz="1300" dirty="0">
                <a:solidFill>
                  <a:srgbClr val="1E293B"/>
                </a:solidFill>
                <a:latin typeface="Arial" pitchFamily="34" charset="0"/>
                <a:ea typeface="Arial" pitchFamily="34" charset="-122"/>
                <a:cs typeface="Arial" pitchFamily="34" charset="-120"/>
              </a:rPr>
              <a:t> The system waits for confirmation instead of showing success or failure right away.</a:t>
            </a:r>
            <a:endParaRPr lang="en-US" sz="1300" dirty="0"/>
          </a:p>
        </p:txBody>
      </p:sp>
      <p:sp>
        <p:nvSpPr>
          <p:cNvPr id="15"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a:t>
            </a:r>
            <a:endParaRPr lang="en-US" sz="1200" dirty="0"/>
          </a:p>
        </p:txBody>
      </p:sp>
      <p:sp>
        <p:nvSpPr>
          <p:cNvPr id="16"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15 / 20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SCREEN 10 · CONFIRMED BOOKING</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Download the e-ticket</a:t>
            </a:r>
            <a:endParaRPr lang="en-US" sz="3200" dirty="0"/>
          </a:p>
        </p:txBody>
      </p:sp>
      <p:sp>
        <p:nvSpPr>
          <p:cNvPr id="4" name="Text 2"/>
          <p:cNvSpPr/>
          <p:nvPr/>
        </p:nvSpPr>
        <p:spPr>
          <a:xfrm>
            <a:off x="812800" y="1790650"/>
            <a:ext cx="510159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447"/>
                </a:solidFill>
                <a:latin typeface="Arial" pitchFamily="34" charset="0"/>
                <a:ea typeface="Arial" pitchFamily="34" charset="-122"/>
                <a:cs typeface="Arial" pitchFamily="34" charset="-120"/>
              </a:rPr>
              <a:t>The ticket contains</a:t>
            </a:r>
            <a:endParaRPr lang="en-US" sz="1400" dirty="0"/>
          </a:p>
        </p:txBody>
      </p:sp>
      <p:sp>
        <p:nvSpPr>
          <p:cNvPr id="5" name="Text 3"/>
          <p:cNvSpPr/>
          <p:nvPr/>
        </p:nvSpPr>
        <p:spPr>
          <a:xfrm>
            <a:off x="910082" y="2166541"/>
            <a:ext cx="4996688" cy="21590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334155"/>
                </a:solidFill>
                <a:latin typeface="Arial" pitchFamily="34" charset="0"/>
                <a:ea typeface="Arial" pitchFamily="34" charset="-122"/>
                <a:cs typeface="Arial" pitchFamily="34" charset="-120"/>
              </a:rPr>
              <a:t>Unique booking ID or PNR</a:t>
            </a:r>
            <a:endParaRPr lang="en-US" sz="1400" dirty="0"/>
          </a:p>
          <a:p>
            <a:pPr algn="l" marL="156718" indent="-156718">
              <a:lnSpc>
                <a:spcPts val="2100"/>
              </a:lnSpc>
              <a:buSzPct val="100000"/>
              <a:buChar char="•"/>
            </a:pPr>
            <a:r>
              <a:rPr lang="en-US" sz="1400" dirty="0">
                <a:solidFill>
                  <a:srgbClr val="334155"/>
                </a:solidFill>
                <a:latin typeface="Arial" pitchFamily="34" charset="0"/>
                <a:ea typeface="Arial" pitchFamily="34" charset="-122"/>
                <a:cs typeface="Arial" pitchFamily="34" charset="-120"/>
              </a:rPr>
              <a:t>Passenger name</a:t>
            </a:r>
            <a:endParaRPr lang="en-US" sz="1400" dirty="0"/>
          </a:p>
          <a:p>
            <a:pPr algn="l" marL="156718" indent="-156718">
              <a:lnSpc>
                <a:spcPts val="2100"/>
              </a:lnSpc>
              <a:buSzPct val="100000"/>
              <a:buChar char="•"/>
            </a:pPr>
            <a:r>
              <a:rPr lang="en-US" sz="1400" dirty="0">
                <a:solidFill>
                  <a:srgbClr val="334155"/>
                </a:solidFill>
                <a:latin typeface="Arial" pitchFamily="34" charset="0"/>
                <a:ea typeface="Arial" pitchFamily="34" charset="-122"/>
                <a:cs typeface="Arial" pitchFamily="34" charset="-120"/>
              </a:rPr>
              <a:t>Bus operator and bus details</a:t>
            </a:r>
            <a:endParaRPr lang="en-US" sz="1400" dirty="0"/>
          </a:p>
          <a:p>
            <a:pPr algn="l" marL="156718" indent="-156718">
              <a:lnSpc>
                <a:spcPts val="2100"/>
              </a:lnSpc>
              <a:buSzPct val="100000"/>
              <a:buChar char="•"/>
            </a:pPr>
            <a:r>
              <a:rPr lang="en-US" sz="1400" dirty="0">
                <a:solidFill>
                  <a:srgbClr val="334155"/>
                </a:solidFill>
                <a:latin typeface="Arial" pitchFamily="34" charset="0"/>
                <a:ea typeface="Arial" pitchFamily="34" charset="-122"/>
                <a:cs typeface="Arial" pitchFamily="34" charset="-120"/>
              </a:rPr>
              <a:t>Source and destination</a:t>
            </a:r>
            <a:endParaRPr lang="en-US" sz="1400" dirty="0"/>
          </a:p>
          <a:p>
            <a:pPr algn="l" marL="156718" indent="-156718">
              <a:lnSpc>
                <a:spcPts val="2100"/>
              </a:lnSpc>
              <a:buSzPct val="100000"/>
              <a:buChar char="•"/>
            </a:pPr>
            <a:r>
              <a:rPr lang="en-US" sz="1400" dirty="0">
                <a:solidFill>
                  <a:srgbClr val="334155"/>
                </a:solidFill>
                <a:latin typeface="Arial" pitchFamily="34" charset="0"/>
                <a:ea typeface="Arial" pitchFamily="34" charset="-122"/>
                <a:cs typeface="Arial" pitchFamily="34" charset="-120"/>
              </a:rPr>
              <a:t>Journey date and departure time</a:t>
            </a:r>
            <a:endParaRPr lang="en-US" sz="1400" dirty="0"/>
          </a:p>
          <a:p>
            <a:pPr algn="l" marL="156718" indent="-156718">
              <a:lnSpc>
                <a:spcPts val="2100"/>
              </a:lnSpc>
              <a:buSzPct val="100000"/>
              <a:buChar char="•"/>
            </a:pPr>
            <a:r>
              <a:rPr lang="en-US" sz="1400" dirty="0">
                <a:solidFill>
                  <a:srgbClr val="334155"/>
                </a:solidFill>
                <a:latin typeface="Arial" pitchFamily="34" charset="0"/>
                <a:ea typeface="Arial" pitchFamily="34" charset="-122"/>
                <a:cs typeface="Arial" pitchFamily="34" charset="-120"/>
              </a:rPr>
              <a:t>Seat number</a:t>
            </a:r>
            <a:endParaRPr lang="en-US" sz="1400" dirty="0"/>
          </a:p>
          <a:p>
            <a:pPr algn="l" marL="156718" indent="-156718">
              <a:lnSpc>
                <a:spcPts val="2100"/>
              </a:lnSpc>
              <a:buSzPct val="100000"/>
              <a:buChar char="•"/>
            </a:pPr>
            <a:r>
              <a:rPr lang="en-US" sz="1400" dirty="0">
                <a:solidFill>
                  <a:srgbClr val="334155"/>
                </a:solidFill>
                <a:latin typeface="Arial" pitchFamily="34" charset="0"/>
                <a:ea typeface="Arial" pitchFamily="34" charset="-122"/>
                <a:cs typeface="Arial" pitchFamily="34" charset="-120"/>
              </a:rPr>
              <a:t>Payment status</a:t>
            </a:r>
            <a:endParaRPr lang="en-US" sz="1400" dirty="0"/>
          </a:p>
          <a:p>
            <a:pPr algn="l" marL="156718" indent="-156718">
              <a:lnSpc>
                <a:spcPts val="2100"/>
              </a:lnSpc>
              <a:buSzPct val="100000"/>
              <a:buChar char="•"/>
            </a:pPr>
            <a:r>
              <a:rPr lang="en-US" sz="1400" dirty="0">
                <a:solidFill>
                  <a:srgbClr val="334155"/>
                </a:solidFill>
                <a:latin typeface="Arial" pitchFamily="34" charset="0"/>
                <a:ea typeface="Arial" pitchFamily="34" charset="-122"/>
                <a:cs typeface="Arial" pitchFamily="34" charset="-120"/>
              </a:rPr>
              <a:t>QR code or verification code, if implemented</a:t>
            </a:r>
            <a:endParaRPr lang="en-US" sz="1400" dirty="0"/>
          </a:p>
        </p:txBody>
      </p:sp>
      <p:sp>
        <p:nvSpPr>
          <p:cNvPr id="6" name="Text 4"/>
          <p:cNvSpPr/>
          <p:nvPr/>
        </p:nvSpPr>
        <p:spPr>
          <a:xfrm>
            <a:off x="819150" y="4433491"/>
            <a:ext cx="4940300" cy="678160"/>
          </a:xfrm>
          <a:prstGeom prst="roundRect">
            <a:avLst>
              <a:gd name="adj" fmla="val 14045"/>
            </a:avLst>
          </a:prstGeom>
          <a:solidFill>
            <a:srgbClr val="EFF6FF"/>
          </a:solidFill>
          <a:ln w="12700">
            <a:solidFill>
              <a:srgbClr val="93C5FD"/>
            </a:solidFill>
            <a:prstDash val="solid"/>
          </a:ln>
        </p:spPr>
        <p:txBody>
          <a:bodyPr wrap="square" lIns="118152" tIns="80052" rIns="0" bIns="54652" rtlCol="0" anchor="t">
            <a:normAutofit/>
          </a:bodyPr>
          <a:lstStyle/>
          <a:p>
            <a:pPr algn="l" indent="0" marL="0">
              <a:lnSpc>
                <a:spcPts val="1820"/>
              </a:lnSpc>
              <a:buNone/>
            </a:pPr>
            <a:r>
              <a:rPr lang="en-US" sz="1300" dirty="0">
                <a:solidFill>
                  <a:srgbClr val="1E293B"/>
                </a:solidFill>
                <a:latin typeface="Arial" pitchFamily="34" charset="0"/>
                <a:ea typeface="Arial" pitchFamily="34" charset="-122"/>
                <a:cs typeface="Arial" pitchFamily="34" charset="-120"/>
              </a:rPr>
              <a:t>The ticket becomes available only after the booking is confirmed.</a:t>
            </a:r>
            <a:endParaRPr lang="en-US" sz="1300" dirty="0"/>
          </a:p>
        </p:txBody>
      </p:sp>
      <p:sp>
        <p:nvSpPr>
          <p:cNvPr id="7" name="Shape 5"/>
          <p:cNvSpPr/>
          <p:nvPr/>
        </p:nvSpPr>
        <p:spPr>
          <a:xfrm>
            <a:off x="6178550" y="1797000"/>
            <a:ext cx="5194300" cy="3032522"/>
          </a:xfrm>
          <a:prstGeom prst="roundRect">
            <a:avLst>
              <a:gd name="adj" fmla="val 4816"/>
            </a:avLst>
          </a:prstGeom>
          <a:solidFill>
            <a:srgbClr val="FFFFFF"/>
          </a:solidFill>
          <a:ln w="12700">
            <a:solidFill>
              <a:srgbClr val="CBD5E1"/>
            </a:solidFill>
            <a:prstDash val="solid"/>
          </a:ln>
          <a:effectLst>
            <a:outerShdw sx="100000" sy="100000" kx="0" ky="0" algn="bl" rotWithShape="0" blurRad="254000" dist="76200" dir="5400000">
              <a:srgbClr val="0B2447">
                <a:alpha val="14000"/>
              </a:srgbClr>
            </a:outerShdw>
          </a:effectLst>
        </p:spPr>
      </p:sp>
      <p:sp>
        <p:nvSpPr>
          <p:cNvPr id="8" name="Shape 6"/>
          <p:cNvSpPr/>
          <p:nvPr/>
        </p:nvSpPr>
        <p:spPr>
          <a:xfrm>
            <a:off x="6184900" y="1803350"/>
            <a:ext cx="5181600" cy="543520"/>
          </a:xfrm>
          <a:custGeom>
            <a:avLst/>
            <a:gdLst/>
            <a:ahLst/>
            <a:cxnLst/>
            <a:rect l="l" t="t" r="r" b="b"/>
            <a:pathLst>
              <a:path w="5181600" h="543520">
                <a:moveTo>
                  <a:pt x="0" y="139700"/>
                </a:moveTo>
                <a:arcTo hR="139700" wR="139700" stAng="10800000" swAng="5400000"/>
                <a:lnTo>
                  <a:pt x="5041900" y="0"/>
                </a:lnTo>
                <a:arcTo hR="139700" wR="139700" stAng="16200000" swAng="5400000"/>
                <a:lnTo>
                  <a:pt x="5181600" y="543520"/>
                </a:lnTo>
                <a:lnTo>
                  <a:pt x="0" y="543520"/>
                </a:lnTo>
                <a:close/>
              </a:path>
            </a:pathLst>
          </a:custGeom>
          <a:solidFill>
            <a:srgbClr val="0B2447"/>
          </a:solidFill>
          <a:ln/>
        </p:spPr>
      </p:sp>
      <p:sp>
        <p:nvSpPr>
          <p:cNvPr id="9" name="Text 7"/>
          <p:cNvSpPr/>
          <p:nvPr/>
        </p:nvSpPr>
        <p:spPr>
          <a:xfrm>
            <a:off x="6388100" y="1941761"/>
            <a:ext cx="119651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Poppins" pitchFamily="34" charset="0"/>
                <a:ea typeface="Poppins" pitchFamily="34" charset="-122"/>
                <a:cs typeface="Poppins" pitchFamily="34" charset="-120"/>
              </a:rPr>
              <a:t>Bus Ticket</a:t>
            </a:r>
            <a:endParaRPr lang="en-US" sz="1500" dirty="0"/>
          </a:p>
        </p:txBody>
      </p:sp>
      <p:sp>
        <p:nvSpPr>
          <p:cNvPr id="10" name="Text 8"/>
          <p:cNvSpPr/>
          <p:nvPr/>
        </p:nvSpPr>
        <p:spPr>
          <a:xfrm>
            <a:off x="9523661" y="1930350"/>
            <a:ext cx="1639639" cy="289520"/>
          </a:xfrm>
          <a:custGeom>
            <a:avLst/>
            <a:gdLst/>
            <a:ahLst/>
            <a:cxnLst/>
            <a:rect l="l" t="t" r="r" b="b"/>
            <a:pathLst>
              <a:path w="1639639" h="289520">
                <a:moveTo>
                  <a:pt x="144760" y="0"/>
                </a:moveTo>
                <a:lnTo>
                  <a:pt x="1494879" y="0"/>
                </a:lnTo>
                <a:arcTo hR="144760" wR="144760" stAng="16200000" swAng="5400000"/>
                <a:lnTo>
                  <a:pt x="1639639" y="144760"/>
                </a:lnTo>
                <a:arcTo hR="144760" wR="144760" stAng="0" swAng="5400000"/>
                <a:lnTo>
                  <a:pt x="144760" y="289520"/>
                </a:lnTo>
                <a:arcTo hR="144760" wR="144760" stAng="5400000" swAng="5400000"/>
                <a:lnTo>
                  <a:pt x="0" y="144760"/>
                </a:lnTo>
                <a:arcTo hR="144760" wR="144760" stAng="10800000" swAng="5400000"/>
                <a:close/>
              </a:path>
            </a:pathLst>
          </a:custGeom>
          <a:solidFill>
            <a:srgbClr val="CCFBF1"/>
          </a:solidFill>
          <a:ln/>
        </p:spPr>
        <p:txBody>
          <a:bodyPr wrap="none" lIns="0" tIns="0" rIns="0" bIns="0" rtlCol="0" anchor="ctr">
            <a:normAutofit/>
          </a:bodyPr>
          <a:lstStyle/>
          <a:p>
            <a:pPr algn="ctr" indent="0" marL="0">
              <a:lnSpc>
                <a:spcPts val="1680"/>
              </a:lnSpc>
              <a:buNone/>
            </a:pPr>
            <a:r>
              <a:rPr lang="en-US" sz="1200" b="1" dirty="0">
                <a:solidFill>
                  <a:srgbClr val="134E4A"/>
                </a:solidFill>
                <a:latin typeface="Arial" pitchFamily="34" charset="0"/>
                <a:ea typeface="Arial" pitchFamily="34" charset="-122"/>
                <a:cs typeface="Arial" pitchFamily="34" charset="-120"/>
              </a:rPr>
              <a:t>PAID · CONFIRMED</a:t>
            </a:r>
            <a:endParaRPr lang="en-US" sz="1200" dirty="0"/>
          </a:p>
        </p:txBody>
      </p:sp>
      <p:sp>
        <p:nvSpPr>
          <p:cNvPr id="11" name="Text 9"/>
          <p:cNvSpPr/>
          <p:nvPr/>
        </p:nvSpPr>
        <p:spPr>
          <a:xfrm>
            <a:off x="6388100" y="2524671"/>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PNR</a:t>
            </a:r>
            <a:endParaRPr lang="en-US" sz="1200" dirty="0"/>
          </a:p>
        </p:txBody>
      </p:sp>
      <p:sp>
        <p:nvSpPr>
          <p:cNvPr id="12" name="Text 10"/>
          <p:cNvSpPr/>
          <p:nvPr/>
        </p:nvSpPr>
        <p:spPr>
          <a:xfrm>
            <a:off x="6388100" y="2737991"/>
            <a:ext cx="17399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2447"/>
                </a:solidFill>
                <a:latin typeface="Arial" pitchFamily="34" charset="0"/>
                <a:ea typeface="Arial" pitchFamily="34" charset="-122"/>
                <a:cs typeface="Arial" pitchFamily="34" charset="-120"/>
              </a:rPr>
              <a:t>BB-251025-0042</a:t>
            </a:r>
            <a:endParaRPr lang="en-US" sz="1300" dirty="0"/>
          </a:p>
        </p:txBody>
      </p:sp>
      <p:sp>
        <p:nvSpPr>
          <p:cNvPr id="13" name="Text 11"/>
          <p:cNvSpPr/>
          <p:nvPr/>
        </p:nvSpPr>
        <p:spPr>
          <a:xfrm>
            <a:off x="8178800" y="2524671"/>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Passenger</a:t>
            </a:r>
            <a:endParaRPr lang="en-US" sz="1200" dirty="0"/>
          </a:p>
        </p:txBody>
      </p:sp>
      <p:sp>
        <p:nvSpPr>
          <p:cNvPr id="14" name="Text 12"/>
          <p:cNvSpPr/>
          <p:nvPr/>
        </p:nvSpPr>
        <p:spPr>
          <a:xfrm>
            <a:off x="8178800" y="2737991"/>
            <a:ext cx="17399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2447"/>
                </a:solidFill>
                <a:latin typeface="Arial" pitchFamily="34" charset="0"/>
                <a:ea typeface="Arial" pitchFamily="34" charset="-122"/>
                <a:cs typeface="Arial" pitchFamily="34" charset="-120"/>
              </a:rPr>
              <a:t>A. Kumar</a:t>
            </a:r>
            <a:endParaRPr lang="en-US" sz="1300" dirty="0"/>
          </a:p>
        </p:txBody>
      </p:sp>
      <p:sp>
        <p:nvSpPr>
          <p:cNvPr id="15" name="Text 13"/>
          <p:cNvSpPr/>
          <p:nvPr/>
        </p:nvSpPr>
        <p:spPr>
          <a:xfrm>
            <a:off x="6388100" y="3083421"/>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Route</a:t>
            </a:r>
            <a:endParaRPr lang="en-US" sz="1200" dirty="0"/>
          </a:p>
        </p:txBody>
      </p:sp>
      <p:sp>
        <p:nvSpPr>
          <p:cNvPr id="16" name="Text 14"/>
          <p:cNvSpPr/>
          <p:nvPr/>
        </p:nvSpPr>
        <p:spPr>
          <a:xfrm>
            <a:off x="6388100" y="3296741"/>
            <a:ext cx="17399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2447"/>
                </a:solidFill>
                <a:latin typeface="Arial" pitchFamily="34" charset="0"/>
                <a:ea typeface="Arial" pitchFamily="34" charset="-122"/>
                <a:cs typeface="Arial" pitchFamily="34" charset="-120"/>
              </a:rPr>
              <a:t>Trichy → Chennai</a:t>
            </a:r>
            <a:endParaRPr lang="en-US" sz="1300" dirty="0"/>
          </a:p>
        </p:txBody>
      </p:sp>
      <p:sp>
        <p:nvSpPr>
          <p:cNvPr id="17" name="Text 15"/>
          <p:cNvSpPr/>
          <p:nvPr/>
        </p:nvSpPr>
        <p:spPr>
          <a:xfrm>
            <a:off x="8178800" y="3083421"/>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Journey date</a:t>
            </a:r>
            <a:endParaRPr lang="en-US" sz="1200" dirty="0"/>
          </a:p>
        </p:txBody>
      </p:sp>
      <p:sp>
        <p:nvSpPr>
          <p:cNvPr id="18" name="Text 16"/>
          <p:cNvSpPr/>
          <p:nvPr/>
        </p:nvSpPr>
        <p:spPr>
          <a:xfrm>
            <a:off x="8178800" y="3296741"/>
            <a:ext cx="17399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2447"/>
                </a:solidFill>
                <a:latin typeface="Arial" pitchFamily="34" charset="0"/>
                <a:ea typeface="Arial" pitchFamily="34" charset="-122"/>
                <a:cs typeface="Arial" pitchFamily="34" charset="-120"/>
              </a:rPr>
              <a:t>25/10/2026</a:t>
            </a:r>
            <a:endParaRPr lang="en-US" sz="1300" dirty="0"/>
          </a:p>
        </p:txBody>
      </p:sp>
      <p:sp>
        <p:nvSpPr>
          <p:cNvPr id="19" name="Text 17"/>
          <p:cNvSpPr/>
          <p:nvPr/>
        </p:nvSpPr>
        <p:spPr>
          <a:xfrm>
            <a:off x="6388100" y="3642171"/>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Departure</a:t>
            </a:r>
            <a:endParaRPr lang="en-US" sz="1200" dirty="0"/>
          </a:p>
        </p:txBody>
      </p:sp>
      <p:sp>
        <p:nvSpPr>
          <p:cNvPr id="20" name="Text 18"/>
          <p:cNvSpPr/>
          <p:nvPr/>
        </p:nvSpPr>
        <p:spPr>
          <a:xfrm>
            <a:off x="6388100" y="3855492"/>
            <a:ext cx="17399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2447"/>
                </a:solidFill>
                <a:latin typeface="Arial" pitchFamily="34" charset="0"/>
                <a:ea typeface="Arial" pitchFamily="34" charset="-122"/>
                <a:cs typeface="Arial" pitchFamily="34" charset="-120"/>
              </a:rPr>
              <a:t>06:00</a:t>
            </a:r>
            <a:endParaRPr lang="en-US" sz="1300" dirty="0"/>
          </a:p>
        </p:txBody>
      </p:sp>
      <p:sp>
        <p:nvSpPr>
          <p:cNvPr id="21" name="Text 19"/>
          <p:cNvSpPr/>
          <p:nvPr/>
        </p:nvSpPr>
        <p:spPr>
          <a:xfrm>
            <a:off x="8178800" y="3642171"/>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Seat</a:t>
            </a:r>
            <a:endParaRPr lang="en-US" sz="1200" dirty="0"/>
          </a:p>
        </p:txBody>
      </p:sp>
      <p:sp>
        <p:nvSpPr>
          <p:cNvPr id="22" name="Text 20"/>
          <p:cNvSpPr/>
          <p:nvPr/>
        </p:nvSpPr>
        <p:spPr>
          <a:xfrm>
            <a:off x="8178800" y="3855492"/>
            <a:ext cx="17399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2447"/>
                </a:solidFill>
                <a:latin typeface="Arial" pitchFamily="34" charset="0"/>
                <a:ea typeface="Arial" pitchFamily="34" charset="-122"/>
                <a:cs typeface="Arial" pitchFamily="34" charset="-120"/>
              </a:rPr>
              <a:t>3A</a:t>
            </a:r>
            <a:endParaRPr lang="en-US" sz="1300" dirty="0"/>
          </a:p>
        </p:txBody>
      </p:sp>
      <p:sp>
        <p:nvSpPr>
          <p:cNvPr id="23" name="Text 21"/>
          <p:cNvSpPr/>
          <p:nvPr/>
        </p:nvSpPr>
        <p:spPr>
          <a:xfrm>
            <a:off x="6388100" y="4200922"/>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a:t>
            </a:r>
            <a:endParaRPr lang="en-US" sz="1200" dirty="0"/>
          </a:p>
        </p:txBody>
      </p:sp>
      <p:sp>
        <p:nvSpPr>
          <p:cNvPr id="24" name="Text 22"/>
          <p:cNvSpPr/>
          <p:nvPr/>
        </p:nvSpPr>
        <p:spPr>
          <a:xfrm>
            <a:off x="6388100" y="4414242"/>
            <a:ext cx="17399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2447"/>
                </a:solidFill>
                <a:latin typeface="Arial" pitchFamily="34" charset="0"/>
                <a:ea typeface="Arial" pitchFamily="34" charset="-122"/>
                <a:cs typeface="Arial" pitchFamily="34" charset="-120"/>
              </a:rPr>
              <a:t>Blue Line Express</a:t>
            </a:r>
            <a:endParaRPr lang="en-US" sz="1300" dirty="0"/>
          </a:p>
        </p:txBody>
      </p:sp>
      <p:sp>
        <p:nvSpPr>
          <p:cNvPr id="25" name="Text 23"/>
          <p:cNvSpPr/>
          <p:nvPr/>
        </p:nvSpPr>
        <p:spPr>
          <a:xfrm>
            <a:off x="8178800" y="4200922"/>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Payment</a:t>
            </a:r>
            <a:endParaRPr lang="en-US" sz="1200" dirty="0"/>
          </a:p>
        </p:txBody>
      </p:sp>
      <p:sp>
        <p:nvSpPr>
          <p:cNvPr id="26" name="Text 24"/>
          <p:cNvSpPr/>
          <p:nvPr/>
        </p:nvSpPr>
        <p:spPr>
          <a:xfrm>
            <a:off x="8178800" y="4414242"/>
            <a:ext cx="17399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766E"/>
                </a:solidFill>
                <a:latin typeface="Arial" pitchFamily="34" charset="0"/>
                <a:ea typeface="Arial" pitchFamily="34" charset="-122"/>
                <a:cs typeface="Arial" pitchFamily="34" charset="-120"/>
              </a:rPr>
              <a:t>Successful</a:t>
            </a:r>
            <a:endParaRPr lang="en-US" sz="1300" dirty="0"/>
          </a:p>
        </p:txBody>
      </p:sp>
      <p:pic>
        <p:nvPicPr>
          <p:cNvPr id="27" name="Image 0" descr="Sample QR code on the ticket">    </p:cNvPr>
          <p:cNvPicPr>
            <a:picLocks noChangeAspect="1"/>
          </p:cNvPicPr>
          <p:nvPr/>
        </p:nvPicPr>
        <p:blipFill>
          <a:blip r:embed="rId1"/>
          <a:srcRect l="0" r="0" t="0" b="0"/>
          <a:stretch/>
        </p:blipFill>
        <p:spPr>
          <a:xfrm>
            <a:off x="10020300" y="2524671"/>
            <a:ext cx="1143000" cy="1143000"/>
          </a:xfrm>
          <a:prstGeom prst="rect">
            <a:avLst/>
          </a:prstGeom>
        </p:spPr>
      </p:pic>
      <p:sp>
        <p:nvSpPr>
          <p:cNvPr id="28" name="Text 25"/>
          <p:cNvSpPr/>
          <p:nvPr/>
        </p:nvSpPr>
        <p:spPr>
          <a:xfrm>
            <a:off x="6172200" y="4962872"/>
            <a:ext cx="1676400" cy="408930"/>
          </a:xfrm>
          <a:prstGeom prst="roundRect">
            <a:avLst>
              <a:gd name="adj" fmla="val 18634"/>
            </a:avLst>
          </a:prstGeom>
          <a:solidFill>
            <a:srgbClr val="1D4ED8"/>
          </a:solidFill>
          <a:ln/>
        </p:spPr>
        <p:txBody>
          <a:bodyPr wrap="square" lIns="41182" tIns="66582" rIns="41182" bIns="41182" rtlCol="0" anchor="t">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Download PDF</a:t>
            </a:r>
            <a:endParaRPr lang="en-US" sz="1300" dirty="0"/>
          </a:p>
        </p:txBody>
      </p:sp>
      <p:sp>
        <p:nvSpPr>
          <p:cNvPr id="29" name="Text 26"/>
          <p:cNvSpPr/>
          <p:nvPr/>
        </p:nvSpPr>
        <p:spPr>
          <a:xfrm>
            <a:off x="7943850" y="4969222"/>
            <a:ext cx="1663700" cy="396230"/>
          </a:xfrm>
          <a:prstGeom prst="roundRect">
            <a:avLst>
              <a:gd name="adj" fmla="val 17629"/>
            </a:avLst>
          </a:prstGeom>
          <a:solidFill>
            <a:srgbClr val="FFFFFF"/>
          </a:solidFill>
          <a:ln w="12700">
            <a:solidFill>
              <a:srgbClr val="1D4ED8"/>
            </a:solidFill>
            <a:prstDash val="solid"/>
          </a:ln>
        </p:spPr>
        <p:txBody>
          <a:bodyPr wrap="square" lIns="36692" tIns="62092" rIns="36692" bIns="36692" rtlCol="0" anchor="t">
            <a:normAutofit/>
          </a:bodyPr>
          <a:lstStyle/>
          <a:p>
            <a:pPr algn="ctr" indent="0" marL="0">
              <a:lnSpc>
                <a:spcPts val="1820"/>
              </a:lnSpc>
              <a:buNone/>
            </a:pPr>
            <a:r>
              <a:rPr lang="en-US" sz="1300" b="1" dirty="0">
                <a:solidFill>
                  <a:srgbClr val="1D4ED8"/>
                </a:solidFill>
                <a:latin typeface="Arial" pitchFamily="34" charset="0"/>
                <a:ea typeface="Arial" pitchFamily="34" charset="-122"/>
                <a:cs typeface="Arial" pitchFamily="34" charset="-120"/>
              </a:rPr>
              <a:t>View Ticket</a:t>
            </a:r>
            <a:endParaRPr lang="en-US" sz="1300" dirty="0"/>
          </a:p>
        </p:txBody>
      </p:sp>
      <p:sp>
        <p:nvSpPr>
          <p:cNvPr id="30" name="Text 27"/>
          <p:cNvSpPr/>
          <p:nvPr/>
        </p:nvSpPr>
        <p:spPr>
          <a:xfrm>
            <a:off x="9709150" y="4969222"/>
            <a:ext cx="1663700" cy="396230"/>
          </a:xfrm>
          <a:prstGeom prst="roundRect">
            <a:avLst>
              <a:gd name="adj" fmla="val 17629"/>
            </a:avLst>
          </a:prstGeom>
          <a:solidFill>
            <a:srgbClr val="FFFFFF"/>
          </a:solidFill>
          <a:ln w="12700">
            <a:solidFill>
              <a:srgbClr val="1D4ED8"/>
            </a:solidFill>
            <a:prstDash val="solid"/>
          </a:ln>
        </p:spPr>
        <p:txBody>
          <a:bodyPr wrap="square" lIns="36692" tIns="62092" rIns="36692" bIns="36692" rtlCol="0" anchor="t">
            <a:normAutofit/>
          </a:bodyPr>
          <a:lstStyle/>
          <a:p>
            <a:pPr algn="ctr" indent="0" marL="0">
              <a:lnSpc>
                <a:spcPts val="1820"/>
              </a:lnSpc>
              <a:buNone/>
            </a:pPr>
            <a:r>
              <a:rPr lang="en-US" sz="1300" b="1" dirty="0">
                <a:solidFill>
                  <a:srgbClr val="1D4ED8"/>
                </a:solidFill>
                <a:latin typeface="Arial" pitchFamily="34" charset="0"/>
                <a:ea typeface="Arial" pitchFamily="34" charset="-122"/>
                <a:cs typeface="Arial" pitchFamily="34" charset="-120"/>
              </a:rPr>
              <a:t>Print Ticket</a:t>
            </a:r>
            <a:endParaRPr lang="en-US" sz="1300" dirty="0"/>
          </a:p>
        </p:txBody>
      </p:sp>
      <p:sp>
        <p:nvSpPr>
          <p:cNvPr id="31" name="Text 2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 · Illustrative UI with sample data</a:t>
            </a:r>
            <a:endParaRPr lang="en-US" sz="1200" dirty="0"/>
          </a:p>
        </p:txBody>
      </p:sp>
      <p:sp>
        <p:nvSpPr>
          <p:cNvPr id="32"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16 / 20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DATABASE DESIGN</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What the system stores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77950"/>
          <a:ext cx="6337300" cy="2874566"/>
        </p:xfrm>
        <a:graphic>
          <a:graphicData uri="http://schemas.openxmlformats.org/drawingml/2006/table">
            <a:tbl>
              <a:tblPr/>
              <a:tblGrid>
                <a:gridCol w="1647698"/>
                <a:gridCol w="4689602"/>
              </a:tblGrid>
              <a:tr h="359321">
                <a:tc>
                  <a:txBody>
                    <a:bodyPr/>
                    <a:lstStyle/>
                    <a:p>
                      <a:pPr indent="0" marL="0">
                        <a:lnSpc>
                          <a:spcPts val="1820"/>
                        </a:lnSpc>
                        <a:buNone/>
                      </a:pPr>
                      <a:r>
                        <a:rPr lang="en-US" sz="1300" b="1" dirty="0">
                          <a:solidFill>
                            <a:srgbClr val="FFFFFF"/>
                          </a:solidFill>
                          <a:latin typeface="Arial" pitchFamily="34" charset="0"/>
                          <a:ea typeface="Arial" pitchFamily="34" charset="-122"/>
                          <a:cs typeface="Arial" pitchFamily="34" charset="-120"/>
                        </a:rPr>
                        <a:t>Collection</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0D203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03C"/>
                      </a:solidFill>
                      <a:prstDash val="solid"/>
                      <a:round/>
                      <a:headEnd type="none" w="med" len="med"/>
                      <a:tailEnd type="none" w="med" len="med"/>
                    </a:lnB>
                    <a:solidFill>
                      <a:srgbClr val="0B2447"/>
                    </a:solidFill>
                  </a:tcPr>
                </a:tc>
                <a:tc>
                  <a:txBody>
                    <a:bodyPr/>
                    <a:lstStyle/>
                    <a:p>
                      <a:pPr indent="0" marL="0">
                        <a:lnSpc>
                          <a:spcPts val="1820"/>
                        </a:lnSpc>
                        <a:buNone/>
                      </a:pPr>
                      <a:r>
                        <a:rPr lang="en-US" sz="1300" b="1" dirty="0">
                          <a:solidFill>
                            <a:srgbClr val="FFFFFF"/>
                          </a:solidFill>
                          <a:latin typeface="Arial" pitchFamily="34" charset="0"/>
                          <a:ea typeface="Arial" pitchFamily="34" charset="-122"/>
                          <a:cs typeface="Arial" pitchFamily="34" charset="-120"/>
                        </a:rPr>
                        <a:t>Main data</a:t>
                      </a:r>
                      <a:endParaRPr lang="en-US" sz="1300" dirty="0">
                        <a:latin typeface="Arial" charset="0"/>
                        <a:ea typeface="Arial" charset="0"/>
                        <a:cs typeface="Arial" charset="0"/>
                      </a:endParaRPr>
                    </a:p>
                  </a:txBody>
                  <a:tcPr marL="57785" marR="57785" marT="57785" marB="57785" anchor="t">
                    <a:lnL w="12700" cap="flat" cmpd="sng" algn="ctr">
                      <a:solidFill>
                        <a:srgbClr val="0D203C"/>
                      </a:solidFill>
                      <a:prstDash val="solid"/>
                      <a:round/>
                      <a:headEnd type="none" w="med" len="med"/>
                      <a:tailEnd type="none" w="med" len="med"/>
                    </a:lnL>
                    <a:lnR w="12700" cap="flat" cmpd="sng" algn="ctr">
                      <a:solidFill>
                        <a:srgbClr val="0D203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03C"/>
                      </a:solidFill>
                      <a:prstDash val="solid"/>
                      <a:round/>
                      <a:headEnd type="none" w="med" len="med"/>
                      <a:tailEnd type="none" w="med" len="med"/>
                    </a:lnB>
                    <a:solidFill>
                      <a:srgbClr val="0B2447"/>
                    </a:solidFill>
                  </a:tcPr>
                </a:tc>
              </a:tr>
              <a:tr h="359321">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Users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0D203C"/>
                      </a:solidFill>
                      <a:prstDash val="solid"/>
                      <a:round/>
                      <a:headEnd type="none" w="med" len="med"/>
                      <a:tailEnd type="none" w="med" len="med"/>
                    </a:lnT>
                    <a:lnB w="12700" cap="flat" cmpd="sng" algn="ctr">
                      <a:solidFill>
                        <a:srgbClr val="BFC4CB"/>
                      </a:solidFill>
                      <a:prstDash val="solid"/>
                      <a:round/>
                      <a:headEnd type="none" w="med" len="med"/>
                      <a:tailEnd type="none" w="med" len="med"/>
                    </a:lnB>
                    <a:solidFill>
                      <a:srgbClr val="EFF6FF"/>
                    </a:solidFill>
                  </a:tcPr>
                </a:tc>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User ID, name, email, password hash</a:t>
                      </a:r>
                      <a:endParaRPr lang="en-US" sz="1300" dirty="0">
                        <a:latin typeface="Arial" charset="0"/>
                        <a:ea typeface="Arial" charset="0"/>
                        <a:cs typeface="Arial" charset="0"/>
                      </a:endParaRPr>
                    </a:p>
                  </a:txBody>
                  <a:tcPr marL="57785" marR="57785" marT="57785" marB="57785"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0D203C"/>
                      </a:solidFill>
                      <a:prstDash val="solid"/>
                      <a:round/>
                      <a:headEnd type="none" w="med" len="med"/>
                      <a:tailEnd type="none" w="med" len="med"/>
                    </a:lnT>
                    <a:lnB w="12700" cap="flat" cmpd="sng" algn="ctr">
                      <a:solidFill>
                        <a:srgbClr val="BFC4CB"/>
                      </a:solidFill>
                      <a:prstDash val="solid"/>
                      <a:round/>
                      <a:headEnd type="none" w="med" len="med"/>
                      <a:tailEnd type="none" w="med" len="med"/>
                    </a:lnB>
                    <a:solidFill>
                      <a:srgbClr val="EFF6FF"/>
                    </a:solidFill>
                  </a:tcPr>
                </a:tc>
              </a:tr>
              <a:tr h="359321">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Buses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Bus ID, operator, type, seat layout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321">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Schedules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C4CB"/>
                      </a:solidFill>
                      <a:prstDash val="solid"/>
                      <a:round/>
                      <a:headEnd type="none" w="med" len="med"/>
                      <a:tailEnd type="none" w="med" len="med"/>
                    </a:lnB>
                    <a:solidFill>
                      <a:srgbClr val="EFF6FF"/>
                    </a:solidFill>
                  </a:tcPr>
                </a:tc>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Bus ID, route, date, departure time</a:t>
                      </a:r>
                      <a:endParaRPr lang="en-US" sz="1300" dirty="0">
                        <a:latin typeface="Arial" charset="0"/>
                        <a:ea typeface="Arial" charset="0"/>
                        <a:cs typeface="Arial" charset="0"/>
                      </a:endParaRPr>
                    </a:p>
                  </a:txBody>
                  <a:tcPr marL="57785" marR="57785" marT="57785" marB="57785"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C4CB"/>
                      </a:solidFill>
                      <a:prstDash val="solid"/>
                      <a:round/>
                      <a:headEnd type="none" w="med" len="med"/>
                      <a:tailEnd type="none" w="med" len="med"/>
                    </a:lnB>
                    <a:solidFill>
                      <a:srgbClr val="EFF6FF"/>
                    </a:solidFill>
                  </a:tcPr>
                </a:tc>
              </a:tr>
              <a:tr h="359321">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Seats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Seat ID, schedule ID, status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321">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Bookings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C4CB"/>
                      </a:solidFill>
                      <a:prstDash val="solid"/>
                      <a:round/>
                      <a:headEnd type="none" w="med" len="med"/>
                      <a:tailEnd type="none" w="med" len="med"/>
                    </a:lnB>
                    <a:solidFill>
                      <a:srgbClr val="EFF6FF"/>
                    </a:solidFill>
                  </a:tcPr>
                </a:tc>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Booking ID, user ID, seats, amount, status</a:t>
                      </a:r>
                      <a:endParaRPr lang="en-US" sz="1300" dirty="0">
                        <a:latin typeface="Arial" charset="0"/>
                        <a:ea typeface="Arial" charset="0"/>
                        <a:cs typeface="Arial" charset="0"/>
                      </a:endParaRPr>
                    </a:p>
                  </a:txBody>
                  <a:tcPr marL="57785" marR="57785" marT="57785" marB="57785"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C4CB"/>
                      </a:solidFill>
                      <a:prstDash val="solid"/>
                      <a:round/>
                      <a:headEnd type="none" w="med" len="med"/>
                      <a:tailEnd type="none" w="med" len="med"/>
                    </a:lnB>
                    <a:solidFill>
                      <a:srgbClr val="EFF6FF"/>
                    </a:solidFill>
                  </a:tcPr>
                </a:tc>
              </a:tr>
              <a:tr h="359321">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Payments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Payment ID, booking ID, method, status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C4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321">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Tickets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C4CB"/>
                      </a:solidFill>
                      <a:prstDash val="solid"/>
                      <a:round/>
                      <a:headEnd type="none" w="med" len="med"/>
                      <a:tailEnd type="none" w="med" len="med"/>
                    </a:lnB>
                    <a:solidFill>
                      <a:srgbClr val="EFF6FF"/>
                    </a:solidFill>
                  </a:tcPr>
                </a:tc>
                <a:tc>
                  <a:txBody>
                    <a:bodyPr/>
                    <a:lstStyle/>
                    <a:p>
                      <a:pPr indent="0" marL="0">
                        <a:lnSpc>
                          <a:spcPts val="1820"/>
                        </a:lnSpc>
                        <a:buNone/>
                      </a:pPr>
                      <a:r>
                        <a:rPr lang="en-US" sz="1300" dirty="0">
                          <a:solidFill>
                            <a:srgbClr val="334155"/>
                          </a:solidFill>
                          <a:latin typeface="Arial" pitchFamily="34" charset="0"/>
                          <a:ea typeface="Arial" pitchFamily="34" charset="-122"/>
                          <a:cs typeface="Arial" pitchFamily="34" charset="-120"/>
                        </a:rPr>
                        <a:t>Ticket ID, booking ID, PNR, details</a:t>
                      </a:r>
                      <a:endParaRPr lang="en-US" sz="1300" dirty="0">
                        <a:latin typeface="Arial" charset="0"/>
                        <a:ea typeface="Arial" charset="0"/>
                        <a:cs typeface="Arial" charset="0"/>
                      </a:endParaRPr>
                    </a:p>
                  </a:txBody>
                  <a:tcPr marL="57785" marR="57785" marT="57785" marB="57785" anchor="t">
                    <a:lnL w="12700" cap="flat" cmpd="sng" algn="ctr">
                      <a:solidFill>
                        <a:srgbClr val="BFC4CB"/>
                      </a:solidFill>
                      <a:prstDash val="solid"/>
                      <a:round/>
                      <a:headEnd type="none" w="med" len="med"/>
                      <a:tailEnd type="none" w="med" len="med"/>
                    </a:lnL>
                    <a:lnR w="12700" cap="flat" cmpd="sng" algn="ctr">
                      <a:solidFill>
                        <a:srgbClr val="BFC4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C4CB"/>
                      </a:solidFill>
                      <a:prstDash val="solid"/>
                      <a:round/>
                      <a:headEnd type="none" w="med" len="med"/>
                      <a:tailEnd type="none" w="med" len="med"/>
                    </a:lnB>
                    <a:solidFill>
                      <a:srgbClr val="EFF6FF"/>
                    </a:solidFill>
                  </a:tcPr>
                </a:tc>
              </a:tr>
            </a:tbl>
          </a:graphicData>
        </a:graphic>
      </p:graphicFrame>
      <p:sp>
        <p:nvSpPr>
          <p:cNvPr id="5" name="Shape 2"/>
          <p:cNvSpPr/>
          <p:nvPr/>
        </p:nvSpPr>
        <p:spPr>
          <a:xfrm>
            <a:off x="7470775" y="1768425"/>
            <a:ext cx="3905250" cy="2685951"/>
          </a:xfrm>
          <a:prstGeom prst="roundRect">
            <a:avLst>
              <a:gd name="adj" fmla="val 5556"/>
            </a:avLst>
          </a:prstGeom>
          <a:solidFill>
            <a:srgbClr val="F4F7FB"/>
          </a:solidFill>
          <a:ln w="6350">
            <a:solidFill>
              <a:srgbClr val="CBD5E1"/>
            </a:solidFill>
            <a:prstDash val="solid"/>
          </a:ln>
        </p:spPr>
      </p:sp>
      <p:sp>
        <p:nvSpPr>
          <p:cNvPr id="6" name="Text 3"/>
          <p:cNvSpPr/>
          <p:nvPr/>
        </p:nvSpPr>
        <p:spPr>
          <a:xfrm>
            <a:off x="8261588" y="1949400"/>
            <a:ext cx="2323624"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B2447"/>
                </a:solidFill>
                <a:latin typeface="Arial" pitchFamily="34" charset="0"/>
                <a:ea typeface="Arial" pitchFamily="34" charset="-122"/>
                <a:cs typeface="Arial" pitchFamily="34" charset="-120"/>
              </a:rPr>
              <a:t>How the data connects</a:t>
            </a:r>
            <a:endParaRPr lang="en-US" sz="1400" dirty="0"/>
          </a:p>
        </p:txBody>
      </p:sp>
      <p:sp>
        <p:nvSpPr>
          <p:cNvPr id="7" name="Text 4"/>
          <p:cNvSpPr/>
          <p:nvPr/>
        </p:nvSpPr>
        <p:spPr>
          <a:xfrm>
            <a:off x="8971707" y="2274491"/>
            <a:ext cx="903387" cy="401290"/>
          </a:xfrm>
          <a:prstGeom prst="roundRect">
            <a:avLst>
              <a:gd name="adj" fmla="val 22154"/>
            </a:avLst>
          </a:prstGeom>
          <a:solidFill>
            <a:srgbClr val="0B2447"/>
          </a:solidFill>
          <a:ln/>
        </p:spPr>
        <p:txBody>
          <a:bodyPr wrap="non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User</a:t>
            </a:r>
            <a:endParaRPr lang="en-US" sz="1400" dirty="0"/>
          </a:p>
        </p:txBody>
      </p:sp>
      <p:pic>
        <p:nvPicPr>
          <p:cNvPr id="8" name="Image 0" descr="arrow-down">    </p:cNvPr>
          <p:cNvPicPr>
            <a:picLocks noChangeAspect="1"/>
          </p:cNvPicPr>
          <p:nvPr/>
        </p:nvPicPr>
        <p:blipFill>
          <a:blip r:embed="rId1"/>
          <a:srcRect l="0" r="0" t="0" b="0"/>
          <a:stretch/>
        </p:blipFill>
        <p:spPr>
          <a:xfrm>
            <a:off x="9321800" y="2751981"/>
            <a:ext cx="203200" cy="254000"/>
          </a:xfrm>
          <a:prstGeom prst="rect">
            <a:avLst/>
          </a:prstGeom>
        </p:spPr>
      </p:pic>
      <p:sp>
        <p:nvSpPr>
          <p:cNvPr id="9" name="Text 5"/>
          <p:cNvSpPr/>
          <p:nvPr/>
        </p:nvSpPr>
        <p:spPr>
          <a:xfrm>
            <a:off x="8813800" y="3082181"/>
            <a:ext cx="1219150" cy="401290"/>
          </a:xfrm>
          <a:prstGeom prst="roundRect">
            <a:avLst>
              <a:gd name="adj" fmla="val 22154"/>
            </a:avLst>
          </a:prstGeom>
          <a:solidFill>
            <a:srgbClr val="1D4ED8"/>
          </a:solidFill>
          <a:ln/>
        </p:spPr>
        <p:txBody>
          <a:bodyPr wrap="non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Booking</a:t>
            </a:r>
            <a:endParaRPr lang="en-US" sz="1400" dirty="0"/>
          </a:p>
        </p:txBody>
      </p:sp>
      <p:pic>
        <p:nvPicPr>
          <p:cNvPr id="10" name="Image 1" descr="arrow-down">    </p:cNvPr>
          <p:cNvPicPr>
            <a:picLocks noChangeAspect="1"/>
          </p:cNvPicPr>
          <p:nvPr/>
        </p:nvPicPr>
        <p:blipFill>
          <a:blip r:embed="rId2"/>
          <a:srcRect l="0" r="0" t="0" b="0"/>
          <a:stretch/>
        </p:blipFill>
        <p:spPr>
          <a:xfrm>
            <a:off x="9321800" y="3559671"/>
            <a:ext cx="203200" cy="254000"/>
          </a:xfrm>
          <a:prstGeom prst="rect">
            <a:avLst/>
          </a:prstGeom>
        </p:spPr>
      </p:pic>
      <p:sp>
        <p:nvSpPr>
          <p:cNvPr id="11" name="Text 6"/>
          <p:cNvSpPr/>
          <p:nvPr/>
        </p:nvSpPr>
        <p:spPr>
          <a:xfrm>
            <a:off x="8499277" y="3896221"/>
            <a:ext cx="980331" cy="370830"/>
          </a:xfrm>
          <a:prstGeom prst="roundRect">
            <a:avLst>
              <a:gd name="adj" fmla="val 22261"/>
            </a:avLst>
          </a:prstGeom>
          <a:solidFill>
            <a:srgbClr val="DBEAFE"/>
          </a:solidFill>
          <a:ln w="12700">
            <a:solidFill>
              <a:srgbClr val="1D4ED8"/>
            </a:solidFill>
            <a:prstDash val="solid"/>
          </a:ln>
        </p:spPr>
        <p:txBody>
          <a:bodyPr wrap="none" lIns="0" tIns="0" rIns="0" bIns="0" rtlCol="0" anchor="ctr">
            <a:normAutofit/>
          </a:bodyPr>
          <a:lstStyle/>
          <a:p>
            <a:pPr algn="ctr" indent="0" marL="0">
              <a:lnSpc>
                <a:spcPts val="1820"/>
              </a:lnSpc>
              <a:buNone/>
            </a:pPr>
            <a:r>
              <a:rPr lang="en-US" sz="1300" b="1" dirty="0">
                <a:solidFill>
                  <a:srgbClr val="0B2447"/>
                </a:solidFill>
                <a:latin typeface="Arial" pitchFamily="34" charset="0"/>
                <a:ea typeface="Arial" pitchFamily="34" charset="-122"/>
                <a:cs typeface="Arial" pitchFamily="34" charset="-120"/>
              </a:rPr>
              <a:t>Payment</a:t>
            </a:r>
            <a:endParaRPr lang="en-US" sz="1300" dirty="0"/>
          </a:p>
        </p:txBody>
      </p:sp>
      <p:sp>
        <p:nvSpPr>
          <p:cNvPr id="12" name="Text 7"/>
          <p:cNvSpPr/>
          <p:nvPr/>
        </p:nvSpPr>
        <p:spPr>
          <a:xfrm>
            <a:off x="9581207" y="3896221"/>
            <a:ext cx="766316" cy="370830"/>
          </a:xfrm>
          <a:prstGeom prst="roundRect">
            <a:avLst>
              <a:gd name="adj" fmla="val 22261"/>
            </a:avLst>
          </a:prstGeom>
          <a:solidFill>
            <a:srgbClr val="CCFBF1"/>
          </a:solidFill>
          <a:ln w="12700">
            <a:solidFill>
              <a:srgbClr val="0F766E"/>
            </a:solidFill>
            <a:prstDash val="solid"/>
          </a:ln>
        </p:spPr>
        <p:txBody>
          <a:bodyPr wrap="none" lIns="0" tIns="0" rIns="0" bIns="0" rtlCol="0" anchor="ctr">
            <a:normAutofit/>
          </a:bodyPr>
          <a:lstStyle/>
          <a:p>
            <a:pPr algn="ctr" indent="0" marL="0">
              <a:lnSpc>
                <a:spcPts val="1820"/>
              </a:lnSpc>
              <a:buNone/>
            </a:pPr>
            <a:r>
              <a:rPr lang="en-US" sz="1300" b="1" dirty="0">
                <a:solidFill>
                  <a:srgbClr val="134E4A"/>
                </a:solidFill>
                <a:latin typeface="Arial" pitchFamily="34" charset="0"/>
                <a:ea typeface="Arial" pitchFamily="34" charset="-122"/>
                <a:cs typeface="Arial" pitchFamily="34" charset="-120"/>
              </a:rPr>
              <a:t>Ticket</a:t>
            </a:r>
            <a:endParaRPr lang="en-US" sz="1300" dirty="0"/>
          </a:p>
        </p:txBody>
      </p:sp>
      <p:sp>
        <p:nvSpPr>
          <p:cNvPr id="13" name="Text 8"/>
          <p:cNvSpPr/>
          <p:nvPr/>
        </p:nvSpPr>
        <p:spPr>
          <a:xfrm>
            <a:off x="819150" y="4887466"/>
            <a:ext cx="10553700" cy="678160"/>
          </a:xfrm>
          <a:prstGeom prst="roundRect">
            <a:avLst>
              <a:gd name="adj" fmla="val 14045"/>
            </a:avLst>
          </a:prstGeom>
          <a:solidFill>
            <a:srgbClr val="EFF6FF"/>
          </a:solidFill>
          <a:ln w="12700">
            <a:solidFill>
              <a:srgbClr val="93C5FD"/>
            </a:solidFill>
            <a:prstDash val="solid"/>
          </a:ln>
        </p:spPr>
        <p:txBody>
          <a:bodyPr wrap="square" lIns="156252" tIns="80052" rIns="0" bIns="54652" rtlCol="0" anchor="t">
            <a:normAutofit/>
          </a:bodyPr>
          <a:lstStyle/>
          <a:p>
            <a:pPr algn="l" indent="0" marL="0">
              <a:lnSpc>
                <a:spcPts val="1820"/>
              </a:lnSpc>
              <a:buNone/>
            </a:pPr>
            <a:r>
              <a:rPr lang="en-US" sz="1300" b="1" dirty="0">
                <a:solidFill>
                  <a:srgbClr val="1E293B"/>
                </a:solidFill>
                <a:latin typeface="Arial" pitchFamily="34" charset="0"/>
                <a:ea typeface="Arial" pitchFamily="34" charset="-122"/>
                <a:cs typeface="Arial" pitchFamily="34" charset="-120"/>
              </a:rPr>
              <a:t>Relationship:</a:t>
            </a:r>
            <a:r>
              <a:rPr lang="en-US" sz="1300" dirty="0">
                <a:solidFill>
                  <a:srgbClr val="1E293B"/>
                </a:solidFill>
                <a:latin typeface="Arial" pitchFamily="34" charset="0"/>
                <a:ea typeface="Arial" pitchFamily="34" charset="-122"/>
                <a:cs typeface="Arial" pitchFamily="34" charset="-120"/>
              </a:rPr>
              <a:t> A user can make multiple bookings. Each booking contains selected seats and a payment record. A confirmed booking can have a generated ticket.</a:t>
            </a:r>
            <a:endParaRPr lang="en-US" sz="1300" dirty="0"/>
          </a:p>
        </p:txBody>
      </p:sp>
      <p:sp>
        <p:nvSpPr>
          <p:cNvPr id="14"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a:t>
            </a:r>
            <a:endParaRPr lang="en-US" sz="1200" dirty="0"/>
          </a:p>
        </p:txBody>
      </p:sp>
      <p:sp>
        <p:nvSpPr>
          <p:cNvPr id="15"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17 / 20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ADVANTAGES</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Why this system helps travelers</a:t>
            </a:r>
            <a:endParaRPr lang="en-US" sz="3200" dirty="0"/>
          </a:p>
        </p:txBody>
      </p:sp>
      <p:sp>
        <p:nvSpPr>
          <p:cNvPr id="4" name="Shape 2"/>
          <p:cNvSpPr/>
          <p:nvPr/>
        </p:nvSpPr>
        <p:spPr>
          <a:xfrm>
            <a:off x="815975" y="1793825"/>
            <a:ext cx="3414167" cy="857250"/>
          </a:xfrm>
          <a:prstGeom prst="roundRect">
            <a:avLst>
              <a:gd name="adj" fmla="val 14444"/>
            </a:avLst>
          </a:prstGeom>
          <a:solidFill>
            <a:srgbClr val="FFFFFF"/>
          </a:solidFill>
          <a:ln w="6350">
            <a:solidFill>
              <a:srgbClr val="CBD5E1"/>
            </a:solidFill>
            <a:prstDash val="solid"/>
          </a:ln>
        </p:spPr>
      </p:sp>
      <p:pic>
        <p:nvPicPr>
          <p:cNvPr id="5" name="Image 0" descr="Check">    </p:cNvPr>
          <p:cNvPicPr>
            <a:picLocks noChangeAspect="1"/>
          </p:cNvPicPr>
          <p:nvPr/>
        </p:nvPicPr>
        <p:blipFill>
          <a:blip r:embed="rId1"/>
          <a:srcRect l="0" r="0" t="0" b="0"/>
          <a:stretch/>
        </p:blipFill>
        <p:spPr>
          <a:xfrm>
            <a:off x="996950" y="2070050"/>
            <a:ext cx="304800" cy="304800"/>
          </a:xfrm>
          <a:prstGeom prst="rect">
            <a:avLst/>
          </a:prstGeom>
        </p:spPr>
      </p:pic>
      <p:sp>
        <p:nvSpPr>
          <p:cNvPr id="6" name="Text 3"/>
          <p:cNvSpPr/>
          <p:nvPr/>
        </p:nvSpPr>
        <p:spPr>
          <a:xfrm>
            <a:off x="1428750" y="1974800"/>
            <a:ext cx="2699029"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B2447"/>
                </a:solidFill>
                <a:latin typeface="Arial" pitchFamily="34" charset="0"/>
                <a:ea typeface="Arial" pitchFamily="34" charset="-122"/>
                <a:cs typeface="Arial" pitchFamily="34" charset="-120"/>
              </a:rPr>
              <a:t>Convenient online ticket reservation</a:t>
            </a:r>
            <a:endParaRPr lang="en-US" sz="1500" dirty="0"/>
          </a:p>
        </p:txBody>
      </p:sp>
      <p:sp>
        <p:nvSpPr>
          <p:cNvPr id="7" name="Shape 4"/>
          <p:cNvSpPr/>
          <p:nvPr/>
        </p:nvSpPr>
        <p:spPr>
          <a:xfrm>
            <a:off x="4388892" y="1793825"/>
            <a:ext cx="3414167" cy="857250"/>
          </a:xfrm>
          <a:prstGeom prst="roundRect">
            <a:avLst>
              <a:gd name="adj" fmla="val 14444"/>
            </a:avLst>
          </a:prstGeom>
          <a:solidFill>
            <a:srgbClr val="FFFFFF"/>
          </a:solidFill>
          <a:ln w="6350">
            <a:solidFill>
              <a:srgbClr val="CBD5E1"/>
            </a:solidFill>
            <a:prstDash val="solid"/>
          </a:ln>
        </p:spPr>
      </p:sp>
      <p:pic>
        <p:nvPicPr>
          <p:cNvPr id="8" name="Image 1" descr="Check">    </p:cNvPr>
          <p:cNvPicPr>
            <a:picLocks noChangeAspect="1"/>
          </p:cNvPicPr>
          <p:nvPr/>
        </p:nvPicPr>
        <p:blipFill>
          <a:blip r:embed="rId2"/>
          <a:srcRect l="0" r="0" t="0" b="0"/>
          <a:stretch/>
        </p:blipFill>
        <p:spPr>
          <a:xfrm>
            <a:off x="4569867" y="2070050"/>
            <a:ext cx="304800" cy="304800"/>
          </a:xfrm>
          <a:prstGeom prst="rect">
            <a:avLst/>
          </a:prstGeom>
        </p:spPr>
      </p:pic>
      <p:sp>
        <p:nvSpPr>
          <p:cNvPr id="9" name="Text 5"/>
          <p:cNvSpPr/>
          <p:nvPr/>
        </p:nvSpPr>
        <p:spPr>
          <a:xfrm>
            <a:off x="5001667" y="2098625"/>
            <a:ext cx="257883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B2447"/>
                </a:solidFill>
                <a:latin typeface="Arial" pitchFamily="34" charset="0"/>
                <a:ea typeface="Arial" pitchFamily="34" charset="-122"/>
                <a:cs typeface="Arial" pitchFamily="34" charset="-120"/>
              </a:rPr>
              <a:t>Faster booking process</a:t>
            </a:r>
            <a:endParaRPr lang="en-US" sz="1500" dirty="0"/>
          </a:p>
        </p:txBody>
      </p:sp>
      <p:sp>
        <p:nvSpPr>
          <p:cNvPr id="10" name="Shape 6"/>
          <p:cNvSpPr/>
          <p:nvPr/>
        </p:nvSpPr>
        <p:spPr>
          <a:xfrm>
            <a:off x="7961809" y="1793825"/>
            <a:ext cx="3414216" cy="857250"/>
          </a:xfrm>
          <a:prstGeom prst="roundRect">
            <a:avLst>
              <a:gd name="adj" fmla="val 14444"/>
            </a:avLst>
          </a:prstGeom>
          <a:solidFill>
            <a:srgbClr val="FFFFFF"/>
          </a:solidFill>
          <a:ln w="6350">
            <a:solidFill>
              <a:srgbClr val="CBD5E1"/>
            </a:solidFill>
            <a:prstDash val="solid"/>
          </a:ln>
        </p:spPr>
      </p:sp>
      <p:pic>
        <p:nvPicPr>
          <p:cNvPr id="11" name="Image 2" descr="Check">    </p:cNvPr>
          <p:cNvPicPr>
            <a:picLocks noChangeAspect="1"/>
          </p:cNvPicPr>
          <p:nvPr/>
        </p:nvPicPr>
        <p:blipFill>
          <a:blip r:embed="rId3"/>
          <a:srcRect l="0" r="0" t="0" b="0"/>
          <a:stretch/>
        </p:blipFill>
        <p:spPr>
          <a:xfrm>
            <a:off x="8142784" y="2070050"/>
            <a:ext cx="304800" cy="304800"/>
          </a:xfrm>
          <a:prstGeom prst="rect">
            <a:avLst/>
          </a:prstGeom>
        </p:spPr>
      </p:pic>
      <p:sp>
        <p:nvSpPr>
          <p:cNvPr id="12" name="Text 7"/>
          <p:cNvSpPr/>
          <p:nvPr/>
        </p:nvSpPr>
        <p:spPr>
          <a:xfrm>
            <a:off x="8574584" y="2098625"/>
            <a:ext cx="275594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B2447"/>
                </a:solidFill>
                <a:latin typeface="Arial" pitchFamily="34" charset="0"/>
                <a:ea typeface="Arial" pitchFamily="34" charset="-122"/>
                <a:cs typeface="Arial" pitchFamily="34" charset="-120"/>
              </a:rPr>
              <a:t>Multiple payment options</a:t>
            </a:r>
            <a:endParaRPr lang="en-US" sz="1500" dirty="0"/>
          </a:p>
        </p:txBody>
      </p:sp>
      <p:sp>
        <p:nvSpPr>
          <p:cNvPr id="13" name="Shape 8"/>
          <p:cNvSpPr/>
          <p:nvPr/>
        </p:nvSpPr>
        <p:spPr>
          <a:xfrm>
            <a:off x="815975" y="2809825"/>
            <a:ext cx="3414167" cy="857250"/>
          </a:xfrm>
          <a:prstGeom prst="roundRect">
            <a:avLst>
              <a:gd name="adj" fmla="val 14444"/>
            </a:avLst>
          </a:prstGeom>
          <a:solidFill>
            <a:srgbClr val="FFFFFF"/>
          </a:solidFill>
          <a:ln w="6350">
            <a:solidFill>
              <a:srgbClr val="CBD5E1"/>
            </a:solidFill>
            <a:prstDash val="solid"/>
          </a:ln>
        </p:spPr>
      </p:sp>
      <p:pic>
        <p:nvPicPr>
          <p:cNvPr id="14" name="Image 3" descr="Check">    </p:cNvPr>
          <p:cNvPicPr>
            <a:picLocks noChangeAspect="1"/>
          </p:cNvPicPr>
          <p:nvPr/>
        </p:nvPicPr>
        <p:blipFill>
          <a:blip r:embed="rId4"/>
          <a:srcRect l="0" r="0" t="0" b="0"/>
          <a:stretch/>
        </p:blipFill>
        <p:spPr>
          <a:xfrm>
            <a:off x="996950" y="3086050"/>
            <a:ext cx="304800" cy="304800"/>
          </a:xfrm>
          <a:prstGeom prst="rect">
            <a:avLst/>
          </a:prstGeom>
        </p:spPr>
      </p:pic>
      <p:sp>
        <p:nvSpPr>
          <p:cNvPr id="15" name="Text 9"/>
          <p:cNvSpPr/>
          <p:nvPr/>
        </p:nvSpPr>
        <p:spPr>
          <a:xfrm>
            <a:off x="1428750" y="2990800"/>
            <a:ext cx="2699029"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B2447"/>
                </a:solidFill>
                <a:latin typeface="Arial" pitchFamily="34" charset="0"/>
                <a:ea typeface="Arial" pitchFamily="34" charset="-122"/>
                <a:cs typeface="Arial" pitchFamily="34" charset="-120"/>
              </a:rPr>
              <a:t>Clear view of seat availability</a:t>
            </a:r>
            <a:endParaRPr lang="en-US" sz="1500" dirty="0"/>
          </a:p>
        </p:txBody>
      </p:sp>
      <p:sp>
        <p:nvSpPr>
          <p:cNvPr id="16" name="Shape 10"/>
          <p:cNvSpPr/>
          <p:nvPr/>
        </p:nvSpPr>
        <p:spPr>
          <a:xfrm>
            <a:off x="4388892" y="2809825"/>
            <a:ext cx="3414167" cy="857250"/>
          </a:xfrm>
          <a:prstGeom prst="roundRect">
            <a:avLst>
              <a:gd name="adj" fmla="val 14444"/>
            </a:avLst>
          </a:prstGeom>
          <a:solidFill>
            <a:srgbClr val="FFFFFF"/>
          </a:solidFill>
          <a:ln w="6350">
            <a:solidFill>
              <a:srgbClr val="CBD5E1"/>
            </a:solidFill>
            <a:prstDash val="solid"/>
          </a:ln>
        </p:spPr>
      </p:sp>
      <p:pic>
        <p:nvPicPr>
          <p:cNvPr id="17" name="Image 4" descr="Check">    </p:cNvPr>
          <p:cNvPicPr>
            <a:picLocks noChangeAspect="1"/>
          </p:cNvPicPr>
          <p:nvPr/>
        </p:nvPicPr>
        <p:blipFill>
          <a:blip r:embed="rId5"/>
          <a:srcRect l="0" r="0" t="0" b="0"/>
          <a:stretch/>
        </p:blipFill>
        <p:spPr>
          <a:xfrm>
            <a:off x="4569867" y="3086050"/>
            <a:ext cx="304800" cy="304800"/>
          </a:xfrm>
          <a:prstGeom prst="rect">
            <a:avLst/>
          </a:prstGeom>
        </p:spPr>
      </p:pic>
      <p:sp>
        <p:nvSpPr>
          <p:cNvPr id="18" name="Text 11"/>
          <p:cNvSpPr/>
          <p:nvPr/>
        </p:nvSpPr>
        <p:spPr>
          <a:xfrm>
            <a:off x="5001667" y="2990800"/>
            <a:ext cx="2699029"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B2447"/>
                </a:solidFill>
                <a:latin typeface="Arial" pitchFamily="34" charset="0"/>
                <a:ea typeface="Arial" pitchFamily="34" charset="-122"/>
                <a:cs typeface="Arial" pitchFamily="34" charset="-120"/>
              </a:rPr>
              <a:t>Fewer manual errors and duplicate bookings</a:t>
            </a:r>
            <a:endParaRPr lang="en-US" sz="1500" dirty="0"/>
          </a:p>
        </p:txBody>
      </p:sp>
      <p:sp>
        <p:nvSpPr>
          <p:cNvPr id="19" name="Shape 12"/>
          <p:cNvSpPr/>
          <p:nvPr/>
        </p:nvSpPr>
        <p:spPr>
          <a:xfrm>
            <a:off x="7961809" y="2809825"/>
            <a:ext cx="3414216" cy="857250"/>
          </a:xfrm>
          <a:prstGeom prst="roundRect">
            <a:avLst>
              <a:gd name="adj" fmla="val 14444"/>
            </a:avLst>
          </a:prstGeom>
          <a:solidFill>
            <a:srgbClr val="FFFFFF"/>
          </a:solidFill>
          <a:ln w="6350">
            <a:solidFill>
              <a:srgbClr val="CBD5E1"/>
            </a:solidFill>
            <a:prstDash val="solid"/>
          </a:ln>
        </p:spPr>
      </p:sp>
      <p:pic>
        <p:nvPicPr>
          <p:cNvPr id="20" name="Image 5" descr="Check">    </p:cNvPr>
          <p:cNvPicPr>
            <a:picLocks noChangeAspect="1"/>
          </p:cNvPicPr>
          <p:nvPr/>
        </p:nvPicPr>
        <p:blipFill>
          <a:blip r:embed="rId6"/>
          <a:srcRect l="0" r="0" t="0" b="0"/>
          <a:stretch/>
        </p:blipFill>
        <p:spPr>
          <a:xfrm>
            <a:off x="8142784" y="3086050"/>
            <a:ext cx="304800" cy="304800"/>
          </a:xfrm>
          <a:prstGeom prst="rect">
            <a:avLst/>
          </a:prstGeom>
        </p:spPr>
      </p:pic>
      <p:sp>
        <p:nvSpPr>
          <p:cNvPr id="21" name="Text 13"/>
          <p:cNvSpPr/>
          <p:nvPr/>
        </p:nvSpPr>
        <p:spPr>
          <a:xfrm>
            <a:off x="8574584" y="2990800"/>
            <a:ext cx="2699080"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B2447"/>
                </a:solidFill>
                <a:latin typeface="Arial" pitchFamily="34" charset="0"/>
                <a:ea typeface="Arial" pitchFamily="34" charset="-122"/>
                <a:cs typeface="Arial" pitchFamily="34" charset="-120"/>
              </a:rPr>
              <a:t>Easy ticket download and retrieval</a:t>
            </a:r>
            <a:endParaRPr lang="en-US" sz="1500" dirty="0"/>
          </a:p>
        </p:txBody>
      </p:sp>
      <p:sp>
        <p:nvSpPr>
          <p:cNvPr id="22" name="Shape 14"/>
          <p:cNvSpPr/>
          <p:nvPr/>
        </p:nvSpPr>
        <p:spPr>
          <a:xfrm>
            <a:off x="815975" y="3825825"/>
            <a:ext cx="3414167" cy="857250"/>
          </a:xfrm>
          <a:prstGeom prst="roundRect">
            <a:avLst>
              <a:gd name="adj" fmla="val 14444"/>
            </a:avLst>
          </a:prstGeom>
          <a:solidFill>
            <a:srgbClr val="FFFFFF"/>
          </a:solidFill>
          <a:ln w="6350">
            <a:solidFill>
              <a:srgbClr val="CBD5E1"/>
            </a:solidFill>
            <a:prstDash val="solid"/>
          </a:ln>
        </p:spPr>
      </p:sp>
      <p:pic>
        <p:nvPicPr>
          <p:cNvPr id="23" name="Image 6" descr="Check">    </p:cNvPr>
          <p:cNvPicPr>
            <a:picLocks noChangeAspect="1"/>
          </p:cNvPicPr>
          <p:nvPr/>
        </p:nvPicPr>
        <p:blipFill>
          <a:blip r:embed="rId7"/>
          <a:srcRect l="0" r="0" t="0" b="0"/>
          <a:stretch/>
        </p:blipFill>
        <p:spPr>
          <a:xfrm>
            <a:off x="996950" y="4102050"/>
            <a:ext cx="304800" cy="304800"/>
          </a:xfrm>
          <a:prstGeom prst="rect">
            <a:avLst/>
          </a:prstGeom>
        </p:spPr>
      </p:pic>
      <p:sp>
        <p:nvSpPr>
          <p:cNvPr id="24" name="Text 15"/>
          <p:cNvSpPr/>
          <p:nvPr/>
        </p:nvSpPr>
        <p:spPr>
          <a:xfrm>
            <a:off x="1428750" y="4006800"/>
            <a:ext cx="2699029"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B2447"/>
                </a:solidFill>
                <a:latin typeface="Arial" pitchFamily="34" charset="0"/>
                <a:ea typeface="Arial" pitchFamily="34" charset="-122"/>
                <a:cs typeface="Arial" pitchFamily="34" charset="-120"/>
              </a:rPr>
              <a:t>Accessible through a web browser</a:t>
            </a:r>
            <a:endParaRPr lang="en-US" sz="1500" dirty="0"/>
          </a:p>
        </p:txBody>
      </p:sp>
      <p:sp>
        <p:nvSpPr>
          <p:cNvPr id="25" name="Shape 16"/>
          <p:cNvSpPr/>
          <p:nvPr/>
        </p:nvSpPr>
        <p:spPr>
          <a:xfrm>
            <a:off x="4385717" y="3822650"/>
            <a:ext cx="6993483" cy="863600"/>
          </a:xfrm>
          <a:prstGeom prst="roundRect">
            <a:avLst>
              <a:gd name="adj" fmla="val 14706"/>
            </a:avLst>
          </a:prstGeom>
          <a:solidFill>
            <a:srgbClr val="0B2447"/>
          </a:solidFill>
          <a:ln/>
        </p:spPr>
      </p:sp>
      <p:pic>
        <p:nvPicPr>
          <p:cNvPr id="26" name="Image 7" descr="Star">    </p:cNvPr>
          <p:cNvPicPr>
            <a:picLocks noChangeAspect="1"/>
          </p:cNvPicPr>
          <p:nvPr/>
        </p:nvPicPr>
        <p:blipFill>
          <a:blip r:embed="rId8"/>
          <a:srcRect l="0" r="0" t="0" b="0"/>
          <a:stretch/>
        </p:blipFill>
        <p:spPr>
          <a:xfrm>
            <a:off x="4563517" y="4102050"/>
            <a:ext cx="304800" cy="304800"/>
          </a:xfrm>
          <a:prstGeom prst="rect">
            <a:avLst/>
          </a:prstGeom>
        </p:spPr>
      </p:pic>
      <p:sp>
        <p:nvSpPr>
          <p:cNvPr id="27" name="Text 17"/>
          <p:cNvSpPr/>
          <p:nvPr/>
        </p:nvSpPr>
        <p:spPr>
          <a:xfrm>
            <a:off x="4995317" y="4130625"/>
            <a:ext cx="429363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FFFFF"/>
                </a:solidFill>
                <a:latin typeface="Arial" pitchFamily="34" charset="0"/>
                <a:ea typeface="Arial" pitchFamily="34" charset="-122"/>
                <a:cs typeface="Arial" pitchFamily="34" charset="-120"/>
              </a:rPr>
              <a:t>Simple, fast, and reliable ticket booking</a:t>
            </a:r>
            <a:endParaRPr lang="en-US" sz="1500" dirty="0"/>
          </a:p>
        </p:txBody>
      </p:sp>
      <p:sp>
        <p:nvSpPr>
          <p:cNvPr id="28"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a:t>
            </a:r>
            <a:endParaRPr lang="en-US" sz="1200" dirty="0"/>
          </a:p>
        </p:txBody>
      </p:sp>
      <p:sp>
        <p:nvSpPr>
          <p:cNvPr id="29"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18 / 20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Arial" pitchFamily="34" charset="0"/>
                <a:ea typeface="Arial" pitchFamily="34" charset="-122"/>
                <a:cs typeface="Arial" pitchFamily="34" charset="-120"/>
              </a:rPr>
              <a:t>FUTURE ENHANCEMENTS</a:t>
            </a:r>
            <a:endParaRPr lang="en-US" sz="1200" dirty="0"/>
          </a:p>
        </p:txBody>
      </p:sp>
      <p:sp>
        <p:nvSpPr>
          <p:cNvPr id="3" name="Text 1"/>
          <p:cNvSpPr/>
          <p:nvPr>
            <p:ph type="title"/>
          </p:nvPr>
        </p:nvSpPr>
        <p:spPr>
          <a:xfrm>
            <a:off x="812800" y="10896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2447"/>
                </a:solidFill>
                <a:latin typeface="Poppins" pitchFamily="34" charset="0"/>
                <a:ea typeface="Poppins" pitchFamily="34" charset="-122"/>
                <a:cs typeface="Poppins" pitchFamily="34" charset="-120"/>
              </a:rPr>
              <a:t>What can be added next</a:t>
            </a:r>
            <a:endParaRPr lang="en-US" sz="3200" dirty="0"/>
          </a:p>
        </p:txBody>
      </p:sp>
      <p:sp>
        <p:nvSpPr>
          <p:cNvPr id="4" name="Text 2"/>
          <p:cNvSpPr/>
          <p:nvPr/>
        </p:nvSpPr>
        <p:spPr>
          <a:xfrm>
            <a:off x="822325" y="1914475"/>
            <a:ext cx="311150" cy="311150"/>
          </a:xfrm>
          <a:custGeom>
            <a:avLst/>
            <a:gdLst/>
            <a:ahLst/>
            <a:cxnLst/>
            <a:rect l="l" t="t" r="r" b="b"/>
            <a:pathLst>
              <a:path w="311150" h="311150">
                <a:moveTo>
                  <a:pt x="155575" y="0"/>
                </a:moveTo>
                <a:lnTo>
                  <a:pt x="155575" y="0"/>
                </a:lnTo>
                <a:arcTo hR="155575" wR="155575" stAng="16200000" swAng="5400000"/>
                <a:lnTo>
                  <a:pt x="311150" y="155575"/>
                </a:lnTo>
                <a:arcTo hR="155575" wR="155575" stAng="0" swAng="5400000"/>
                <a:lnTo>
                  <a:pt x="155575" y="311150"/>
                </a:lnTo>
                <a:arcTo hR="155575" wR="155575" stAng="5400000" swAng="5400000"/>
                <a:lnTo>
                  <a:pt x="0" y="155575"/>
                </a:lnTo>
                <a:arcTo hR="155575" wR="155575" stAng="10800000" swAng="5400000"/>
                <a:close/>
              </a:path>
            </a:pathLst>
          </a:custGeom>
          <a:noFill/>
          <a:ln w="19050">
            <a:solidFill>
              <a:srgbClr val="1D4ED8"/>
            </a:solidFill>
            <a:prstDash val="solid"/>
          </a:ln>
        </p:spPr>
        <p:txBody>
          <a:bodyPr wrap="square" lIns="9525" tIns="9525" rIns="9525" bIns="9525" rtlCol="0" anchor="ctr">
            <a:normAutofit/>
          </a:bodyPr>
          <a:lstStyle/>
          <a:p>
            <a:pPr algn="ctr" indent="0" marL="0">
              <a:lnSpc>
                <a:spcPts val="1820"/>
              </a:lnSpc>
              <a:buNone/>
            </a:pPr>
            <a:r>
              <a:rPr lang="en-US" sz="1300" b="1" dirty="0">
                <a:solidFill>
                  <a:srgbClr val="1D4ED8"/>
                </a:solidFill>
                <a:latin typeface="Arial" pitchFamily="34" charset="0"/>
                <a:ea typeface="Arial" pitchFamily="34" charset="-122"/>
                <a:cs typeface="Arial" pitchFamily="34" charset="-120"/>
              </a:rPr>
              <a:t>1</a:t>
            </a:r>
            <a:endParaRPr lang="en-US" sz="1300" dirty="0"/>
          </a:p>
        </p:txBody>
      </p:sp>
      <p:sp>
        <p:nvSpPr>
          <p:cNvPr id="5" name="Text 3"/>
          <p:cNvSpPr/>
          <p:nvPr/>
        </p:nvSpPr>
        <p:spPr>
          <a:xfrm>
            <a:off x="1282700" y="1927820"/>
            <a:ext cx="330612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Live bus tracking using GPS</a:t>
            </a:r>
            <a:endParaRPr lang="en-US" sz="1600" dirty="0"/>
          </a:p>
        </p:txBody>
      </p:sp>
      <p:sp>
        <p:nvSpPr>
          <p:cNvPr id="6" name="Text 4"/>
          <p:cNvSpPr/>
          <p:nvPr/>
        </p:nvSpPr>
        <p:spPr>
          <a:xfrm>
            <a:off x="822325" y="2371675"/>
            <a:ext cx="311150" cy="311150"/>
          </a:xfrm>
          <a:custGeom>
            <a:avLst/>
            <a:gdLst/>
            <a:ahLst/>
            <a:cxnLst/>
            <a:rect l="l" t="t" r="r" b="b"/>
            <a:pathLst>
              <a:path w="311150" h="311150">
                <a:moveTo>
                  <a:pt x="155575" y="0"/>
                </a:moveTo>
                <a:lnTo>
                  <a:pt x="155575" y="0"/>
                </a:lnTo>
                <a:arcTo hR="155575" wR="155575" stAng="16200000" swAng="5400000"/>
                <a:lnTo>
                  <a:pt x="311150" y="155575"/>
                </a:lnTo>
                <a:arcTo hR="155575" wR="155575" stAng="0" swAng="5400000"/>
                <a:lnTo>
                  <a:pt x="155575" y="311150"/>
                </a:lnTo>
                <a:arcTo hR="155575" wR="155575" stAng="5400000" swAng="5400000"/>
                <a:lnTo>
                  <a:pt x="0" y="155575"/>
                </a:lnTo>
                <a:arcTo hR="155575" wR="155575" stAng="10800000" swAng="5400000"/>
                <a:close/>
              </a:path>
            </a:pathLst>
          </a:custGeom>
          <a:noFill/>
          <a:ln w="19050">
            <a:solidFill>
              <a:srgbClr val="1D4ED8"/>
            </a:solidFill>
            <a:prstDash val="solid"/>
          </a:ln>
        </p:spPr>
        <p:txBody>
          <a:bodyPr wrap="square" lIns="9525" tIns="9525" rIns="9525" bIns="9525" rtlCol="0" anchor="ctr">
            <a:normAutofit/>
          </a:bodyPr>
          <a:lstStyle/>
          <a:p>
            <a:pPr algn="ctr" indent="0" marL="0">
              <a:lnSpc>
                <a:spcPts val="1820"/>
              </a:lnSpc>
              <a:buNone/>
            </a:pPr>
            <a:r>
              <a:rPr lang="en-US" sz="1300" b="1" dirty="0">
                <a:solidFill>
                  <a:srgbClr val="1D4ED8"/>
                </a:solidFill>
                <a:latin typeface="Arial" pitchFamily="34" charset="0"/>
                <a:ea typeface="Arial" pitchFamily="34" charset="-122"/>
                <a:cs typeface="Arial" pitchFamily="34" charset="-120"/>
              </a:rPr>
              <a:t>2</a:t>
            </a:r>
            <a:endParaRPr lang="en-US" sz="1300" dirty="0"/>
          </a:p>
        </p:txBody>
      </p:sp>
      <p:sp>
        <p:nvSpPr>
          <p:cNvPr id="7" name="Text 5"/>
          <p:cNvSpPr/>
          <p:nvPr/>
        </p:nvSpPr>
        <p:spPr>
          <a:xfrm>
            <a:off x="1282700" y="2385020"/>
            <a:ext cx="428101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Email and SMS booking notifications</a:t>
            </a:r>
            <a:endParaRPr lang="en-US" sz="1600" dirty="0"/>
          </a:p>
        </p:txBody>
      </p:sp>
      <p:sp>
        <p:nvSpPr>
          <p:cNvPr id="8" name="Text 6"/>
          <p:cNvSpPr/>
          <p:nvPr/>
        </p:nvSpPr>
        <p:spPr>
          <a:xfrm>
            <a:off x="822325" y="2828875"/>
            <a:ext cx="311150" cy="311150"/>
          </a:xfrm>
          <a:custGeom>
            <a:avLst/>
            <a:gdLst/>
            <a:ahLst/>
            <a:cxnLst/>
            <a:rect l="l" t="t" r="r" b="b"/>
            <a:pathLst>
              <a:path w="311150" h="311150">
                <a:moveTo>
                  <a:pt x="155575" y="0"/>
                </a:moveTo>
                <a:lnTo>
                  <a:pt x="155575" y="0"/>
                </a:lnTo>
                <a:arcTo hR="155575" wR="155575" stAng="16200000" swAng="5400000"/>
                <a:lnTo>
                  <a:pt x="311150" y="155575"/>
                </a:lnTo>
                <a:arcTo hR="155575" wR="155575" stAng="0" swAng="5400000"/>
                <a:lnTo>
                  <a:pt x="155575" y="311150"/>
                </a:lnTo>
                <a:arcTo hR="155575" wR="155575" stAng="5400000" swAng="5400000"/>
                <a:lnTo>
                  <a:pt x="0" y="155575"/>
                </a:lnTo>
                <a:arcTo hR="155575" wR="155575" stAng="10800000" swAng="5400000"/>
                <a:close/>
              </a:path>
            </a:pathLst>
          </a:custGeom>
          <a:noFill/>
          <a:ln w="19050">
            <a:solidFill>
              <a:srgbClr val="1D4ED8"/>
            </a:solidFill>
            <a:prstDash val="solid"/>
          </a:ln>
        </p:spPr>
        <p:txBody>
          <a:bodyPr wrap="square" lIns="9525" tIns="9525" rIns="9525" bIns="9525" rtlCol="0" anchor="ctr">
            <a:normAutofit/>
          </a:bodyPr>
          <a:lstStyle/>
          <a:p>
            <a:pPr algn="ctr" indent="0" marL="0">
              <a:lnSpc>
                <a:spcPts val="1820"/>
              </a:lnSpc>
              <a:buNone/>
            </a:pPr>
            <a:r>
              <a:rPr lang="en-US" sz="1300" b="1" dirty="0">
                <a:solidFill>
                  <a:srgbClr val="1D4ED8"/>
                </a:solidFill>
                <a:latin typeface="Arial" pitchFamily="34" charset="0"/>
                <a:ea typeface="Arial" pitchFamily="34" charset="-122"/>
                <a:cs typeface="Arial" pitchFamily="34" charset="-120"/>
              </a:rPr>
              <a:t>3</a:t>
            </a:r>
            <a:endParaRPr lang="en-US" sz="1300" dirty="0"/>
          </a:p>
        </p:txBody>
      </p:sp>
      <p:sp>
        <p:nvSpPr>
          <p:cNvPr id="9" name="Text 7"/>
          <p:cNvSpPr/>
          <p:nvPr/>
        </p:nvSpPr>
        <p:spPr>
          <a:xfrm>
            <a:off x="1282700" y="2842220"/>
            <a:ext cx="391548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Booking cancellation and refunds</a:t>
            </a:r>
            <a:endParaRPr lang="en-US" sz="1600" dirty="0"/>
          </a:p>
        </p:txBody>
      </p:sp>
      <p:sp>
        <p:nvSpPr>
          <p:cNvPr id="10" name="Text 8"/>
          <p:cNvSpPr/>
          <p:nvPr/>
        </p:nvSpPr>
        <p:spPr>
          <a:xfrm>
            <a:off x="822325" y="3286075"/>
            <a:ext cx="311150" cy="311150"/>
          </a:xfrm>
          <a:custGeom>
            <a:avLst/>
            <a:gdLst/>
            <a:ahLst/>
            <a:cxnLst/>
            <a:rect l="l" t="t" r="r" b="b"/>
            <a:pathLst>
              <a:path w="311150" h="311150">
                <a:moveTo>
                  <a:pt x="155575" y="0"/>
                </a:moveTo>
                <a:lnTo>
                  <a:pt x="155575" y="0"/>
                </a:lnTo>
                <a:arcTo hR="155575" wR="155575" stAng="16200000" swAng="5400000"/>
                <a:lnTo>
                  <a:pt x="311150" y="155575"/>
                </a:lnTo>
                <a:arcTo hR="155575" wR="155575" stAng="0" swAng="5400000"/>
                <a:lnTo>
                  <a:pt x="155575" y="311150"/>
                </a:lnTo>
                <a:arcTo hR="155575" wR="155575" stAng="5400000" swAng="5400000"/>
                <a:lnTo>
                  <a:pt x="0" y="155575"/>
                </a:lnTo>
                <a:arcTo hR="155575" wR="155575" stAng="10800000" swAng="5400000"/>
                <a:close/>
              </a:path>
            </a:pathLst>
          </a:custGeom>
          <a:noFill/>
          <a:ln w="19050">
            <a:solidFill>
              <a:srgbClr val="1D4ED8"/>
            </a:solidFill>
            <a:prstDash val="solid"/>
          </a:ln>
        </p:spPr>
        <p:txBody>
          <a:bodyPr wrap="square" lIns="9525" tIns="9525" rIns="9525" bIns="9525" rtlCol="0" anchor="ctr">
            <a:normAutofit/>
          </a:bodyPr>
          <a:lstStyle/>
          <a:p>
            <a:pPr algn="ctr" indent="0" marL="0">
              <a:lnSpc>
                <a:spcPts val="1820"/>
              </a:lnSpc>
              <a:buNone/>
            </a:pPr>
            <a:r>
              <a:rPr lang="en-US" sz="1300" b="1" dirty="0">
                <a:solidFill>
                  <a:srgbClr val="1D4ED8"/>
                </a:solidFill>
                <a:latin typeface="Arial" pitchFamily="34" charset="0"/>
                <a:ea typeface="Arial" pitchFamily="34" charset="-122"/>
                <a:cs typeface="Arial" pitchFamily="34" charset="-120"/>
              </a:rPr>
              <a:t>4</a:t>
            </a:r>
            <a:endParaRPr lang="en-US" sz="1300" dirty="0"/>
          </a:p>
        </p:txBody>
      </p:sp>
      <p:sp>
        <p:nvSpPr>
          <p:cNvPr id="11" name="Text 9"/>
          <p:cNvSpPr/>
          <p:nvPr/>
        </p:nvSpPr>
        <p:spPr>
          <a:xfrm>
            <a:off x="1282700" y="3299420"/>
            <a:ext cx="444436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Ratings and reviews for bus operators</a:t>
            </a:r>
            <a:endParaRPr lang="en-US" sz="1600" dirty="0"/>
          </a:p>
        </p:txBody>
      </p:sp>
      <p:sp>
        <p:nvSpPr>
          <p:cNvPr id="12" name="Text 10"/>
          <p:cNvSpPr/>
          <p:nvPr/>
        </p:nvSpPr>
        <p:spPr>
          <a:xfrm>
            <a:off x="822325" y="3743275"/>
            <a:ext cx="311150" cy="311150"/>
          </a:xfrm>
          <a:custGeom>
            <a:avLst/>
            <a:gdLst/>
            <a:ahLst/>
            <a:cxnLst/>
            <a:rect l="l" t="t" r="r" b="b"/>
            <a:pathLst>
              <a:path w="311150" h="311150">
                <a:moveTo>
                  <a:pt x="155575" y="0"/>
                </a:moveTo>
                <a:lnTo>
                  <a:pt x="155575" y="0"/>
                </a:lnTo>
                <a:arcTo hR="155575" wR="155575" stAng="16200000" swAng="5400000"/>
                <a:lnTo>
                  <a:pt x="311150" y="155575"/>
                </a:lnTo>
                <a:arcTo hR="155575" wR="155575" stAng="0" swAng="5400000"/>
                <a:lnTo>
                  <a:pt x="155575" y="311150"/>
                </a:lnTo>
                <a:arcTo hR="155575" wR="155575" stAng="5400000" swAng="5400000"/>
                <a:lnTo>
                  <a:pt x="0" y="155575"/>
                </a:lnTo>
                <a:arcTo hR="155575" wR="155575" stAng="10800000" swAng="5400000"/>
                <a:close/>
              </a:path>
            </a:pathLst>
          </a:custGeom>
          <a:noFill/>
          <a:ln w="19050">
            <a:solidFill>
              <a:srgbClr val="1D4ED8"/>
            </a:solidFill>
            <a:prstDash val="solid"/>
          </a:ln>
        </p:spPr>
        <p:txBody>
          <a:bodyPr wrap="square" lIns="9525" tIns="9525" rIns="9525" bIns="9525" rtlCol="0" anchor="ctr">
            <a:normAutofit/>
          </a:bodyPr>
          <a:lstStyle/>
          <a:p>
            <a:pPr algn="ctr" indent="0" marL="0">
              <a:lnSpc>
                <a:spcPts val="1820"/>
              </a:lnSpc>
              <a:buNone/>
            </a:pPr>
            <a:r>
              <a:rPr lang="en-US" sz="1300" b="1" dirty="0">
                <a:solidFill>
                  <a:srgbClr val="1D4ED8"/>
                </a:solidFill>
                <a:latin typeface="Arial" pitchFamily="34" charset="0"/>
                <a:ea typeface="Arial" pitchFamily="34" charset="-122"/>
                <a:cs typeface="Arial" pitchFamily="34" charset="-120"/>
              </a:rPr>
              <a:t>5</a:t>
            </a:r>
            <a:endParaRPr lang="en-US" sz="1300" dirty="0"/>
          </a:p>
        </p:txBody>
      </p:sp>
      <p:sp>
        <p:nvSpPr>
          <p:cNvPr id="13" name="Text 11"/>
          <p:cNvSpPr/>
          <p:nvPr/>
        </p:nvSpPr>
        <p:spPr>
          <a:xfrm>
            <a:off x="1282700" y="3756620"/>
            <a:ext cx="504015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Admin dashboard for routes and schedules</a:t>
            </a:r>
            <a:endParaRPr lang="en-US" sz="1600" dirty="0"/>
          </a:p>
        </p:txBody>
      </p:sp>
      <p:sp>
        <p:nvSpPr>
          <p:cNvPr id="14" name="Text 12"/>
          <p:cNvSpPr/>
          <p:nvPr/>
        </p:nvSpPr>
        <p:spPr>
          <a:xfrm>
            <a:off x="822325" y="4200475"/>
            <a:ext cx="311150" cy="311150"/>
          </a:xfrm>
          <a:custGeom>
            <a:avLst/>
            <a:gdLst/>
            <a:ahLst/>
            <a:cxnLst/>
            <a:rect l="l" t="t" r="r" b="b"/>
            <a:pathLst>
              <a:path w="311150" h="311150">
                <a:moveTo>
                  <a:pt x="155575" y="0"/>
                </a:moveTo>
                <a:lnTo>
                  <a:pt x="155575" y="0"/>
                </a:lnTo>
                <a:arcTo hR="155575" wR="155575" stAng="16200000" swAng="5400000"/>
                <a:lnTo>
                  <a:pt x="311150" y="155575"/>
                </a:lnTo>
                <a:arcTo hR="155575" wR="155575" stAng="0" swAng="5400000"/>
                <a:lnTo>
                  <a:pt x="155575" y="311150"/>
                </a:lnTo>
                <a:arcTo hR="155575" wR="155575" stAng="5400000" swAng="5400000"/>
                <a:lnTo>
                  <a:pt x="0" y="155575"/>
                </a:lnTo>
                <a:arcTo hR="155575" wR="155575" stAng="10800000" swAng="5400000"/>
                <a:close/>
              </a:path>
            </a:pathLst>
          </a:custGeom>
          <a:noFill/>
          <a:ln w="19050">
            <a:solidFill>
              <a:srgbClr val="1D4ED8"/>
            </a:solidFill>
            <a:prstDash val="solid"/>
          </a:ln>
        </p:spPr>
        <p:txBody>
          <a:bodyPr wrap="square" lIns="9525" tIns="9525" rIns="9525" bIns="9525" rtlCol="0" anchor="ctr">
            <a:normAutofit/>
          </a:bodyPr>
          <a:lstStyle/>
          <a:p>
            <a:pPr algn="ctr" indent="0" marL="0">
              <a:lnSpc>
                <a:spcPts val="1820"/>
              </a:lnSpc>
              <a:buNone/>
            </a:pPr>
            <a:r>
              <a:rPr lang="en-US" sz="1300" b="1" dirty="0">
                <a:solidFill>
                  <a:srgbClr val="1D4ED8"/>
                </a:solidFill>
                <a:latin typeface="Arial" pitchFamily="34" charset="0"/>
                <a:ea typeface="Arial" pitchFamily="34" charset="-122"/>
                <a:cs typeface="Arial" pitchFamily="34" charset="-120"/>
              </a:rPr>
              <a:t>6</a:t>
            </a:r>
            <a:endParaRPr lang="en-US" sz="1300" dirty="0"/>
          </a:p>
        </p:txBody>
      </p:sp>
      <p:sp>
        <p:nvSpPr>
          <p:cNvPr id="15" name="Text 13"/>
          <p:cNvSpPr/>
          <p:nvPr/>
        </p:nvSpPr>
        <p:spPr>
          <a:xfrm>
            <a:off x="1282700" y="4213820"/>
            <a:ext cx="365795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Offers, coupons, and discounts</a:t>
            </a:r>
            <a:endParaRPr lang="en-US" sz="1600" dirty="0"/>
          </a:p>
        </p:txBody>
      </p:sp>
      <p:sp>
        <p:nvSpPr>
          <p:cNvPr id="16" name="Text 14"/>
          <p:cNvSpPr/>
          <p:nvPr/>
        </p:nvSpPr>
        <p:spPr>
          <a:xfrm>
            <a:off x="822325" y="4657675"/>
            <a:ext cx="311150" cy="311150"/>
          </a:xfrm>
          <a:custGeom>
            <a:avLst/>
            <a:gdLst/>
            <a:ahLst/>
            <a:cxnLst/>
            <a:rect l="l" t="t" r="r" b="b"/>
            <a:pathLst>
              <a:path w="311150" h="311150">
                <a:moveTo>
                  <a:pt x="155575" y="0"/>
                </a:moveTo>
                <a:lnTo>
                  <a:pt x="155575" y="0"/>
                </a:lnTo>
                <a:arcTo hR="155575" wR="155575" stAng="16200000" swAng="5400000"/>
                <a:lnTo>
                  <a:pt x="311150" y="155575"/>
                </a:lnTo>
                <a:arcTo hR="155575" wR="155575" stAng="0" swAng="5400000"/>
                <a:lnTo>
                  <a:pt x="155575" y="311150"/>
                </a:lnTo>
                <a:arcTo hR="155575" wR="155575" stAng="5400000" swAng="5400000"/>
                <a:lnTo>
                  <a:pt x="0" y="155575"/>
                </a:lnTo>
                <a:arcTo hR="155575" wR="155575" stAng="10800000" swAng="5400000"/>
                <a:close/>
              </a:path>
            </a:pathLst>
          </a:custGeom>
          <a:noFill/>
          <a:ln w="19050">
            <a:solidFill>
              <a:srgbClr val="1D4ED8"/>
            </a:solidFill>
            <a:prstDash val="solid"/>
          </a:ln>
        </p:spPr>
        <p:txBody>
          <a:bodyPr wrap="square" lIns="9525" tIns="9525" rIns="9525" bIns="9525" rtlCol="0" anchor="ctr">
            <a:normAutofit/>
          </a:bodyPr>
          <a:lstStyle/>
          <a:p>
            <a:pPr algn="ctr" indent="0" marL="0">
              <a:lnSpc>
                <a:spcPts val="1820"/>
              </a:lnSpc>
              <a:buNone/>
            </a:pPr>
            <a:r>
              <a:rPr lang="en-US" sz="1300" b="1" dirty="0">
                <a:solidFill>
                  <a:srgbClr val="1D4ED8"/>
                </a:solidFill>
                <a:latin typeface="Arial" pitchFamily="34" charset="0"/>
                <a:ea typeface="Arial" pitchFamily="34" charset="-122"/>
                <a:cs typeface="Arial" pitchFamily="34" charset="-120"/>
              </a:rPr>
              <a:t>7</a:t>
            </a:r>
            <a:endParaRPr lang="en-US" sz="1300" dirty="0"/>
          </a:p>
        </p:txBody>
      </p:sp>
      <p:sp>
        <p:nvSpPr>
          <p:cNvPr id="17" name="Text 15"/>
          <p:cNvSpPr/>
          <p:nvPr/>
        </p:nvSpPr>
        <p:spPr>
          <a:xfrm>
            <a:off x="1282700" y="4671020"/>
            <a:ext cx="548866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447"/>
                </a:solidFill>
                <a:latin typeface="Arial" pitchFamily="34" charset="0"/>
                <a:ea typeface="Arial" pitchFamily="34" charset="-122"/>
                <a:cs typeface="Arial" pitchFamily="34" charset="-120"/>
              </a:rPr>
              <a:t>Better accessibility and mobile responsiveness</a:t>
            </a:r>
            <a:endParaRPr lang="en-US" sz="1600" dirty="0"/>
          </a:p>
        </p:txBody>
      </p:sp>
      <p:pic>
        <p:nvPicPr>
          <p:cNvPr id="18" name="Image 0" descr="Illustration of a map showing a bus travelling along a route toward its destination pin">    </p:cNvPr>
          <p:cNvPicPr>
            <a:picLocks noChangeAspect="1"/>
          </p:cNvPicPr>
          <p:nvPr/>
        </p:nvPicPr>
        <p:blipFill>
          <a:blip r:embed="rId1"/>
          <a:srcRect l="0" r="0" t="0" b="0"/>
          <a:stretch/>
        </p:blipFill>
        <p:spPr>
          <a:xfrm>
            <a:off x="7315200" y="1790650"/>
            <a:ext cx="4064000" cy="3302000"/>
          </a:xfrm>
          <a:prstGeom prst="rect">
            <a:avLst/>
          </a:prstGeom>
        </p:spPr>
      </p:pic>
      <p:sp>
        <p:nvSpPr>
          <p:cNvPr id="19" name="Text 1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57A"/>
                </a:solidFill>
                <a:latin typeface="Arial" pitchFamily="34" charset="0"/>
                <a:ea typeface="Arial" pitchFamily="34" charset="-122"/>
                <a:cs typeface="Arial" pitchFamily="34" charset="-120"/>
              </a:rPr>
              <a:t>Bus Booking System · Manoj C</a:t>
            </a:r>
            <a:endParaRPr lang="en-US" sz="1200" dirty="0"/>
          </a:p>
        </p:txBody>
      </p:sp>
      <p:sp>
        <p:nvSpPr>
          <p:cNvPr id="20"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57A"/>
                </a:solidFill>
                <a:latin typeface="Arial" pitchFamily="34" charset="0"/>
                <a:ea typeface="Arial" pitchFamily="34" charset="-122"/>
                <a:cs typeface="Arial" pitchFamily="34" charset="-120"/>
              </a:rPr>
              <a:t>19 / 20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447"/>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B2447"/>
              </a:gs>
              <a:gs pos="60000">
                <a:srgbClr val="123A7A"/>
              </a:gs>
              <a:gs pos="100000">
                <a:srgbClr val="1D4ED8"/>
              </a:gs>
            </a:gsLst>
            <a:lin ang="2700000" scaled="0"/>
          </a:gradFill>
          <a:ln/>
        </p:spPr>
      </p:sp>
      <p:sp>
        <p:nvSpPr>
          <p:cNvPr id="3" name="Text 1"/>
          <p:cNvSpPr/>
          <p:nvPr/>
        </p:nvSpPr>
        <p:spPr>
          <a:xfrm>
            <a:off x="812800" y="1608485"/>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3C5FD"/>
                </a:solidFill>
                <a:latin typeface="Arial" pitchFamily="34" charset="0"/>
                <a:ea typeface="Arial" pitchFamily="34" charset="-122"/>
                <a:cs typeface="Arial" pitchFamily="34" charset="-120"/>
              </a:rPr>
              <a:t>CONCLUSION</a:t>
            </a:r>
            <a:endParaRPr lang="en-US" sz="1200" dirty="0"/>
          </a:p>
        </p:txBody>
      </p:sp>
      <p:sp>
        <p:nvSpPr>
          <p:cNvPr id="4" name="Text 2"/>
          <p:cNvSpPr/>
          <p:nvPr>
            <p:ph type="title"/>
          </p:nvPr>
        </p:nvSpPr>
        <p:spPr>
          <a:xfrm>
            <a:off x="812800" y="1999605"/>
            <a:ext cx="6540500"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FFFFF"/>
                </a:solidFill>
                <a:latin typeface="Poppins" pitchFamily="34" charset="0"/>
                <a:ea typeface="Poppins" pitchFamily="34" charset="-122"/>
                <a:cs typeface="Poppins" pitchFamily="34" charset="-120"/>
              </a:rPr>
              <a:t>A complete booking journey in one web application</a:t>
            </a:r>
            <a:endParaRPr lang="en-US" sz="3200" dirty="0"/>
          </a:p>
        </p:txBody>
      </p:sp>
      <p:sp>
        <p:nvSpPr>
          <p:cNvPr id="5" name="Text 3"/>
          <p:cNvSpPr/>
          <p:nvPr/>
        </p:nvSpPr>
        <p:spPr>
          <a:xfrm>
            <a:off x="812800" y="3071465"/>
            <a:ext cx="6540500"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2E8F0"/>
                </a:solidFill>
                <a:latin typeface="Arial" pitchFamily="34" charset="0"/>
                <a:ea typeface="Arial" pitchFamily="34" charset="-122"/>
                <a:cs typeface="Arial" pitchFamily="34" charset="-120"/>
              </a:rPr>
              <a:t>The Bus Booking System provides a simple and efficient way to reserve bus tickets online. It integrates user authentication, bus searching, seat selection, online payment, booking confirmation, and electronic ticket generation.</a:t>
            </a:r>
            <a:endParaRPr lang="en-US" sz="1500" dirty="0"/>
          </a:p>
        </p:txBody>
      </p:sp>
      <p:sp>
        <p:nvSpPr>
          <p:cNvPr id="6" name="Text 4"/>
          <p:cNvSpPr/>
          <p:nvPr/>
        </p:nvSpPr>
        <p:spPr>
          <a:xfrm>
            <a:off x="812800" y="4392265"/>
            <a:ext cx="6540500"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2E8F0"/>
                </a:solidFill>
                <a:latin typeface="Arial" pitchFamily="34" charset="0"/>
                <a:ea typeface="Arial" pitchFamily="34" charset="-122"/>
                <a:cs typeface="Arial" pitchFamily="34" charset="-120"/>
              </a:rPr>
              <a:t>This project demonstrates practical web development skills, database integration, backend API development, and payment workflow management.</a:t>
            </a:r>
            <a:endParaRPr lang="en-US" sz="1500" dirty="0"/>
          </a:p>
        </p:txBody>
      </p:sp>
      <p:sp>
        <p:nvSpPr>
          <p:cNvPr id="7" name="Shape 5"/>
          <p:cNvSpPr/>
          <p:nvPr/>
        </p:nvSpPr>
        <p:spPr>
          <a:xfrm>
            <a:off x="8083550" y="2015530"/>
            <a:ext cx="3289300" cy="2826941"/>
          </a:xfrm>
          <a:prstGeom prst="roundRect">
            <a:avLst>
              <a:gd name="adj" fmla="val 6065"/>
            </a:avLst>
          </a:prstGeom>
          <a:solidFill>
            <a:srgbClr val="FFFFFF">
              <a:alpha val="12000"/>
            </a:srgbClr>
          </a:solidFill>
          <a:ln w="12700">
            <a:solidFill>
              <a:srgbClr val="FFFFFF">
                <a:alpha val="30000"/>
              </a:srgbClr>
            </a:solidFill>
            <a:prstDash val="solid"/>
          </a:ln>
        </p:spPr>
      </p:sp>
      <p:sp>
        <p:nvSpPr>
          <p:cNvPr id="8" name="Text 6"/>
          <p:cNvSpPr/>
          <p:nvPr/>
        </p:nvSpPr>
        <p:spPr>
          <a:xfrm>
            <a:off x="8302371" y="2377480"/>
            <a:ext cx="2851658" cy="1198860"/>
          </a:xfrm>
          <a:prstGeom prst="rect">
            <a:avLst/>
          </a:prstGeom>
          <a:noFill/>
          <a:ln/>
        </p:spPr>
        <p:txBody>
          <a:bodyPr wrap="square" lIns="0" tIns="0" rIns="0" bIns="0" rtlCol="0" anchor="t">
            <a:normAutofit/>
          </a:bodyPr>
          <a:lstStyle/>
          <a:p>
            <a:pPr algn="ctr" indent="0" marL="0">
              <a:lnSpc>
                <a:spcPts val="4620"/>
              </a:lnSpc>
              <a:buNone/>
            </a:pPr>
            <a:r>
              <a:rPr lang="en-US" sz="4400" b="1" dirty="0">
                <a:solidFill>
                  <a:srgbClr val="FFFFFF"/>
                </a:solidFill>
                <a:latin typeface="Poppins" pitchFamily="34" charset="0"/>
                <a:ea typeface="Poppins" pitchFamily="34" charset="-122"/>
                <a:cs typeface="Poppins" pitchFamily="34" charset="-120"/>
              </a:rPr>
              <a:t>Thank You</a:t>
            </a:r>
            <a:endParaRPr lang="en-US" sz="4400" dirty="0"/>
          </a:p>
        </p:txBody>
      </p:sp>
      <p:sp>
        <p:nvSpPr>
          <p:cNvPr id="9" name="Text 7"/>
          <p:cNvSpPr/>
          <p:nvPr/>
        </p:nvSpPr>
        <p:spPr>
          <a:xfrm>
            <a:off x="8722246" y="3677940"/>
            <a:ext cx="2011859" cy="452090"/>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93C5FD"/>
                </a:solidFill>
                <a:latin typeface="Arial" pitchFamily="34" charset="0"/>
                <a:ea typeface="Arial" pitchFamily="34" charset="-122"/>
                <a:cs typeface="Arial" pitchFamily="34" charset="-120"/>
              </a:rPr>
              <a:t>Questions?</a:t>
            </a:r>
            <a:endParaRPr lang="en-US" sz="2400" dirty="0"/>
          </a:p>
        </p:txBody>
      </p:sp>
      <p:sp>
        <p:nvSpPr>
          <p:cNvPr id="10" name="Text 8"/>
          <p:cNvSpPr/>
          <p:nvPr/>
        </p:nvSpPr>
        <p:spPr>
          <a:xfrm>
            <a:off x="9330948" y="4231630"/>
            <a:ext cx="794504" cy="27429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E2E8F0"/>
                </a:solidFill>
                <a:latin typeface="Arial" pitchFamily="34" charset="0"/>
                <a:ea typeface="Arial" pitchFamily="34" charset="-122"/>
                <a:cs typeface="Arial" pitchFamily="34" charset="-120"/>
              </a:rPr>
              <a:t>Manoj C</a:t>
            </a:r>
            <a:endParaRPr lang="en-US" sz="1400" dirty="0"/>
          </a:p>
        </p:txBody>
      </p:sp>
    </p:spTree>
  </p:cSld>
  <p:clrMapOvr>
    <a:masterClrMapping/>
  </p:clrMapOvr>
</p:sld>
</file>

<file path=ppt/theme/theme1.xml><?xml version="1.0" encoding="utf-8"?>
<a:theme xmlns:a="http://schemas.openxmlformats.org/drawingml/2006/main" name="Bus Booking System">
  <a:themeElements>
    <a:clrScheme name="Bus Booking System">
      <a:dk1>
        <a:srgbClr val="0B2447"/>
      </a:dk1>
      <a:lt1>
        <a:srgbClr val="F4F7FB"/>
      </a:lt1>
      <a:dk2>
        <a:srgbClr val="455974"/>
      </a:dk2>
      <a:lt2>
        <a:srgbClr val="DDE2E9"/>
      </a:lt2>
      <a:accent1>
        <a:srgbClr val="1D4ED8"/>
      </a:accent1>
      <a:accent2>
        <a:srgbClr val="1E3A8A"/>
      </a:accent2>
      <a:accent3>
        <a:srgbClr val="134E4A"/>
      </a:accent3>
      <a:accent4>
        <a:srgbClr val="CCFBF1"/>
      </a:accent4>
      <a:accent5>
        <a:srgbClr val="7C2D12"/>
      </a:accent5>
      <a:accent6>
        <a:srgbClr val="FFEDD5"/>
      </a:accent6>
      <a:hlink>
        <a:srgbClr val="0563C1"/>
      </a:hlink>
      <a:folHlink>
        <a:srgbClr val="954F72"/>
      </a:folHlink>
    </a:clrScheme>
    <a:fontScheme name="Bus Booking System">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 Booking System</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Poppins
Copyright 2020 The Poppins Project Authors (https://github.com/itfoundry/Poppins)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2026-10-22T04:30:34Z</dcterms:created>
  <dcterms:modified xsi:type="dcterms:W3CDTF">2026-10-22T04:30:34Z</dcterms:modified>
</cp:coreProperties>
</file>